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modernComment_21D_434DFD69.xml" ContentType="application/vnd.ms-powerpoint.comments+xml"/>
  <Override PartName="/ppt/comments/modernComment_21B_430847FE.xml" ContentType="application/vnd.ms-powerpoint.comments+xml"/>
  <Override PartName="/ppt/comments/modernComment_229_DDB1419.xml" ContentType="application/vnd.ms-powerpoint.comments+xml"/>
  <Override PartName="/ppt/comments/modernComment_21C_10C0F3C0.xml" ContentType="application/vnd.ms-powerpoint.comments+xml"/>
  <Override PartName="/ppt/comments/modernComment_21E_F38A607B.xml" ContentType="application/vnd.ms-powerpoint.comments+xml"/>
  <Override PartName="/ppt/comments/modernComment_223_7C8BC086.xml" ContentType="application/vnd.ms-powerpoint.comments+xml"/>
  <Override PartName="/ppt/comments/modernComment_219_B5143432.xml" ContentType="application/vnd.ms-powerpoint.comments+xml"/>
  <Override PartName="/ppt/comments/modernComment_22D_3032A30.xml" ContentType="application/vnd.ms-powerpoint.comments+xml"/>
  <Override PartName="/ppt/comments/modernComment_221_7608637B.xml" ContentType="application/vnd.ms-powerpoint.comments+xml"/>
  <Override PartName="/ppt/comments/modernComment_22C_2461712B.xml" ContentType="application/vnd.ms-powerpoint.comments+xml"/>
  <Override PartName="/ppt/comments/modernComment_236_B2FA7A51.xml" ContentType="application/vnd.ms-powerpoint.comments+xml"/>
  <Override PartName="/ppt/comments/modernComment_237_72A59524.xml" ContentType="application/vnd.ms-powerpoint.comments+xml"/>
  <Override PartName="/ppt/comments/modernComment_226_768363AE.xml" ContentType="application/vnd.ms-powerpoint.comments+xml"/>
  <Override PartName="/ppt/comments/modernComment_228_613163C3.xml" ContentType="application/vnd.ms-powerpoint.comments+xml"/>
  <Override PartName="/ppt/comments/modernComment_22E_DB9C041C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541" r:id="rId2"/>
    <p:sldId id="539" r:id="rId3"/>
    <p:sldId id="553" r:id="rId4"/>
    <p:sldId id="540" r:id="rId5"/>
    <p:sldId id="542" r:id="rId6"/>
    <p:sldId id="547" r:id="rId7"/>
    <p:sldId id="537" r:id="rId8"/>
    <p:sldId id="557" r:id="rId9"/>
    <p:sldId id="545" r:id="rId10"/>
    <p:sldId id="556" r:id="rId11"/>
    <p:sldId id="566" r:id="rId12"/>
    <p:sldId id="567" r:id="rId13"/>
    <p:sldId id="550" r:id="rId14"/>
    <p:sldId id="552" r:id="rId15"/>
    <p:sldId id="558" r:id="rId16"/>
    <p:sldId id="532" r:id="rId17"/>
    <p:sldId id="544" r:id="rId18"/>
    <p:sldId id="531" r:id="rId1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8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D254F-37CE-B72A-D929-E70B54B0ED62}" name="Einit Natalia Barajas Figueroa" initials="EF" userId="S::einit_barajas_soy.sena.edu.co#ext#@sena4.onmicrosoft.com::fc0b25c1-fd4c-4cd6-87fa-59bd7e2a3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C"/>
    <a:srgbClr val="343433"/>
    <a:srgbClr val="FF6C00"/>
    <a:srgbClr val="38AA00"/>
    <a:srgbClr val="766363"/>
    <a:srgbClr val="FFF5EA"/>
    <a:srgbClr val="0032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C2C552-820D-EC22-E3D7-C81A901524E2}" v="13" dt="2025-11-28T20:27:54.0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454" autoAdjust="0"/>
  </p:normalViewPr>
  <p:slideViewPr>
    <p:cSldViewPr snapToGrid="0">
      <p:cViewPr varScale="1">
        <p:scale>
          <a:sx n="51" d="100"/>
          <a:sy n="51" d="100"/>
        </p:scale>
        <p:origin x="58" y="43"/>
      </p:cViewPr>
      <p:guideLst>
        <p:guide orient="horz" pos="595"/>
        <p:guide pos="3840"/>
        <p:guide orient="horz" pos="18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init Natalia Barajas Figueroa" userId="S::einit_barajas_soy.sena.edu.co#ext#@sena4.onmicrosoft.com::fc0b25c1-fd4c-4cd6-87fa-59bd7e2a3bf2" providerId="AD" clId="Web-{F1C2C552-820D-EC22-E3D7-C81A901524E2}"/>
    <pc:docChg chg="modSld">
      <pc:chgData name="Einit Natalia Barajas Figueroa" userId="S::einit_barajas_soy.sena.edu.co#ext#@sena4.onmicrosoft.com::fc0b25c1-fd4c-4cd6-87fa-59bd7e2a3bf2" providerId="AD" clId="Web-{F1C2C552-820D-EC22-E3D7-C81A901524E2}" dt="2025-11-28T20:27:54.028" v="12" actId="1076"/>
      <pc:docMkLst>
        <pc:docMk/>
      </pc:docMkLst>
      <pc:sldChg chg="modSp">
        <pc:chgData name="Einit Natalia Barajas Figueroa" userId="S::einit_barajas_soy.sena.edu.co#ext#@sena4.onmicrosoft.com::fc0b25c1-fd4c-4cd6-87fa-59bd7e2a3bf2" providerId="AD" clId="Web-{F1C2C552-820D-EC22-E3D7-C81A901524E2}" dt="2025-11-28T20:27:54.028" v="12" actId="1076"/>
        <pc:sldMkLst>
          <pc:docMk/>
          <pc:sldMk cId="3927921496" sldId="543"/>
        </pc:sldMkLst>
        <pc:picChg chg="mod">
          <ac:chgData name="Einit Natalia Barajas Figueroa" userId="S::einit_barajas_soy.sena.edu.co#ext#@sena4.onmicrosoft.com::fc0b25c1-fd4c-4cd6-87fa-59bd7e2a3bf2" providerId="AD" clId="Web-{F1C2C552-820D-EC22-E3D7-C81A901524E2}" dt="2025-11-28T20:27:54.028" v="12" actId="1076"/>
          <ac:picMkLst>
            <pc:docMk/>
            <pc:sldMk cId="3927921496" sldId="543"/>
            <ac:picMk id="2" creationId="{767C6271-08B4-77E3-60B7-1B97F4CE02A0}"/>
          </ac:picMkLst>
        </pc:picChg>
      </pc:sldChg>
      <pc:sldChg chg="modSp">
        <pc:chgData name="Einit Natalia Barajas Figueroa" userId="S::einit_barajas_soy.sena.edu.co#ext#@sena4.onmicrosoft.com::fc0b25c1-fd4c-4cd6-87fa-59bd7e2a3bf2" providerId="AD" clId="Web-{F1C2C552-820D-EC22-E3D7-C81A901524E2}" dt="2025-11-28T20:23:30.732" v="9" actId="1076"/>
        <pc:sldMkLst>
          <pc:docMk/>
          <pc:sldMk cId="1630626755" sldId="552"/>
        </pc:sldMkLst>
        <pc:picChg chg="mod">
          <ac:chgData name="Einit Natalia Barajas Figueroa" userId="S::einit_barajas_soy.sena.edu.co#ext#@sena4.onmicrosoft.com::fc0b25c1-fd4c-4cd6-87fa-59bd7e2a3bf2" providerId="AD" clId="Web-{F1C2C552-820D-EC22-E3D7-C81A901524E2}" dt="2025-11-28T20:23:30.732" v="9" actId="1076"/>
          <ac:picMkLst>
            <pc:docMk/>
            <pc:sldMk cId="1630626755" sldId="552"/>
            <ac:picMk id="9" creationId="{451BC266-7E4F-76B4-F9B5-27D5181D0BEC}"/>
          </ac:picMkLst>
        </pc:picChg>
      </pc:sldChg>
    </pc:docChg>
  </pc:docChgLst>
</pc:chgInfo>
</file>

<file path=ppt/comments/modernComment_21B_430847F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0BE37ED-6B30-4223-9B10-06D65EB9D9C6}" authorId="{27DD254F-37CE-B72A-D929-E70B54B0ED62}" created="2025-05-09T17:20:23.641">
    <pc:sldMkLst xmlns:pc="http://schemas.microsoft.com/office/powerpoint/2013/main/command">
      <pc:docMk/>
      <pc:sldMk cId="1124616190" sldId="539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1C_10C0F3C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CE1347-AC39-47DA-869C-8FE83F8BB829}" authorId="{27DD254F-37CE-B72A-D929-E70B54B0ED62}" created="2025-05-09T17:20:57.283">
    <pc:sldMkLst xmlns:pc="http://schemas.microsoft.com/office/powerpoint/2013/main/command">
      <pc:docMk/>
      <pc:sldMk cId="281080768" sldId="540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1D_434DFD6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C7D49E4-DED9-468E-899C-36759F392501}" authorId="{27DD254F-37CE-B72A-D929-E70B54B0ED62}" created="2025-05-09T17:20:07.781">
    <pc:sldMkLst xmlns:pc="http://schemas.microsoft.com/office/powerpoint/2013/main/command">
      <pc:docMk/>
      <pc:sldMk cId="1129184617" sldId="541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1E_F38A607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0918AB3-C62C-4B09-8CAF-EA0690183F3F}" authorId="{27DD254F-37CE-B72A-D929-E70B54B0ED62}" created="2025-05-09T17:20:51.080">
    <pc:sldMkLst xmlns:pc="http://schemas.microsoft.com/office/powerpoint/2013/main/command">
      <pc:docMk/>
      <pc:sldMk cId="4085932155" sldId="542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C_2461712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F456A8-017C-44BB-B0DA-251F321016DF}" authorId="{27DD254F-37CE-B72A-D929-E70B54B0ED62}" created="2025-05-09T17:23:09.288">
    <pc:sldMkLst xmlns:pc="http://schemas.microsoft.com/office/powerpoint/2013/main/command">
      <pc:docMk/>
      <pc:sldMk cId="244571600" sldId="554"/>
    </pc:sldMkLst>
    <p188:txBody>
      <a:bodyPr/>
      <a:lstStyle/>
      <a:p>
        <a:r>
          <a:rPr lang="en-US"/>
          <a:t>2</a:t>
        </a:r>
      </a:p>
    </p188:txBody>
  </p188:cm>
</p188:cmLst>
</file>

<file path=ppt/comments/modernComment_22D_3032A3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417762-9219-4DAF-B33E-5393D017C703}" authorId="{27DD254F-37CE-B72A-D929-E70B54B0ED62}" created="2025-05-09T17:21:40.691">
    <pc:sldMkLst xmlns:pc="http://schemas.microsoft.com/office/powerpoint/2013/main/command">
      <pc:docMk/>
      <pc:sldMk cId="458058105" sldId="536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E_DB9C041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B19FBF-A587-4E31-A5A9-F0099AA3C3AC}" authorId="{27DD254F-37CE-B72A-D929-E70B54B0ED62}" created="2025-05-09T17:22:58.537">
    <pc:sldMkLst xmlns:pc="http://schemas.microsoft.com/office/powerpoint/2013/main/command">
      <pc:docMk/>
      <pc:sldMk cId="3718316083" sldId="551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19_B514343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994EE0-44FA-481C-B4D0-1439E29A1575}" authorId="{27DD254F-37CE-B72A-D929-E70B54B0ED62}" created="2025-05-09T17:21:13.893">
    <pc:sldMkLst xmlns:pc="http://schemas.microsoft.com/office/powerpoint/2013/main/command">
      <pc:docMk/>
      <pc:sldMk cId="3038000178" sldId="537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1_7608637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6168791-F2B9-4ABB-96A9-F90BB5551799}" authorId="{27DD254F-37CE-B72A-D929-E70B54B0ED62}" created="2025-05-09T17:21:52.019">
    <pc:sldMkLst xmlns:pc="http://schemas.microsoft.com/office/powerpoint/2013/main/command">
      <pc:docMk/>
      <pc:sldMk cId="1980261243" sldId="545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3_7C8BC0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1D43E4A-0035-4D84-9B36-73E2E2448091}" authorId="{27DD254F-37CE-B72A-D929-E70B54B0ED62}" created="2025-05-09T17:21:19.706">
    <pc:sldMkLst xmlns:pc="http://schemas.microsoft.com/office/powerpoint/2013/main/command">
      <pc:docMk/>
      <pc:sldMk cId="2089533574" sldId="547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6_768363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43FFE9-36EB-4E53-883D-5EEF56E102CA}" authorId="{27DD254F-37CE-B72A-D929-E70B54B0ED62}" created="2025-05-09T17:22:30.802">
    <pc:sldMkLst xmlns:pc="http://schemas.microsoft.com/office/powerpoint/2013/main/command">
      <pc:docMk/>
      <pc:sldMk cId="1988322222" sldId="550"/>
    </pc:sldMkLst>
    <p188:txBody>
      <a:bodyPr/>
      <a:lstStyle/>
      <a:p>
        <a:r>
          <a:rPr lang="en-US"/>
          <a:t>nata</a:t>
        </a:r>
      </a:p>
    </p188:txBody>
  </p188:cm>
</p188:cmLst>
</file>

<file path=ppt/comments/modernComment_228_613163C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FD563B2-54F7-4635-8CC4-79887C0E67AD}" authorId="{27DD254F-37CE-B72A-D929-E70B54B0ED62}" created="2025-05-09T17:22:47.303">
    <pc:sldMkLst xmlns:pc="http://schemas.microsoft.com/office/powerpoint/2013/main/command">
      <pc:docMk/>
      <pc:sldMk cId="1630626755" sldId="552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29_DDB141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BFFACB-0D40-469D-A747-BBE84DF64409}" authorId="{27DD254F-37CE-B72A-D929-E70B54B0ED62}" created="2025-05-09T17:20:38.392">
    <pc:sldMkLst xmlns:pc="http://schemas.microsoft.com/office/powerpoint/2013/main/command">
      <pc:docMk/>
      <pc:sldMk cId="232461337" sldId="553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36_B2FA7A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3F2F1A4-9DD4-4FE6-974E-CBBCD1B0ADFE}" authorId="{27DD254F-37CE-B72A-D929-E70B54B0ED62}" created="2025-05-09T17:22:13.958">
    <pc:sldMkLst xmlns:pc="http://schemas.microsoft.com/office/powerpoint/2013/main/command">
      <pc:docMk/>
      <pc:sldMk cId="4010155226" sldId="546"/>
    </pc:sldMkLst>
    <p188:txBody>
      <a:bodyPr/>
      <a:lstStyle/>
      <a:p>
        <a:r>
          <a:rPr lang="en-US"/>
          <a:t>sebas</a:t>
        </a:r>
      </a:p>
    </p188:txBody>
  </p188:cm>
</p188:cmLst>
</file>

<file path=ppt/comments/modernComment_237_72A5952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DDDD488-707B-43E7-ACCC-8B37F109A936}" authorId="{27DD254F-37CE-B72A-D929-E70B54B0ED62}" created="2025-05-09T17:22:13.958">
    <pc:sldMkLst xmlns:pc="http://schemas.microsoft.com/office/powerpoint/2013/main/command">
      <pc:docMk/>
      <pc:sldMk cId="4010155226" sldId="546"/>
    </pc:sldMkLst>
    <p188:txBody>
      <a:bodyPr/>
      <a:lstStyle/>
      <a:p>
        <a:r>
          <a:rPr lang="en-US"/>
          <a:t>sebas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27/04/2026</a:t>
            </a:fld>
            <a:endParaRPr lang="es-CO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microsoft.com/office/2018/10/relationships/comments" Target="../comments/modernComment_21D_434DFD6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microsoft.com/office/2018/10/relationships/comments" Target="../comments/modernComment_21B_430847FE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microsoft.com/office/2018/10/relationships/comments" Target="../comments/modernComment_229_DDB14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microsoft.com/office/2018/10/relationships/comments" Target="../comments/modernComment_21C_10C0F3C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21E_F38A607B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223_7C8BC08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microsoft.com/office/2018/10/relationships/comments" Target="../comments/modernComment_219_B51434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microsoft.com/office/2018/10/relationships/comments" Target="../comments/modernComment_22D_3032A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221_7608637B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microsoft.com/office/2018/10/relationships/comments" Target="../comments/modernComment_22C_2461712B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ziGcEJIWWdArYEVR3MpIk33yreig74qm/edit?usp=drive_link&amp;ouid=118160846482597767338&amp;rtpof=true&amp;sd=true" TargetMode="External"/><Relationship Id="rId2" Type="http://schemas.microsoft.com/office/2018/10/relationships/comments" Target="../comments/modernComment_236_B2FA7A5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237_72A595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microsoft.com/office/2018/10/relationships/comments" Target="../comments/modernComment_226_768363AE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ermaid.ai/d/a806b4a5-34d9-4425-80bc-ef8613de0ffd" TargetMode="External"/><Relationship Id="rId2" Type="http://schemas.microsoft.com/office/2018/10/relationships/comments" Target="../comments/modernComment_228_613163C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hyperlink" Target="https://mermaid.ai/d/29c2b9ab-3c09-44c8-871e-13636b80d335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3.png"/><Relationship Id="rId2" Type="http://schemas.microsoft.com/office/2018/10/relationships/comments" Target="../comments/modernComment_22E_DB9C041C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SebastianPacheco05/Reservify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1149976-59ED-86DE-CAFB-F26E38C394F4}"/>
              </a:ext>
            </a:extLst>
          </p:cNvPr>
          <p:cNvSpPr/>
          <p:nvPr/>
        </p:nvSpPr>
        <p:spPr>
          <a:xfrm>
            <a:off x="3421172" y="3786902"/>
            <a:ext cx="5344743" cy="120032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Centro de Servicios Empresarial y Turísticos 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Einit Natalia Barajas 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Sebastian Yesid Pacheco Rivera</a:t>
            </a:r>
            <a:b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</a:b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+mj-ea"/>
                <a:cs typeface="+mj-cs"/>
                <a:sym typeface="Calibri"/>
              </a:rPr>
              <a:t>juan pacheco pachón</a:t>
            </a:r>
            <a:endParaRPr lang="es-ES_tradnl" sz="2000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5BFFB67-C3D4-337D-C327-AB25D270EADA}"/>
              </a:ext>
            </a:extLst>
          </p:cNvPr>
          <p:cNvSpPr txBox="1"/>
          <p:nvPr/>
        </p:nvSpPr>
        <p:spPr>
          <a:xfrm>
            <a:off x="1005612" y="1713252"/>
            <a:ext cx="10175864" cy="144655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>
              <a:defRPr/>
            </a:pPr>
            <a:r>
              <a:rPr lang="es-ES" sz="4400" dirty="0">
                <a:solidFill>
                  <a:schemeClr val="bg1"/>
                </a:solidFill>
                <a:ea typeface="+mn-lt"/>
                <a:cs typeface="+mn-lt"/>
              </a:rPr>
              <a:t>Implementación del software de reservas </a:t>
            </a:r>
            <a:endParaRPr lang="es-CO" sz="4400" b="1" dirty="0">
              <a:solidFill>
                <a:schemeClr val="bg1"/>
              </a:solidFill>
              <a:latin typeface="WORK SANS BOLD ROMAN" pitchFamily="2" charset="77"/>
              <a:ea typeface="+mn-lt"/>
              <a:cs typeface="+mn-lt"/>
            </a:endParaRPr>
          </a:p>
          <a:p>
            <a:pPr algn="ctr">
              <a:defRPr/>
            </a:pPr>
            <a:r>
              <a:rPr lang="es-ES" sz="4400" dirty="0">
                <a:solidFill>
                  <a:schemeClr val="bg1"/>
                </a:solidFill>
                <a:ea typeface="+mn-lt"/>
                <a:cs typeface="+mn-lt"/>
              </a:rPr>
              <a:t>Enfocados en restaurantes de Bucaramanga</a:t>
            </a:r>
            <a:endParaRPr lang="es-CO" sz="44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38CE8666-1D2A-4D01-34E5-54FD74A39FC0}"/>
              </a:ext>
            </a:extLst>
          </p:cNvPr>
          <p:cNvCxnSpPr>
            <a:cxnSpLocks/>
          </p:cNvCxnSpPr>
          <p:nvPr/>
        </p:nvCxnSpPr>
        <p:spPr>
          <a:xfrm>
            <a:off x="5013630" y="3555133"/>
            <a:ext cx="224754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ángulo 3">
            <a:extLst>
              <a:ext uri="{FF2B5EF4-FFF2-40B4-BE49-F238E27FC236}">
                <a16:creationId xmlns:a16="http://schemas.microsoft.com/office/drawing/2014/main" id="{1E91B7AF-6831-8D97-C796-119F20A22AA7}"/>
              </a:ext>
            </a:extLst>
          </p:cNvPr>
          <p:cNvSpPr/>
          <p:nvPr/>
        </p:nvSpPr>
        <p:spPr>
          <a:xfrm>
            <a:off x="3466760" y="4874200"/>
            <a:ext cx="5344743" cy="36933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dirty="0">
                <a:solidFill>
                  <a:schemeClr val="bg1"/>
                </a:solidFill>
                <a:latin typeface="Work Sans Medium Roman"/>
                <a:ea typeface="Calibri"/>
                <a:cs typeface="Calibri"/>
              </a:rPr>
              <a:t>Ficha:2993127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15A13-7717-78BA-728D-FCE1A1E1089D}"/>
              </a:ext>
            </a:extLst>
          </p:cNvPr>
          <p:cNvSpPr txBox="1"/>
          <p:nvPr/>
        </p:nvSpPr>
        <p:spPr>
          <a:xfrm>
            <a:off x="3841595" y="561279"/>
            <a:ext cx="4583151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CO" sz="60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RESERVIFY</a:t>
            </a:r>
            <a:endParaRPr lang="en-US" dirty="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D50452A-86FC-C4E1-F1BF-2D0A1E7239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547" y="5458146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1846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34A4208-7DDE-681C-B3CE-D7CE52BA4A83}"/>
              </a:ext>
            </a:extLst>
          </p:cNvPr>
          <p:cNvSpPr txBox="1"/>
          <p:nvPr/>
        </p:nvSpPr>
        <p:spPr>
          <a:xfrm>
            <a:off x="1468229" y="1874367"/>
            <a:ext cx="64536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Work Sans Bold Roman" pitchFamily="2" charset="77"/>
                <a:ea typeface="+mn-ea"/>
                <a:cs typeface="+mn-cs"/>
              </a:rPr>
              <a:t>Introducción</a:t>
            </a:r>
            <a:endParaRPr kumimoji="0" lang="es-ES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A7026A2-4DA2-FAFF-9A67-EA8EBE871B43}"/>
              </a:ext>
            </a:extLst>
          </p:cNvPr>
          <p:cNvSpPr txBox="1"/>
          <p:nvPr/>
        </p:nvSpPr>
        <p:spPr>
          <a:xfrm>
            <a:off x="1467968" y="2865455"/>
            <a:ext cx="8968029" cy="29238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En Colombia, la oferta de aplicaciones para realizar reservas en restaurantes es limitada, lo que dificulta que los usuarios puedan encontrar y reservar fácilmente un establecimiento cercano a su ubicación.</a:t>
            </a:r>
          </a:p>
          <a:p>
            <a:endParaRPr lang="es-CO" sz="2400" dirty="0">
              <a:ea typeface="+mn-lt"/>
              <a:cs typeface="+mn-lt"/>
            </a:endParaRPr>
          </a:p>
          <a:p>
            <a:endParaRPr lang="es-CO" sz="2400" dirty="0">
              <a:latin typeface="Calibri"/>
              <a:ea typeface="Calibri"/>
              <a:cs typeface="Calibri"/>
            </a:endParaRPr>
          </a:p>
          <a:p>
            <a:endParaRPr lang="es-CO" sz="2400" dirty="0">
              <a:latin typeface="Calibri"/>
              <a:ea typeface="Calibri"/>
              <a:cs typeface="Calibri"/>
            </a:endParaRPr>
          </a:p>
          <a:p>
            <a:endParaRPr lang="es-CO" sz="1600" dirty="0">
              <a:latin typeface="Work Sans Light Roman" pitchFamily="2" charset="77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3ECF4EF-F282-E33B-7360-08CDA5DFD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205" y="877048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61619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CD774-2A78-7EE5-AB05-2AC8883CB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FF3BD05-BFAB-A6DB-3421-35B91A0FB1E4}"/>
              </a:ext>
            </a:extLst>
          </p:cNvPr>
          <p:cNvSpPr txBox="1"/>
          <p:nvPr/>
        </p:nvSpPr>
        <p:spPr>
          <a:xfrm>
            <a:off x="1468229" y="1874367"/>
            <a:ext cx="6453678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Problemática</a:t>
            </a:r>
            <a:endParaRPr kumimoji="0" lang="es-ES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97599AE-DF5D-6C3D-9CCA-5EAF7142A041}"/>
              </a:ext>
            </a:extLst>
          </p:cNvPr>
          <p:cNvSpPr txBox="1"/>
          <p:nvPr/>
        </p:nvSpPr>
        <p:spPr>
          <a:xfrm>
            <a:off x="1467968" y="2865455"/>
            <a:ext cx="8968029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La escasa demanda de aplicaciones de reservas, junto con la limitada disponibilidad de información sobre los establecimientos que las utilizan, creando una escasa información al usuario obstaculiza una gestión eficiente y oportuna de las reservas. Asimismo, numerosos restaurantes requieren estrategias de visibilidad y promoción que les permitan posicionarse adecuadamente en el mercado.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E999015-D1C0-7CA3-02EE-824C6DF0C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73" y="944806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613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1776007" y="1892057"/>
            <a:ext cx="7550214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Work Sans Bold Roman"/>
              </a:rPr>
              <a:t>Justificación</a:t>
            </a: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 </a:t>
            </a:r>
            <a:endParaRPr lang="es-ES" sz="5400" dirty="0">
              <a:solidFill>
                <a:prstClr val="black">
                  <a:lumMod val="75000"/>
                  <a:lumOff val="25000"/>
                </a:prstClr>
              </a:solidFill>
              <a:ea typeface="Calibri"/>
              <a:cs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3D7E6F2-F79F-C5BE-8836-E85B5D641C6D}"/>
              </a:ext>
            </a:extLst>
          </p:cNvPr>
          <p:cNvSpPr txBox="1"/>
          <p:nvPr/>
        </p:nvSpPr>
        <p:spPr>
          <a:xfrm>
            <a:off x="1774627" y="2986260"/>
            <a:ext cx="8968029" cy="218521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ea typeface="+mn-lt"/>
                <a:cs typeface="+mn-lt"/>
              </a:rPr>
              <a:t>La falta de software especializado en la búsqueda de reservas y en la gestión eficiente de las mismas por parte del usuario, junto con la deficiente organización y optimización de los sistemas actuales, representa una problemática significativa</a:t>
            </a:r>
          </a:p>
          <a:p>
            <a:endParaRPr lang="es-CO" sz="2400" dirty="0">
              <a:ea typeface="Calibri"/>
              <a:cs typeface="Calibri"/>
            </a:endParaRPr>
          </a:p>
          <a:p>
            <a:endParaRPr lang="es-CO" sz="1600" dirty="0">
              <a:ea typeface="Calibri"/>
              <a:cs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00A0097-2827-6218-6C5C-2AF6D98A0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2583" y="5171474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07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605128" y="423813"/>
            <a:ext cx="366971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ea typeface="+mn-lt"/>
                <a:cs typeface="+mn-lt"/>
              </a:rPr>
              <a:t>Árbol </a:t>
            </a: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latin typeface="Calibri"/>
                <a:ea typeface="Calibri"/>
                <a:cs typeface="Calibri"/>
              </a:rPr>
              <a:t>de </a:t>
            </a: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Problemas</a:t>
            </a:r>
            <a:endParaRPr lang="es-E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8C1E2-4B46-D591-8A84-9176CCCF7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742" y="0"/>
            <a:ext cx="10966515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DDC9948-97EA-8853-655A-E8F1594AA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2183" y="5830902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9321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8F619-5F25-AA9D-A4D4-84BB740F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2AA6DD-A5B4-A57D-6965-8F7879DB4EF6}"/>
              </a:ext>
            </a:extLst>
          </p:cNvPr>
          <p:cNvSpPr txBox="1"/>
          <p:nvPr/>
        </p:nvSpPr>
        <p:spPr>
          <a:xfrm>
            <a:off x="605128" y="423813"/>
            <a:ext cx="366971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s-ES" sz="2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Árbol de Objetivo </a:t>
            </a:r>
            <a:endParaRPr lang="es-ES" dirty="0">
              <a:solidFill>
                <a:prstClr val="black">
                  <a:lumMod val="75000"/>
                  <a:lumOff val="25000"/>
                </a:prst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ACB039-960D-6984-2807-9A5B19B0F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10" y="0"/>
            <a:ext cx="10602179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473527F-F3DA-63C0-2B0F-B5EF24ED0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2183" y="5830902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53357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951D1C-ACAB-30A9-933A-FC96DF28A2F0}"/>
              </a:ext>
            </a:extLst>
          </p:cNvPr>
          <p:cNvSpPr txBox="1">
            <a:spLocks/>
          </p:cNvSpPr>
          <p:nvPr/>
        </p:nvSpPr>
        <p:spPr>
          <a:xfrm>
            <a:off x="1520925" y="1199808"/>
            <a:ext cx="3058086" cy="1550749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 b="1" dirty="0">
                <a:solidFill>
                  <a:srgbClr val="38AA00"/>
                </a:solidFill>
                <a:latin typeface="WORK SANS BOLD ROMAN"/>
              </a:rPr>
              <a:t>Objetivo General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F6697F3-B1A3-FADB-1243-D89866428CB1}"/>
              </a:ext>
            </a:extLst>
          </p:cNvPr>
          <p:cNvSpPr txBox="1"/>
          <p:nvPr/>
        </p:nvSpPr>
        <p:spPr>
          <a:xfrm>
            <a:off x="1046998" y="3155208"/>
            <a:ext cx="4010676" cy="1815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800" dirty="0">
                <a:latin typeface="Work Sans Light Roman"/>
              </a:rPr>
              <a:t>Innovar con un software enfocado a las reservas de restaurantes de gran flujo de personas</a:t>
            </a:r>
            <a:endParaRPr lang="es-CO" sz="3200" dirty="0">
              <a:ea typeface="Calibri" panose="020F0502020204030204"/>
              <a:cs typeface="Calibri" panose="020F0502020204030204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669DD18A-AB54-34AC-A662-0BDC60B050FF}"/>
              </a:ext>
            </a:extLst>
          </p:cNvPr>
          <p:cNvCxnSpPr>
            <a:cxnSpLocks/>
          </p:cNvCxnSpPr>
          <p:nvPr/>
        </p:nvCxnSpPr>
        <p:spPr>
          <a:xfrm>
            <a:off x="1157468" y="2704095"/>
            <a:ext cx="1425934" cy="0"/>
          </a:xfrm>
          <a:prstGeom prst="line">
            <a:avLst/>
          </a:prstGeom>
          <a:ln w="12700">
            <a:solidFill>
              <a:srgbClr val="4D4D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CBB8E863-134C-047E-564D-20E4D7521C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166" r="239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00017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F34D7F-7092-FA25-DC24-6AA5ACC7D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A093F-98E4-BFBC-709C-9C138BDE59E3}"/>
              </a:ext>
            </a:extLst>
          </p:cNvPr>
          <p:cNvSpPr txBox="1">
            <a:spLocks/>
          </p:cNvSpPr>
          <p:nvPr/>
        </p:nvSpPr>
        <p:spPr>
          <a:xfrm>
            <a:off x="553928" y="270150"/>
            <a:ext cx="9815809" cy="741563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36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/>
              </a:rPr>
              <a:t>Objetivos Específicos </a:t>
            </a:r>
            <a:endParaRPr lang="es-CO" sz="36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6F282A7-87C7-44FA-284A-973A3B30F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4667" y="82152"/>
            <a:ext cx="2527916" cy="929561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6822DC9-8B59-A94A-6CF5-5236E267B22D}"/>
              </a:ext>
            </a:extLst>
          </p:cNvPr>
          <p:cNvSpPr txBox="1"/>
          <p:nvPr/>
        </p:nvSpPr>
        <p:spPr>
          <a:xfrm>
            <a:off x="2006388" y="2916383"/>
            <a:ext cx="8196461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2800" dirty="0">
                <a:ea typeface="Calibri"/>
                <a:cs typeface="Calibri"/>
              </a:rPr>
              <a:t>Mayor visibilidad de los restaurantes, por medio de la aplicación o página web</a:t>
            </a:r>
          </a:p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2800" dirty="0">
                <a:ea typeface="+mn-lt"/>
                <a:cs typeface="+mn-lt"/>
              </a:rPr>
              <a:t>Aumentar el flujo de personas por restaurantes</a:t>
            </a:r>
            <a:endParaRPr lang="es-CO" sz="3200" dirty="0"/>
          </a:p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2800" dirty="0">
                <a:ea typeface="+mn-lt"/>
                <a:cs typeface="+mn-lt"/>
              </a:rPr>
              <a:t>Plataforma intuitiva </a:t>
            </a:r>
          </a:p>
          <a:p>
            <a:pPr marL="342900" indent="-342900">
              <a:buClr>
                <a:srgbClr val="38AA00"/>
              </a:buClr>
              <a:buAutoNum type="arabicPeriod"/>
            </a:pPr>
            <a:r>
              <a:rPr lang="es-CO" sz="2800" dirty="0">
                <a:ea typeface="+mn-lt"/>
                <a:cs typeface="+mn-lt"/>
              </a:rPr>
              <a:t>Mejorar la gestión de las reservas en los restaurantes</a:t>
            </a: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1303955D-1D01-B149-8859-2DAFA835DD98}"/>
              </a:ext>
            </a:extLst>
          </p:cNvPr>
          <p:cNvCxnSpPr>
            <a:cxnSpLocks/>
          </p:cNvCxnSpPr>
          <p:nvPr/>
        </p:nvCxnSpPr>
        <p:spPr>
          <a:xfrm flipV="1">
            <a:off x="435100" y="2239529"/>
            <a:ext cx="11339038" cy="4227"/>
          </a:xfrm>
          <a:prstGeom prst="straightConnector1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256CA69-C5FD-A79C-3A2A-B260FAFCA9A0}"/>
              </a:ext>
            </a:extLst>
          </p:cNvPr>
          <p:cNvSpPr txBox="1"/>
          <p:nvPr/>
        </p:nvSpPr>
        <p:spPr>
          <a:xfrm>
            <a:off x="3166084" y="1610105"/>
            <a:ext cx="5518437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4000" b="1" dirty="0">
                <a:latin typeface="Work Sans Light Roman"/>
              </a:rPr>
              <a:t>UX</a:t>
            </a:r>
            <a:endParaRPr lang="es-ES" sz="4400" b="1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053905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60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/>
              </a:rPr>
              <a:t>Alternativa</a:t>
            </a:r>
            <a:endParaRPr lang="es-ES" sz="60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456236" y="1735932"/>
            <a:ext cx="10787387" cy="34163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 dirty="0">
                <a:latin typeface="Times New Roman"/>
                <a:ea typeface="+mn-lt"/>
                <a:cs typeface="+mn-lt"/>
              </a:rPr>
              <a:t>Reservify es un proyecto enfocado en automatizar las reservas de restaurantes. La idea es mejorarle la expericienta al usuario al hacer reservas de manera rápida, como reuniones o citas, desde la comodidad de su casa, y que el empleado simplemente revise en la página las reservas que tiene ese día.</a:t>
            </a:r>
            <a:endParaRPr lang="en-US" dirty="0">
              <a:latin typeface="Times New Roman"/>
              <a:ea typeface="+mn-lt"/>
              <a:cs typeface="+mn-lt"/>
            </a:endParaRPr>
          </a:p>
          <a:p>
            <a:pPr marL="457200" indent="-457200">
              <a:buAutoNum type="arabicPeriod"/>
            </a:pPr>
            <a:r>
              <a:rPr lang="es-CO" sz="2400" dirty="0">
                <a:latin typeface="Times New Roman"/>
                <a:ea typeface="+mn-lt"/>
                <a:cs typeface="+mn-lt"/>
              </a:rPr>
              <a:t>Optimización del flujo de clientes al restaurante.</a:t>
            </a:r>
          </a:p>
          <a:p>
            <a:pPr marL="457200" indent="-457200">
              <a:buAutoNum type="arabicPeriod"/>
            </a:pPr>
            <a:r>
              <a:rPr lang="es-CO" sz="2400" dirty="0">
                <a:latin typeface="Times New Roman"/>
                <a:ea typeface="+mn-lt"/>
                <a:cs typeface="+mn-lt"/>
              </a:rPr>
              <a:t>Facilitarle la búsqueda al usuario acerca de los restaurantes más cercanos y/o encontrar un restaurante en específico.</a:t>
            </a:r>
          </a:p>
          <a:p>
            <a:pPr marL="457200" indent="-457200">
              <a:buAutoNum type="arabicPeriod"/>
            </a:pPr>
            <a:r>
              <a:rPr lang="es-CO" sz="2400" dirty="0">
                <a:latin typeface="Times New Roman"/>
                <a:ea typeface="+mn-lt"/>
                <a:cs typeface="+mn-lt"/>
              </a:rPr>
              <a:t>Brindarle al cliente una experiencia más amena usando la aplicación.</a:t>
            </a:r>
          </a:p>
          <a:p>
            <a:endParaRPr lang="es-CO" sz="2400" dirty="0">
              <a:latin typeface="Work Sans Light Roman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59245BD-C3D4-5E30-F3B7-3C4294A68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183" y="5830902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2612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5BB55E-A0AF-120D-3F1C-74CBA3C04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4">
            <a:extLst>
              <a:ext uri="{FF2B5EF4-FFF2-40B4-BE49-F238E27FC236}">
                <a16:creationId xmlns:a16="http://schemas.microsoft.com/office/drawing/2014/main" id="{026FB49B-4FA2-5E79-0CA6-756242526103}"/>
              </a:ext>
            </a:extLst>
          </p:cNvPr>
          <p:cNvSpPr txBox="1"/>
          <p:nvPr/>
        </p:nvSpPr>
        <p:spPr>
          <a:xfrm>
            <a:off x="995422" y="2551837"/>
            <a:ext cx="6453678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/>
              </a:rPr>
              <a:t>Metodología</a:t>
            </a:r>
          </a:p>
        </p:txBody>
      </p:sp>
      <p:sp>
        <p:nvSpPr>
          <p:cNvPr id="9" name="CuadroTexto 7">
            <a:extLst>
              <a:ext uri="{FF2B5EF4-FFF2-40B4-BE49-F238E27FC236}">
                <a16:creationId xmlns:a16="http://schemas.microsoft.com/office/drawing/2014/main" id="{2A5B7BAF-923C-71D0-8EC3-E1FF9DD03EE7}"/>
              </a:ext>
            </a:extLst>
          </p:cNvPr>
          <p:cNvSpPr txBox="1"/>
          <p:nvPr/>
        </p:nvSpPr>
        <p:spPr>
          <a:xfrm>
            <a:off x="991243" y="3469376"/>
            <a:ext cx="10093711" cy="1015663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2000" dirty="0">
                <a:ea typeface="+mn-lt"/>
                <a:cs typeface="+mn-lt"/>
              </a:rPr>
              <a:t>1- Listado de requisitos</a:t>
            </a:r>
            <a:endParaRPr lang="en-US" sz="2000" dirty="0">
              <a:ea typeface="+mn-lt"/>
              <a:cs typeface="+mn-lt"/>
            </a:endParaRPr>
          </a:p>
          <a:p>
            <a:r>
              <a:rPr lang="es-CO" sz="2000" dirty="0">
                <a:ea typeface="+mn-lt"/>
                <a:cs typeface="+mn-lt"/>
              </a:rPr>
              <a:t>2- Diagramas estructurales de datos (casos de uso, MER, MR)</a:t>
            </a:r>
            <a:endParaRPr lang="en-US" sz="2000" dirty="0">
              <a:ea typeface="+mn-lt"/>
              <a:cs typeface="+mn-lt"/>
            </a:endParaRPr>
          </a:p>
          <a:p>
            <a:r>
              <a:rPr lang="es-CO" sz="2000" dirty="0">
                <a:ea typeface="+mn-lt"/>
                <a:cs typeface="+mn-lt"/>
              </a:rPr>
              <a:t>3- Nuevo esquema de procesos con la solución implementada</a:t>
            </a:r>
            <a:endParaRPr lang="es-ES" dirty="0">
              <a:ea typeface="+mn-lt"/>
              <a:cs typeface="+mn-lt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72C9472-EC57-2BD0-3BFB-85E20CB0DB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5089" y="5125050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657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C31FC2-6C63-0CB9-C78D-1723D5E9DD66}"/>
              </a:ext>
            </a:extLst>
          </p:cNvPr>
          <p:cNvSpPr txBox="1"/>
          <p:nvPr/>
        </p:nvSpPr>
        <p:spPr>
          <a:xfrm>
            <a:off x="456236" y="955346"/>
            <a:ext cx="305331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Times New Roman"/>
                <a:cs typeface="Times New Roman"/>
              </a:rPr>
              <a:t>1- Listado de requerimientos</a:t>
            </a:r>
            <a:endParaRPr lang="en-US" dirty="0">
              <a:latin typeface="Times New Roman"/>
              <a:cs typeface="Times New Roman"/>
            </a:endParaRPr>
          </a:p>
          <a:p>
            <a:endParaRPr lang="es-CO" sz="1600" dirty="0">
              <a:latin typeface="Times New Roman"/>
              <a:cs typeface="Times New Roman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3C1BC28-1A3C-95B9-ED9D-DE94B74B8590}"/>
              </a:ext>
            </a:extLst>
          </p:cNvPr>
          <p:cNvSpPr txBox="1"/>
          <p:nvPr/>
        </p:nvSpPr>
        <p:spPr>
          <a:xfrm>
            <a:off x="4459705" y="1158252"/>
            <a:ext cx="518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800" dirty="0">
                <a:hlinkClick r:id="rId3"/>
              </a:rPr>
              <a:t>REQUERIMIENTOS</a:t>
            </a:r>
            <a:endParaRPr lang="es-CO" sz="2800" dirty="0"/>
          </a:p>
        </p:txBody>
      </p:sp>
      <p:pic>
        <p:nvPicPr>
          <p:cNvPr id="4" name="Google Shape;170;p13" title="chart (1).png">
            <a:extLst>
              <a:ext uri="{FF2B5EF4-FFF2-40B4-BE49-F238E27FC236}">
                <a16:creationId xmlns:a16="http://schemas.microsoft.com/office/drawing/2014/main" id="{C2CAF3F5-F7EF-35C2-4A59-2B4FEF96CF7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732" y="1658396"/>
            <a:ext cx="4400268" cy="437631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Google Shape;171;p13">
            <a:extLst>
              <a:ext uri="{FF2B5EF4-FFF2-40B4-BE49-F238E27FC236}">
                <a16:creationId xmlns:a16="http://schemas.microsoft.com/office/drawing/2014/main" id="{7828DB33-A223-7C70-77C3-A1873A668C7D}"/>
              </a:ext>
            </a:extLst>
          </p:cNvPr>
          <p:cNvGraphicFramePr/>
          <p:nvPr/>
        </p:nvGraphicFramePr>
        <p:xfrm>
          <a:off x="6660335" y="1899815"/>
          <a:ext cx="4326100" cy="18286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6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dirty="0"/>
                        <a:t>Requerimientos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/>
                        <a:t>Resultado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CO">
                          <a:solidFill>
                            <a:schemeClr val="dk1"/>
                          </a:solidFill>
                        </a:rPr>
                        <a:t>Funcionales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/>
                        <a:t>1080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/>
                        <a:t>No funcionales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/>
                        <a:t>384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/>
                        <a:t>Total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dirty="0"/>
                        <a:t>1464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08CD9D97-AC79-5E64-B1EC-CF21A82A62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084" y="-83455"/>
            <a:ext cx="2527916" cy="929561"/>
          </a:xfrm>
          <a:prstGeom prst="rect">
            <a:avLst/>
          </a:prstGeom>
        </p:spPr>
      </p:pic>
      <p:graphicFrame>
        <p:nvGraphicFramePr>
          <p:cNvPr id="7" name="Google Shape;171;p13">
            <a:extLst>
              <a:ext uri="{FF2B5EF4-FFF2-40B4-BE49-F238E27FC236}">
                <a16:creationId xmlns:a16="http://schemas.microsoft.com/office/drawing/2014/main" id="{B195F237-760B-D156-C909-1D7051A073DC}"/>
              </a:ext>
            </a:extLst>
          </p:cNvPr>
          <p:cNvGraphicFramePr/>
          <p:nvPr/>
        </p:nvGraphicFramePr>
        <p:xfrm>
          <a:off x="6761701" y="3946838"/>
          <a:ext cx="4123367" cy="219936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3504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2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25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Transaccionales 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5769">
                <a:tc>
                  <a:txBody>
                    <a:bodyPr/>
                    <a:lstStyle/>
                    <a:p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Seguridad/autenticación + auditorías</a:t>
                      </a:r>
                      <a:endParaRPr lang="es-CO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989">
                <a:tc>
                  <a:txBody>
                    <a:bodyPr/>
                    <a:lstStyle/>
                    <a:p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Maestras</a:t>
                      </a:r>
                      <a:endParaRPr lang="es-CO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98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Tablas total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O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275976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703B2-4763-7BD6-D10D-460F778AA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D4948F-B87D-3555-CCF2-5BBE49FA6A9B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BCC68C6-3BCA-C4E9-44C0-F3ADE5D3BAAF}"/>
              </a:ext>
            </a:extLst>
          </p:cNvPr>
          <p:cNvSpPr txBox="1"/>
          <p:nvPr/>
        </p:nvSpPr>
        <p:spPr>
          <a:xfrm>
            <a:off x="456236" y="955346"/>
            <a:ext cx="305331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Times New Roman"/>
                <a:cs typeface="Times New Roman"/>
              </a:rPr>
              <a:t>1- Listado de requerimientos</a:t>
            </a:r>
            <a:endParaRPr lang="en-US" dirty="0">
              <a:latin typeface="Times New Roman"/>
              <a:cs typeface="Times New Roman"/>
            </a:endParaRPr>
          </a:p>
          <a:p>
            <a:endParaRPr lang="es-CO" sz="1600" dirty="0">
              <a:latin typeface="Times New Roman"/>
              <a:cs typeface="Times New Roman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9B4437-B566-E48B-FE33-C9ADF8FD8F89}"/>
              </a:ext>
            </a:extLst>
          </p:cNvPr>
          <p:cNvSpPr txBox="1"/>
          <p:nvPr/>
        </p:nvSpPr>
        <p:spPr>
          <a:xfrm>
            <a:off x="4002572" y="1098646"/>
            <a:ext cx="5181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800" dirty="0"/>
              <a:t>Tablas mas transaccional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2A6C44A-5FEE-B8E0-301B-A5714D636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554" y="239760"/>
            <a:ext cx="2527916" cy="92956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0F84482-D420-C6D3-FFDD-850AEBFE7F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274" y="1681472"/>
            <a:ext cx="9971452" cy="474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45424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56395-384E-C7A3-2AFA-936A71EBD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6AAF15-62AE-D158-4821-37D11116594A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11785BB-89BE-758F-F7EE-06B2FCBD1B23}"/>
              </a:ext>
            </a:extLst>
          </p:cNvPr>
          <p:cNvSpPr txBox="1"/>
          <p:nvPr/>
        </p:nvSpPr>
        <p:spPr>
          <a:xfrm>
            <a:off x="456236" y="946054"/>
            <a:ext cx="5518437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</a:p>
          <a:p>
            <a:r>
              <a:rPr lang="es-CO" sz="1600" dirty="0">
                <a:latin typeface="Work Sans Light Roman"/>
              </a:rPr>
              <a:t>2- Diagramas estructurales de datos (casos de uso, MER, MR)</a:t>
            </a:r>
          </a:p>
        </p:txBody>
      </p:sp>
      <p:sp>
        <p:nvSpPr>
          <p:cNvPr id="10" name="CuadroTexto 2">
            <a:extLst>
              <a:ext uri="{FF2B5EF4-FFF2-40B4-BE49-F238E27FC236}">
                <a16:creationId xmlns:a16="http://schemas.microsoft.com/office/drawing/2014/main" id="{2DB21563-97FF-4FFF-7229-9B0B253D58BE}"/>
              </a:ext>
            </a:extLst>
          </p:cNvPr>
          <p:cNvSpPr txBox="1"/>
          <p:nvPr/>
        </p:nvSpPr>
        <p:spPr>
          <a:xfrm>
            <a:off x="2349647" y="573477"/>
            <a:ext cx="551843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2400" dirty="0">
                <a:latin typeface="Work Sans Light Roman"/>
              </a:rPr>
              <a:t>Casos de uso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F421EDF-881F-CB9F-BE63-906D88C0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8312" y="1687617"/>
            <a:ext cx="7195375" cy="480291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4850576-EADB-726C-81ED-450A55B1F9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673" y="44112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32222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7DC6B-0728-CD23-439C-5B80DAD3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606BC9-E40C-9F09-C9AC-23FA39819ED6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36B6709-B359-A376-B6FF-DF0C60024BA9}"/>
              </a:ext>
            </a:extLst>
          </p:cNvPr>
          <p:cNvSpPr txBox="1"/>
          <p:nvPr/>
        </p:nvSpPr>
        <p:spPr>
          <a:xfrm>
            <a:off x="456236" y="946054"/>
            <a:ext cx="9189891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</a:p>
          <a:p>
            <a:r>
              <a:rPr lang="es-CO" sz="1600" dirty="0">
                <a:latin typeface="Work Sans Light Roman"/>
              </a:rPr>
              <a:t>2- Diagramas estructurales de datos (casos de uso, MER, MR)</a:t>
            </a:r>
            <a:endParaRPr lang="es-CO" dirty="0">
              <a:latin typeface="Calibri"/>
              <a:ea typeface="Calibri"/>
              <a:cs typeface="Calibri"/>
            </a:endParaRPr>
          </a:p>
        </p:txBody>
      </p:sp>
      <p:sp>
        <p:nvSpPr>
          <p:cNvPr id="8" name="CuadroTexto 2">
            <a:extLst>
              <a:ext uri="{FF2B5EF4-FFF2-40B4-BE49-F238E27FC236}">
                <a16:creationId xmlns:a16="http://schemas.microsoft.com/office/drawing/2014/main" id="{7C7548EA-3198-EC57-7D54-9939E0907792}"/>
              </a:ext>
            </a:extLst>
          </p:cNvPr>
          <p:cNvSpPr txBox="1"/>
          <p:nvPr/>
        </p:nvSpPr>
        <p:spPr>
          <a:xfrm>
            <a:off x="916929" y="2478685"/>
            <a:ext cx="4447211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3600" dirty="0">
                <a:latin typeface="Work Sans Light Roman"/>
              </a:rPr>
              <a:t>MER  </a:t>
            </a:r>
            <a:r>
              <a:rPr lang="es-CO" sz="3600" dirty="0">
                <a:latin typeface="Work Sans Light Roman"/>
                <a:hlinkClick r:id="rId3"/>
              </a:rPr>
              <a:t>https://mermaid.ai/d/a806b4a5-34d9-4425-80bc-ef8613de0ffd</a:t>
            </a:r>
            <a:endParaRPr lang="es-CO" sz="3600" dirty="0">
              <a:latin typeface="Work Sans Light Roman"/>
            </a:endParaRPr>
          </a:p>
        </p:txBody>
      </p:sp>
      <p:sp>
        <p:nvSpPr>
          <p:cNvPr id="5" name="CuadroTexto 2">
            <a:extLst>
              <a:ext uri="{FF2B5EF4-FFF2-40B4-BE49-F238E27FC236}">
                <a16:creationId xmlns:a16="http://schemas.microsoft.com/office/drawing/2014/main" id="{AA28F5AC-918A-5F03-1562-CF2F45FE3D6A}"/>
              </a:ext>
            </a:extLst>
          </p:cNvPr>
          <p:cNvSpPr txBox="1"/>
          <p:nvPr/>
        </p:nvSpPr>
        <p:spPr>
          <a:xfrm>
            <a:off x="6084411" y="2478685"/>
            <a:ext cx="5156639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s-CO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CO" sz="4000" dirty="0">
                <a:latin typeface="Work Sans Light Roman"/>
              </a:rPr>
              <a:t>MR   </a:t>
            </a:r>
            <a:r>
              <a:rPr lang="es-CO" sz="4000" dirty="0">
                <a:latin typeface="Work Sans Light Roman"/>
                <a:hlinkClick r:id="rId4"/>
              </a:rPr>
              <a:t>https://mermaid.ai/d/29c2b9ab-3c09-44c8-871e-13636b80d335</a:t>
            </a:r>
            <a:endParaRPr lang="es-CO" sz="4000" dirty="0">
              <a:latin typeface="Work Sans Light Roman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E485F7F-B0F8-5C77-A31B-5B79396562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848" y="308880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267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921C9-3507-11C5-F13A-58320ECA5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3804DA-B92F-713C-5A25-89277F00ED45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 pitchFamily="2" charset="77"/>
              </a:rPr>
              <a:t>Metodología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324DA40-1ABE-073F-6C9F-5CD14F82F50E}"/>
              </a:ext>
            </a:extLst>
          </p:cNvPr>
          <p:cNvSpPr txBox="1"/>
          <p:nvPr/>
        </p:nvSpPr>
        <p:spPr>
          <a:xfrm>
            <a:off x="456236" y="946054"/>
            <a:ext cx="5013457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dirty="0">
                <a:latin typeface="Work Sans Light Roman"/>
              </a:rPr>
              <a:t>Especificar:</a:t>
            </a:r>
            <a:endParaRPr lang="es-CO" sz="1100" dirty="0">
              <a:latin typeface="Work Sans Light Roman"/>
            </a:endParaRPr>
          </a:p>
          <a:p>
            <a:r>
              <a:rPr lang="en-US" sz="1400" dirty="0">
                <a:latin typeface="Calibri"/>
                <a:ea typeface="Calibri"/>
                <a:cs typeface="Calibri"/>
              </a:rPr>
              <a:t>3 - Nuevo esquema de procesos con la solución implementada</a:t>
            </a:r>
            <a:endParaRPr lang="es-CO" sz="1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5A38BA6-D251-92F7-3780-48E0980745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677" y="1500052"/>
            <a:ext cx="4174573" cy="26030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598B1D5F-5A9F-7CC8-789A-F371ABE10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6064" y="3809725"/>
            <a:ext cx="4174573" cy="2098568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F9AAB9EC-5618-8D8E-90D2-8E871FFA10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0378" y="3809725"/>
            <a:ext cx="4443762" cy="2702796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7CF0E539-2338-6915-4FEA-E6E4F06E31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05184" y="1540877"/>
            <a:ext cx="4145453" cy="252135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6B2E49F7-4D26-6E85-9510-D38D110960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42259" y="216591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4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B6F714C-A6B0-54AE-507A-D0700714D94B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36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 BOLD ROMAN" pitchFamily="2" charset="77"/>
              </a:rPr>
              <a:t>Cronograma</a:t>
            </a:r>
          </a:p>
        </p:txBody>
      </p:sp>
      <p:pic>
        <p:nvPicPr>
          <p:cNvPr id="2" name="Picture 1" descr="A white and black box with black text&#10;&#10;AI-generated content may be incorrect.">
            <a:extLst>
              <a:ext uri="{FF2B5EF4-FFF2-40B4-BE49-F238E27FC236}">
                <a16:creationId xmlns:a16="http://schemas.microsoft.com/office/drawing/2014/main" id="{6F7079A7-0924-504D-AC9E-700C66EF43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4" b="4469"/>
          <a:stretch>
            <a:fillRect/>
          </a:stretch>
        </p:blipFill>
        <p:spPr>
          <a:xfrm>
            <a:off x="330679" y="1527233"/>
            <a:ext cx="11717558" cy="4752092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7FA3F96-CEED-5553-F361-6C0625A613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2947" y="215846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2924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B6F714C-A6B0-54AE-507A-D0700714D94B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36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WORK SANS BOLD ROMAN"/>
              </a:rPr>
              <a:t>Avances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6EDBC5-9719-5298-F46B-FFD61D7493B8}"/>
              </a:ext>
            </a:extLst>
          </p:cNvPr>
          <p:cNvSpPr txBox="1"/>
          <p:nvPr/>
        </p:nvSpPr>
        <p:spPr>
          <a:xfrm>
            <a:off x="6853708" y="2782669"/>
            <a:ext cx="202032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ea typeface="Calibri"/>
                <a:cs typeface="Calibri"/>
                <a:hlinkClick r:id="rId2"/>
              </a:rPr>
              <a:t>Click aqui</a:t>
            </a:r>
          </a:p>
        </p:txBody>
      </p:sp>
      <p:pic>
        <p:nvPicPr>
          <p:cNvPr id="3074" name="Picture 2" descr="GitHub Logo and symbol, meaning, history, PNG, brand">
            <a:extLst>
              <a:ext uri="{FF2B5EF4-FFF2-40B4-BE49-F238E27FC236}">
                <a16:creationId xmlns:a16="http://schemas.microsoft.com/office/drawing/2014/main" id="{50AFD77A-0689-42F1-6076-607F21520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32" y="1454332"/>
            <a:ext cx="6277913" cy="3531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7398FCE-9ECE-CDD2-B0FD-7945DAB66A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547" y="5458146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526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86C0B5F-8882-CF4A-AB4F-68545363B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042" y="2313893"/>
            <a:ext cx="2527916" cy="929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6266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454</Words>
  <Application>Microsoft Office PowerPoint</Application>
  <PresentationFormat>Panorámica</PresentationFormat>
  <Paragraphs>71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7" baseType="lpstr">
      <vt:lpstr>Arial</vt:lpstr>
      <vt:lpstr>Calibri</vt:lpstr>
      <vt:lpstr>Calibri Light</vt:lpstr>
      <vt:lpstr>Times New Roman</vt:lpstr>
      <vt:lpstr>Work Sans Bold Roman</vt:lpstr>
      <vt:lpstr>Work Sans Bold Roman</vt:lpstr>
      <vt:lpstr>Work Sans Light Roman</vt:lpstr>
      <vt:lpstr>Work Sans Medium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natalia barajas</cp:lastModifiedBy>
  <cp:revision>21</cp:revision>
  <dcterms:created xsi:type="dcterms:W3CDTF">2020-10-01T23:51:28Z</dcterms:created>
  <dcterms:modified xsi:type="dcterms:W3CDTF">2026-04-27T15:52:45Z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