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21D_434DFD69.xml" ContentType="application/vnd.ms-powerpoint.comments+xml"/>
  <Override PartName="/ppt/comments/modernComment_22B_1523B216.xml" ContentType="application/vnd.ms-powerpoint.comments+xml"/>
  <Override PartName="/ppt/comments/modernComment_21B_430847FE.xml" ContentType="application/vnd.ms-powerpoint.comments+xml"/>
  <Override PartName="/ppt/comments/modernComment_229_DDB1419.xml" ContentType="application/vnd.ms-powerpoint.comments+xml"/>
  <Override PartName="/ppt/comments/modernComment_21E_F38A607B.xml" ContentType="application/vnd.ms-powerpoint.comments+xml"/>
  <Override PartName="/ppt/comments/modernComment_21C_10C0F3C0.xml" ContentType="application/vnd.ms-powerpoint.comments+xml"/>
  <Override PartName="/ppt/comments/modernComment_219_B5143432.xml" ContentType="application/vnd.ms-powerpoint.comments+xml"/>
  <Override PartName="/ppt/comments/modernComment_223_7C8BC086.xml" ContentType="application/vnd.ms-powerpoint.comments+xml"/>
  <Override PartName="/ppt/comments/modernComment_22D_3032A30.xml" ContentType="application/vnd.ms-powerpoint.comments+xml"/>
  <Override PartName="/ppt/comments/modernComment_221_7608637B.xml" ContentType="application/vnd.ms-powerpoint.comments+xml"/>
  <Override PartName="/ppt/comments/modernComment_218_1B4D6979.xml" ContentType="application/vnd.ms-powerpoint.comments+xml"/>
  <Override PartName="/ppt/comments/modernComment_22C_2461712B.xml" ContentType="application/vnd.ms-powerpoint.comments+xml"/>
  <Override PartName="/ppt/comments/modernComment_222_EF061CDA.xml" ContentType="application/vnd.ms-powerpoint.comments+xml"/>
  <Override PartName="/ppt/comments/modernComment_226_768363AE.xml" ContentType="application/vnd.ms-powerpoint.comments+xml"/>
  <Override PartName="/ppt/comments/modernComment_228_613163C3.xml" ContentType="application/vnd.ms-powerpoint.comments+xml"/>
  <Override PartName="/ppt/comments/modernComment_227_DDA10033.xml" ContentType="application/vnd.ms-powerpoint.comments+xml"/>
  <Override PartName="/ppt/comments/modernComment_22E_DB9C041C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541" r:id="rId2"/>
    <p:sldId id="555" r:id="rId3"/>
    <p:sldId id="539" r:id="rId4"/>
    <p:sldId id="553" r:id="rId5"/>
    <p:sldId id="542" r:id="rId6"/>
    <p:sldId id="540" r:id="rId7"/>
    <p:sldId id="537" r:id="rId8"/>
    <p:sldId id="547" r:id="rId9"/>
    <p:sldId id="557" r:id="rId10"/>
    <p:sldId id="545" r:id="rId11"/>
    <p:sldId id="536" r:id="rId12"/>
    <p:sldId id="556" r:id="rId13"/>
    <p:sldId id="546" r:id="rId14"/>
    <p:sldId id="550" r:id="rId15"/>
    <p:sldId id="552" r:id="rId16"/>
    <p:sldId id="551" r:id="rId17"/>
    <p:sldId id="558" r:id="rId18"/>
    <p:sldId id="532" r:id="rId19"/>
    <p:sldId id="562" r:id="rId20"/>
    <p:sldId id="563" r:id="rId21"/>
    <p:sldId id="560" r:id="rId22"/>
    <p:sldId id="561" r:id="rId23"/>
    <p:sldId id="544" r:id="rId24"/>
    <p:sldId id="543" r:id="rId25"/>
    <p:sldId id="531" r:id="rId2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D254F-37CE-B72A-D929-E70B54B0ED62}" name="Einit Natalia Barajas Figueroa" initials="EF" userId="S::einit_barajas_soy.sena.edu.co#ext#@sena4.onmicrosoft.com::fc0b25c1-fd4c-4cd6-87fa-59bd7e2a3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2C552-820D-EC22-E3D7-C81A901524E2}" v="13" dt="2025-11-28T20:27:54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595"/>
        <p:guide pos="3840"/>
        <p:guide orient="horz" pos="187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nit Natalia Barajas Figueroa" userId="S::einit_barajas_soy.sena.edu.co#ext#@sena4.onmicrosoft.com::fc0b25c1-fd4c-4cd6-87fa-59bd7e2a3bf2" providerId="AD" clId="Web-{F1C2C552-820D-EC22-E3D7-C81A901524E2}"/>
    <pc:docChg chg="modSld">
      <pc:chgData name="Einit Natalia Barajas Figueroa" userId="S::einit_barajas_soy.sena.edu.co#ext#@sena4.onmicrosoft.com::fc0b25c1-fd4c-4cd6-87fa-59bd7e2a3bf2" providerId="AD" clId="Web-{F1C2C552-820D-EC22-E3D7-C81A901524E2}" dt="2025-11-28T20:27:54.028" v="12" actId="1076"/>
      <pc:docMkLst>
        <pc:docMk/>
      </pc:docMkLst>
      <pc:sldChg chg="modSp">
        <pc:chgData name="Einit Natalia Barajas Figueroa" userId="S::einit_barajas_soy.sena.edu.co#ext#@sena4.onmicrosoft.com::fc0b25c1-fd4c-4cd6-87fa-59bd7e2a3bf2" providerId="AD" clId="Web-{F1C2C552-820D-EC22-E3D7-C81A901524E2}" dt="2025-11-28T20:27:54.028" v="12" actId="1076"/>
        <pc:sldMkLst>
          <pc:docMk/>
          <pc:sldMk cId="3927921496" sldId="543"/>
        </pc:sldMkLst>
        <pc:picChg chg="mod">
          <ac:chgData name="Einit Natalia Barajas Figueroa" userId="S::einit_barajas_soy.sena.edu.co#ext#@sena4.onmicrosoft.com::fc0b25c1-fd4c-4cd6-87fa-59bd7e2a3bf2" providerId="AD" clId="Web-{F1C2C552-820D-EC22-E3D7-C81A901524E2}" dt="2025-11-28T20:27:54.028" v="12" actId="1076"/>
          <ac:picMkLst>
            <pc:docMk/>
            <pc:sldMk cId="3927921496" sldId="543"/>
            <ac:picMk id="2" creationId="{767C6271-08B4-77E3-60B7-1B97F4CE02A0}"/>
          </ac:picMkLst>
        </pc:picChg>
      </pc:sldChg>
      <pc:sldChg chg="modSp">
        <pc:chgData name="Einit Natalia Barajas Figueroa" userId="S::einit_barajas_soy.sena.edu.co#ext#@sena4.onmicrosoft.com::fc0b25c1-fd4c-4cd6-87fa-59bd7e2a3bf2" providerId="AD" clId="Web-{F1C2C552-820D-EC22-E3D7-C81A901524E2}" dt="2025-11-28T20:23:30.732" v="9" actId="1076"/>
        <pc:sldMkLst>
          <pc:docMk/>
          <pc:sldMk cId="1630626755" sldId="552"/>
        </pc:sldMkLst>
        <pc:picChg chg="mod">
          <ac:chgData name="Einit Natalia Barajas Figueroa" userId="S::einit_barajas_soy.sena.edu.co#ext#@sena4.onmicrosoft.com::fc0b25c1-fd4c-4cd6-87fa-59bd7e2a3bf2" providerId="AD" clId="Web-{F1C2C552-820D-EC22-E3D7-C81A901524E2}" dt="2025-11-28T20:23:30.732" v="9" actId="1076"/>
          <ac:picMkLst>
            <pc:docMk/>
            <pc:sldMk cId="1630626755" sldId="552"/>
            <ac:picMk id="9" creationId="{451BC266-7E4F-76B4-F9B5-27D5181D0BEC}"/>
          </ac:picMkLst>
        </pc:picChg>
      </pc:sldChg>
    </pc:docChg>
  </pc:docChgLst>
</pc:chgInfo>
</file>

<file path=ppt/comments/modernComment_21B_430847F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0BE37ED-6B30-4223-9B10-06D65EB9D9C6}" authorId="{27DD254F-37CE-B72A-D929-E70B54B0ED62}" created="2025-05-09T17:20:23.641">
    <pc:sldMkLst xmlns:pc="http://schemas.microsoft.com/office/powerpoint/2013/main/command">
      <pc:docMk/>
      <pc:sldMk cId="1124616190" sldId="539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1C_10C0F3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CE1347-AC39-47DA-869C-8FE83F8BB829}" authorId="{27DD254F-37CE-B72A-D929-E70B54B0ED62}" created="2025-05-09T17:20:57.283">
    <pc:sldMkLst xmlns:pc="http://schemas.microsoft.com/office/powerpoint/2013/main/command">
      <pc:docMk/>
      <pc:sldMk cId="281080768" sldId="540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1D_434DFD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7D49E4-DED9-468E-899C-36759F392501}" authorId="{27DD254F-37CE-B72A-D929-E70B54B0ED62}" created="2025-05-09T17:20:07.781">
    <pc:sldMkLst xmlns:pc="http://schemas.microsoft.com/office/powerpoint/2013/main/command">
      <pc:docMk/>
      <pc:sldMk cId="1129184617" sldId="541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1E_F38A60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918AB3-C62C-4B09-8CAF-EA0690183F3F}" authorId="{27DD254F-37CE-B72A-D929-E70B54B0ED62}" created="2025-05-09T17:20:51.080">
    <pc:sldMkLst xmlns:pc="http://schemas.microsoft.com/office/powerpoint/2013/main/command">
      <pc:docMk/>
      <pc:sldMk cId="4085932155" sldId="542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2B_1523B2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C63BCA-4324-48A6-BE18-5EA2CFC287F4}" authorId="{27DD254F-37CE-B72A-D929-E70B54B0ED62}" created="2025-05-09T17:21:05.549">
    <pc:sldMkLst xmlns:pc="http://schemas.microsoft.com/office/powerpoint/2013/main/command">
      <pc:docMk/>
      <pc:sldMk cId="1971142826" sldId="535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C_246171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F456A8-017C-44BB-B0DA-251F321016DF}" authorId="{27DD254F-37CE-B72A-D929-E70B54B0ED62}" created="2025-05-09T17:23:09.288">
    <pc:sldMkLst xmlns:pc="http://schemas.microsoft.com/office/powerpoint/2013/main/command">
      <pc:docMk/>
      <pc:sldMk cId="244571600" sldId="554"/>
    </pc:sldMkLst>
    <p188:txBody>
      <a:bodyPr/>
      <a:lstStyle/>
      <a:p>
        <a:r>
          <a:rPr lang="en-US"/>
          <a:t>2</a:t>
        </a:r>
      </a:p>
    </p188:txBody>
  </p188:cm>
</p188:cmLst>
</file>

<file path=ppt/comments/modernComment_22D_3032A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417762-9219-4DAF-B33E-5393D017C703}" authorId="{27DD254F-37CE-B72A-D929-E70B54B0ED62}" created="2025-05-09T17:21:40.691">
    <pc:sldMkLst xmlns:pc="http://schemas.microsoft.com/office/powerpoint/2013/main/command">
      <pc:docMk/>
      <pc:sldMk cId="458058105" sldId="536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E_DB9C04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B19FBF-A587-4E31-A5A9-F0099AA3C3AC}" authorId="{27DD254F-37CE-B72A-D929-E70B54B0ED62}" created="2025-05-09T17:22:58.537">
    <pc:sldMkLst xmlns:pc="http://schemas.microsoft.com/office/powerpoint/2013/main/command">
      <pc:docMk/>
      <pc:sldMk cId="3718316083" sldId="551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18_1B4D69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25E645-1C7D-4B94-AF83-349044F6C4A1}" authorId="{27DD254F-37CE-B72A-D929-E70B54B0ED62}" created="2025-05-09T17:21:40.691">
    <pc:sldMkLst xmlns:pc="http://schemas.microsoft.com/office/powerpoint/2013/main/command">
      <pc:docMk/>
      <pc:sldMk cId="458058105" sldId="536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19_B51434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994EE0-44FA-481C-B4D0-1439E29A1575}" authorId="{27DD254F-37CE-B72A-D929-E70B54B0ED62}" created="2025-05-09T17:21:13.893">
    <pc:sldMkLst xmlns:pc="http://schemas.microsoft.com/office/powerpoint/2013/main/command">
      <pc:docMk/>
      <pc:sldMk cId="3038000178" sldId="537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1_760863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168791-F2B9-4ABB-96A9-F90BB5551799}" authorId="{27DD254F-37CE-B72A-D929-E70B54B0ED62}" created="2025-05-09T17:21:52.019">
    <pc:sldMkLst xmlns:pc="http://schemas.microsoft.com/office/powerpoint/2013/main/command">
      <pc:docMk/>
      <pc:sldMk cId="1980261243" sldId="545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22_EF061C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F2F1A4-9DD4-4FE6-974E-CBBCD1B0ADFE}" authorId="{27DD254F-37CE-B72A-D929-E70B54B0ED62}" created="2025-05-09T17:22:13.958">
    <pc:sldMkLst xmlns:pc="http://schemas.microsoft.com/office/powerpoint/2013/main/command">
      <pc:docMk/>
      <pc:sldMk cId="4010155226" sldId="546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23_7C8BC0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D43E4A-0035-4D84-9B36-73E2E2448091}" authorId="{27DD254F-37CE-B72A-D929-E70B54B0ED62}" created="2025-05-09T17:21:19.706">
    <pc:sldMkLst xmlns:pc="http://schemas.microsoft.com/office/powerpoint/2013/main/command">
      <pc:docMk/>
      <pc:sldMk cId="2089533574" sldId="547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6_768363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43FFE9-36EB-4E53-883D-5EEF56E102CA}" authorId="{27DD254F-37CE-B72A-D929-E70B54B0ED62}" created="2025-05-09T17:22:30.802">
    <pc:sldMkLst xmlns:pc="http://schemas.microsoft.com/office/powerpoint/2013/main/command">
      <pc:docMk/>
      <pc:sldMk cId="1988322222" sldId="550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7_DDA1003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DD6374-38E3-44F1-8480-188502E96A58}" authorId="{27DD254F-37CE-B72A-D929-E70B54B0ED62}" created="2025-05-09T17:22:58.537">
    <pc:sldMkLst xmlns:pc="http://schemas.microsoft.com/office/powerpoint/2013/main/command">
      <pc:docMk/>
      <pc:sldMk cId="3718316083" sldId="551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8_613163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D563B2-54F7-4635-8CC4-79887C0E67AD}" authorId="{27DD254F-37CE-B72A-D929-E70B54B0ED62}" created="2025-05-09T17:22:47.303">
    <pc:sldMkLst xmlns:pc="http://schemas.microsoft.com/office/powerpoint/2013/main/command">
      <pc:docMk/>
      <pc:sldMk cId="1630626755" sldId="552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29_DDB14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EBFFACB-0D40-469D-A747-BBE84DF64409}" authorId="{27DD254F-37CE-B72A-D929-E70B54B0ED62}" created="2025-05-09T17:20:38.392">
    <pc:sldMkLst xmlns:pc="http://schemas.microsoft.com/office/powerpoint/2013/main/command">
      <pc:docMk/>
      <pc:sldMk cId="232461337" sldId="553"/>
    </pc:sldMkLst>
    <p188:txBody>
      <a:bodyPr/>
      <a:lstStyle/>
      <a:p>
        <a:r>
          <a:rPr lang="en-US"/>
          <a:t>sebas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21D_434DFD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22B_1523B216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microsoft.com/office/2018/10/relationships/comments" Target="../comments/modernComment_21B_430847FE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microsoft.com/office/2018/10/relationships/comments" Target="../comments/modernComment_229_DDB1419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21E_F38A607B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microsoft.com/office/2018/10/relationships/comments" Target="../comments/modernComment_21C_10C0F3C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219_B51434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223_7C8BC08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22D_3032A3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21_7608637B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218_1B4D697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microsoft.com/office/2018/10/relationships/comments" Target="../comments/modernComment_22C_2461712B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22_EF061CDA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8/10/relationships/comments" Target="../comments/modernComment_226_768363AE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228_613163C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227_DDA100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microsoft.com/office/2018/10/relationships/comments" Target="../comments/modernComment_22E_DB9C041C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bastianPacheco05/Reservify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149976-59ED-86DE-CAFB-F26E38C394F4}"/>
              </a:ext>
            </a:extLst>
          </p:cNvPr>
          <p:cNvSpPr/>
          <p:nvPr/>
        </p:nvSpPr>
        <p:spPr>
          <a:xfrm>
            <a:off x="3423628" y="3954050"/>
            <a:ext cx="5344743" cy="9233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>
                <a:solidFill>
                  <a:schemeClr val="bg1"/>
                </a:solidFill>
                <a:latin typeface="Work Sans Medium Roman"/>
                <a:ea typeface="+mj-ea"/>
                <a:cs typeface="+mj-cs"/>
                <a:sym typeface="Calibri"/>
              </a:rPr>
              <a:t>Centro de Servicios Empresarial y Turísticos </a:t>
            </a:r>
            <a:endParaRPr lang="es-ES_tradnl" sz="200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err="1">
                <a:solidFill>
                  <a:schemeClr val="bg1"/>
                </a:solidFill>
                <a:latin typeface="Work Sans Medium Roman"/>
                <a:ea typeface="+mj-ea"/>
                <a:cs typeface="+mj-cs"/>
                <a:sym typeface="Calibri"/>
              </a:rPr>
              <a:t>Einit</a:t>
            </a:r>
            <a:r>
              <a:rPr lang="es-ES_tradnl" sz="2000">
                <a:solidFill>
                  <a:schemeClr val="bg1"/>
                </a:solidFill>
                <a:latin typeface="Work Sans Medium Roman"/>
                <a:ea typeface="+mj-ea"/>
                <a:cs typeface="+mj-cs"/>
                <a:sym typeface="Calibri"/>
              </a:rPr>
              <a:t> Natalia Barajas </a:t>
            </a:r>
            <a:endParaRPr lang="es-ES_tradnl" sz="200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err="1">
                <a:solidFill>
                  <a:schemeClr val="bg1"/>
                </a:solidFill>
                <a:latin typeface="Work Sans Medium Roman"/>
                <a:ea typeface="+mj-ea"/>
                <a:cs typeface="+mj-cs"/>
                <a:sym typeface="Calibri"/>
              </a:rPr>
              <a:t>Sebastian</a:t>
            </a:r>
            <a:r>
              <a:rPr lang="es-ES_tradnl" sz="2000">
                <a:solidFill>
                  <a:schemeClr val="bg1"/>
                </a:solidFill>
                <a:latin typeface="Work Sans Medium Roman"/>
                <a:ea typeface="+mj-ea"/>
                <a:cs typeface="+mj-cs"/>
                <a:sym typeface="Calibri"/>
              </a:rPr>
              <a:t> Yesid Pacheco Rivera</a:t>
            </a:r>
            <a:endParaRPr lang="es-ES_tradnl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1203167" y="1713252"/>
            <a:ext cx="9780754" cy="144655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ES" sz="4400">
                <a:solidFill>
                  <a:schemeClr val="bg1"/>
                </a:solidFill>
                <a:ea typeface="+mn-lt"/>
                <a:cs typeface="+mn-lt"/>
              </a:rPr>
              <a:t>Implementación del software de reservas </a:t>
            </a:r>
            <a:endParaRPr lang="es-CO" sz="4400" b="1">
              <a:solidFill>
                <a:schemeClr val="bg1"/>
              </a:solidFill>
              <a:latin typeface="WORK SANS BOLD ROMAN" pitchFamily="2" charset="77"/>
              <a:ea typeface="+mn-lt"/>
              <a:cs typeface="+mn-lt"/>
            </a:endParaRPr>
          </a:p>
          <a:p>
            <a:pPr algn="ctr">
              <a:defRPr/>
            </a:pPr>
            <a:r>
              <a:rPr lang="es-ES" sz="4400">
                <a:solidFill>
                  <a:schemeClr val="bg1"/>
                </a:solidFill>
                <a:ea typeface="+mn-lt"/>
                <a:cs typeface="+mn-lt"/>
              </a:rPr>
              <a:t>enfocado restaurantes en Bucaramanga</a:t>
            </a:r>
            <a:endParaRPr lang="es-CO" sz="4400" b="1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8CE8666-1D2A-4D01-34E5-54FD74A39FC0}"/>
              </a:ext>
            </a:extLst>
          </p:cNvPr>
          <p:cNvCxnSpPr>
            <a:cxnSpLocks/>
          </p:cNvCxnSpPr>
          <p:nvPr/>
        </p:nvCxnSpPr>
        <p:spPr>
          <a:xfrm>
            <a:off x="5013630" y="3555133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3">
            <a:extLst>
              <a:ext uri="{FF2B5EF4-FFF2-40B4-BE49-F238E27FC236}">
                <a16:creationId xmlns:a16="http://schemas.microsoft.com/office/drawing/2014/main" id="{1E91B7AF-6831-8D97-C796-119F20A22AA7}"/>
              </a:ext>
            </a:extLst>
          </p:cNvPr>
          <p:cNvSpPr/>
          <p:nvPr/>
        </p:nvSpPr>
        <p:spPr>
          <a:xfrm>
            <a:off x="3466760" y="4874200"/>
            <a:ext cx="5344743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>
                <a:solidFill>
                  <a:schemeClr val="bg1"/>
                </a:solidFill>
                <a:latin typeface="Work Sans Medium Roman"/>
                <a:ea typeface="Calibri"/>
                <a:cs typeface="Calibri"/>
              </a:rPr>
              <a:t>Ficha:2993127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15A13-7717-78BA-728D-FCE1A1E1089D}"/>
              </a:ext>
            </a:extLst>
          </p:cNvPr>
          <p:cNvSpPr txBox="1"/>
          <p:nvPr/>
        </p:nvSpPr>
        <p:spPr>
          <a:xfrm>
            <a:off x="3841595" y="561279"/>
            <a:ext cx="458315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6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RESERVIFY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" name="Picture 8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382F451D-BE94-95C3-A900-450B66A2F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780" y="6009102"/>
            <a:ext cx="2239537" cy="38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419F3-A84C-6447-B375-21CAAA8C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E6265A-A527-1137-F81B-1FE32C1B2D95}"/>
              </a:ext>
            </a:extLst>
          </p:cNvPr>
          <p:cNvSpPr txBox="1"/>
          <p:nvPr/>
        </p:nvSpPr>
        <p:spPr>
          <a:xfrm>
            <a:off x="4201782" y="370217"/>
            <a:ext cx="346279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400" b="1">
                <a:ea typeface="Calibri"/>
                <a:cs typeface="Calibri"/>
              </a:rPr>
              <a:t>ANALISTAS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255C7-D178-80A0-026E-227259370E62}"/>
              </a:ext>
            </a:extLst>
          </p:cNvPr>
          <p:cNvSpPr txBox="1"/>
          <p:nvPr/>
        </p:nvSpPr>
        <p:spPr>
          <a:xfrm>
            <a:off x="1021772" y="1177635"/>
            <a:ext cx="538595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Einit Natalia Barajas Figueroa</a:t>
            </a:r>
          </a:p>
          <a:p>
            <a:r>
              <a:rPr lang="en-US" sz="2400" b="1">
                <a:ea typeface="Calibri"/>
                <a:cs typeface="Calibri"/>
              </a:rPr>
              <a:t>Sebastian Yedid Pacheco Rivera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248C25-403C-F73C-C90C-DDE75F8A2DD9}"/>
              </a:ext>
            </a:extLst>
          </p:cNvPr>
          <p:cNvSpPr txBox="1"/>
          <p:nvPr/>
        </p:nvSpPr>
        <p:spPr>
          <a:xfrm>
            <a:off x="3372796" y="2010215"/>
            <a:ext cx="5455226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300" b="1">
                <a:solidFill>
                  <a:srgbClr val="002060"/>
                </a:solidFill>
                <a:latin typeface="Source Sans Pro"/>
                <a:ea typeface="Source Sans Pro"/>
              </a:rPr>
              <a:t>PERFIL PROFESIONAL 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28142-EFBC-86B8-DB28-9FD052EA4C96}"/>
              </a:ext>
            </a:extLst>
          </p:cNvPr>
          <p:cNvSpPr txBox="1"/>
          <p:nvPr/>
        </p:nvSpPr>
        <p:spPr>
          <a:xfrm>
            <a:off x="847610" y="2786266"/>
            <a:ext cx="10490568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El tecnólogo ADSO se desempeñará Desarrollo soluciones de tipo software en el que prestará servicios personales como analista, diseñador y programador de software independiente o, en proyectos específicos de acuerdo con la necesidad del servicio, adquiriendo la capacidad de autoaprendizaje y actualización de las nuevas tendencias de desarrollo de software en el mercado, al tiempo que mejora la dinámica y Economía del País. </a:t>
            </a:r>
            <a:endParaRPr lang="en-US">
              <a:ea typeface="+mn-lt"/>
              <a:cs typeface="+mn-lt"/>
            </a:endParaRPr>
          </a:p>
          <a:p>
            <a:endParaRPr lang="en-US" sz="2000" b="1">
              <a:latin typeface="Arial"/>
              <a:cs typeface="Arial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59CAD-B976-10C4-5DA7-614C28AA2FB3}"/>
              </a:ext>
            </a:extLst>
          </p:cNvPr>
          <p:cNvSpPr txBox="1"/>
          <p:nvPr/>
        </p:nvSpPr>
        <p:spPr>
          <a:xfrm>
            <a:off x="3372928" y="4666891"/>
            <a:ext cx="571931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3300" b="1">
                <a:solidFill>
                  <a:srgbClr val="002060"/>
                </a:solidFill>
                <a:latin typeface="Source Sans Pro"/>
              </a:rPr>
              <a:t>VINCULACIÓN INSTITUCIONAL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6E8CD0-9AD6-33D2-1B99-3816BC879BBE}"/>
              </a:ext>
            </a:extLst>
          </p:cNvPr>
          <p:cNvSpPr txBox="1"/>
          <p:nvPr/>
        </p:nvSpPr>
        <p:spPr>
          <a:xfrm>
            <a:off x="4724400" y="5227608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419" sz="2000" b="1">
                <a:latin typeface="Arial"/>
              </a:rPr>
              <a:t>Aprendiz 08/07/ 2024</a:t>
            </a:r>
          </a:p>
        </p:txBody>
      </p:sp>
    </p:spTree>
    <p:extLst>
      <p:ext uri="{BB962C8B-B14F-4D97-AF65-F5344CB8AC3E}">
        <p14:creationId xmlns:p14="http://schemas.microsoft.com/office/powerpoint/2010/main" val="3546608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4A4208-7DDE-681C-B3CE-D7CE52BA4A83}"/>
              </a:ext>
            </a:extLst>
          </p:cNvPr>
          <p:cNvSpPr txBox="1"/>
          <p:nvPr/>
        </p:nvSpPr>
        <p:spPr>
          <a:xfrm>
            <a:off x="1468229" y="1874367"/>
            <a:ext cx="6453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Introducción</a:t>
            </a:r>
            <a:endParaRPr kumimoji="0" lang="es-ES" sz="40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7026A2-4DA2-FAFF-9A67-EA8EBE871B43}"/>
              </a:ext>
            </a:extLst>
          </p:cNvPr>
          <p:cNvSpPr txBox="1"/>
          <p:nvPr/>
        </p:nvSpPr>
        <p:spPr>
          <a:xfrm>
            <a:off x="1467968" y="2865455"/>
            <a:ext cx="8968029" cy="29238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>
                <a:ea typeface="+mn-lt"/>
                <a:cs typeface="+mn-lt"/>
              </a:rPr>
              <a:t>En Colombia, la oferta de aplicaciones para realizar reservas en restaurantes es limitada, lo que dificulta que los usuarios puedan encontrar y reservar fácilmente un establecimiento cercano a su ubicación.</a:t>
            </a:r>
          </a:p>
          <a:p>
            <a:endParaRPr lang="es-CO" sz="2400">
              <a:ea typeface="+mn-lt"/>
              <a:cs typeface="+mn-lt"/>
            </a:endParaRPr>
          </a:p>
          <a:p>
            <a:endParaRPr lang="es-CO" sz="2400">
              <a:latin typeface="Calibri"/>
              <a:ea typeface="Calibri"/>
              <a:cs typeface="Calibri"/>
            </a:endParaRPr>
          </a:p>
          <a:p>
            <a:endParaRPr lang="es-CO" sz="2400">
              <a:latin typeface="Calibri"/>
              <a:ea typeface="Calibri"/>
              <a:cs typeface="Calibri"/>
            </a:endParaRPr>
          </a:p>
          <a:p>
            <a:endParaRPr lang="es-CO" sz="160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246161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CD774-2A78-7EE5-AB05-2AC8883C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F3BD05-BFAB-A6DB-3421-35B91A0FB1E4}"/>
              </a:ext>
            </a:extLst>
          </p:cNvPr>
          <p:cNvSpPr txBox="1"/>
          <p:nvPr/>
        </p:nvSpPr>
        <p:spPr>
          <a:xfrm>
            <a:off x="1468229" y="1874367"/>
            <a:ext cx="6453678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Problemática</a:t>
            </a:r>
            <a:endParaRPr kumimoji="0" lang="es-ES" sz="4000" b="1" i="0" u="none" strike="noStrike" kern="1200" cap="none" spc="0" normalizeH="0" baseline="0" noProof="0" err="1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97599AE-DF5D-6C3D-9CCA-5EAF7142A041}"/>
              </a:ext>
            </a:extLst>
          </p:cNvPr>
          <p:cNvSpPr txBox="1"/>
          <p:nvPr/>
        </p:nvSpPr>
        <p:spPr>
          <a:xfrm>
            <a:off x="1467968" y="2865455"/>
            <a:ext cx="8968029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>
                <a:ea typeface="+mn-lt"/>
                <a:cs typeface="+mn-lt"/>
              </a:rPr>
              <a:t>La escasa demanda de aplicaciones de reservas, junto con la limitada disponibilidad de información sobre los establecimientos que las utilizan, creando una escasa información al usuario obstaculiza una gestión eficiente y oportuna de las reservas. Asimismo, numerosos restaurantes requieren estrategias de visibilidad y promoción que les permitan posicionarse adecuadamente en el mercado.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4613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605128" y="423813"/>
            <a:ext cx="366971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" sz="2400" b="1">
                <a:solidFill>
                  <a:prstClr val="black">
                    <a:lumMod val="75000"/>
                    <a:lumOff val="25000"/>
                  </a:prstClr>
                </a:solidFill>
                <a:ea typeface="+mn-lt"/>
                <a:cs typeface="+mn-lt"/>
              </a:rPr>
              <a:t>Árbol </a:t>
            </a:r>
            <a:r>
              <a:rPr lang="es-ES" sz="2400" b="1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Calibri"/>
                <a:cs typeface="Calibri"/>
              </a:rPr>
              <a:t>de </a:t>
            </a:r>
            <a:r>
              <a:rPr lang="es-ES" sz="2400" b="1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Problemas</a:t>
            </a:r>
            <a:endParaRPr lang="es-ES" sz="24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24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8C1E2-4B46-D591-8A84-9176CCCF7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42" y="0"/>
            <a:ext cx="10966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321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1776007" y="1892057"/>
            <a:ext cx="7550214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es-ES" sz="5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/>
              </a:rPr>
              <a:t>Justificación</a:t>
            </a:r>
            <a:r>
              <a:rPr lang="es-ES" sz="5400" b="1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 </a:t>
            </a:r>
            <a:endParaRPr lang="es-ES" sz="5400">
              <a:solidFill>
                <a:prstClr val="black">
                  <a:lumMod val="75000"/>
                  <a:lumOff val="25000"/>
                </a:prstClr>
              </a:solidFill>
              <a:ea typeface="Calibri"/>
              <a:cs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3D7E6F2-F79F-C5BE-8836-E85B5D641C6D}"/>
              </a:ext>
            </a:extLst>
          </p:cNvPr>
          <p:cNvSpPr txBox="1"/>
          <p:nvPr/>
        </p:nvSpPr>
        <p:spPr>
          <a:xfrm>
            <a:off x="1774627" y="2986260"/>
            <a:ext cx="8968029" cy="21852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>
                <a:ea typeface="+mn-lt"/>
                <a:cs typeface="+mn-lt"/>
              </a:rPr>
              <a:t>La falta de software especializado en la búsqueda de reservas y en la gestión eficiente de las mismas por parte del usuario, junto con la deficiente organización y optimización de los sistemas actuales, representa una problemática significativa</a:t>
            </a:r>
          </a:p>
          <a:p>
            <a:endParaRPr lang="es-CO" sz="2400">
              <a:ea typeface="Calibri"/>
              <a:cs typeface="Calibri"/>
            </a:endParaRPr>
          </a:p>
          <a:p>
            <a:endParaRPr lang="es-CO" sz="1600">
              <a:ea typeface="Calibri"/>
              <a:cs typeface="Calibri"/>
            </a:endParaRPr>
          </a:p>
        </p:txBody>
      </p:sp>
      <p:pic>
        <p:nvPicPr>
          <p:cNvPr id="3" name="Picture 2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3395CE1F-15C5-FB4C-71C0-A5B55A914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634" y="5349321"/>
            <a:ext cx="2239537" cy="38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07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1520925" y="1199808"/>
            <a:ext cx="3058086" cy="155074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 b="1">
                <a:solidFill>
                  <a:srgbClr val="38AA00"/>
                </a:solidFill>
                <a:latin typeface="WORK SANS BOLD ROMAN"/>
              </a:rPr>
              <a:t>Objetivo General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1046998" y="3155208"/>
            <a:ext cx="4010676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800">
                <a:latin typeface="Work Sans Light Roman"/>
              </a:rPr>
              <a:t>Innovar con un software enfocado a las reservas de restaurantes de gran flujo de personas</a:t>
            </a:r>
            <a:endParaRPr lang="es-CO" sz="320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1157468" y="2704095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CBB8E863-134C-047E-564D-20E4D7521C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166" r="239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F619-5F25-AA9D-A4D4-84BB740F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2AA6DD-A5B4-A57D-6965-8F7879DB4EF6}"/>
              </a:ext>
            </a:extLst>
          </p:cNvPr>
          <p:cNvSpPr txBox="1"/>
          <p:nvPr/>
        </p:nvSpPr>
        <p:spPr>
          <a:xfrm>
            <a:off x="605128" y="423813"/>
            <a:ext cx="366971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" sz="2400" b="1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Árbol de Objetivo </a:t>
            </a:r>
            <a:endParaRPr lang="es-ES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24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ACB039-960D-6984-2807-9A5B19B0F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10" y="0"/>
            <a:ext cx="106021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335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34D7F-7092-FA25-DC24-6AA5ACC7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A093F-98E4-BFBC-709C-9C138BDE59E3}"/>
              </a:ext>
            </a:extLst>
          </p:cNvPr>
          <p:cNvSpPr txBox="1">
            <a:spLocks/>
          </p:cNvSpPr>
          <p:nvPr/>
        </p:nvSpPr>
        <p:spPr>
          <a:xfrm>
            <a:off x="553928" y="270150"/>
            <a:ext cx="9815809" cy="741563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/>
              </a:rPr>
              <a:t>Objetivos Específicos </a:t>
            </a:r>
            <a:endParaRPr lang="es-CO" sz="3600" b="1" u="none" strike="noStrike" kern="1200" cap="none" spc="0" normalizeH="0" baseline="0" noProof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9C1D34-0AF1-87FD-82FE-58570D1504D0}"/>
              </a:ext>
            </a:extLst>
          </p:cNvPr>
          <p:cNvSpPr txBox="1"/>
          <p:nvPr/>
        </p:nvSpPr>
        <p:spPr>
          <a:xfrm>
            <a:off x="290983" y="2534626"/>
            <a:ext cx="5518437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Clr>
                <a:srgbClr val="38AA00"/>
              </a:buClr>
              <a:buAutoNum type="arabicPeriod"/>
            </a:pPr>
            <a:r>
              <a:rPr lang="es-CO" sz="1600">
                <a:ea typeface="Calibri"/>
                <a:cs typeface="Calibri"/>
              </a:rPr>
              <a:t>Mayor visibilidad de los restaurantes, por medio de la aplicación o página web</a:t>
            </a:r>
          </a:p>
          <a:p>
            <a:pPr marL="342900" indent="-342900">
              <a:buClr>
                <a:srgbClr val="38AA00"/>
              </a:buClr>
              <a:buAutoNum type="arabicPeriod"/>
            </a:pPr>
            <a:r>
              <a:rPr lang="es-CO" sz="1600">
                <a:ea typeface="+mn-lt"/>
                <a:cs typeface="+mn-lt"/>
              </a:rPr>
              <a:t>Aumentar el flujo de personas por restaurantes</a:t>
            </a:r>
            <a:endParaRPr lang="es-CO"/>
          </a:p>
          <a:p>
            <a:pPr marL="342900" indent="-342900">
              <a:buClr>
                <a:srgbClr val="38AA00"/>
              </a:buClr>
              <a:buAutoNum type="arabicPeriod"/>
            </a:pPr>
            <a:r>
              <a:rPr lang="es-CO" sz="1600">
                <a:ea typeface="+mn-lt"/>
                <a:cs typeface="+mn-lt"/>
              </a:rPr>
              <a:t>Plataforma intuitiva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8D43FB-EAAC-2340-3E18-2C43908CA24F}"/>
              </a:ext>
            </a:extLst>
          </p:cNvPr>
          <p:cNvSpPr txBox="1"/>
          <p:nvPr/>
        </p:nvSpPr>
        <p:spPr>
          <a:xfrm>
            <a:off x="6380743" y="2534625"/>
            <a:ext cx="5518437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Clr>
                <a:srgbClr val="38AA00"/>
              </a:buClr>
              <a:buFont typeface="Calibri Light" panose="020F0302020204030204"/>
              <a:buAutoNum type="arabicPeriod"/>
            </a:pPr>
            <a:r>
              <a:rPr lang="es-CO" sz="1600">
                <a:latin typeface="Work Sans Light Roman"/>
              </a:rPr>
              <a:t>Aplicar la ingeniería de requerimientos de acuerdo con las necesidades del usuario o cliente.	</a:t>
            </a:r>
            <a:endParaRPr lang="en-US"/>
          </a:p>
          <a:p>
            <a:pPr marL="342900" indent="-342900">
              <a:buClr>
                <a:srgbClr val="38AA00"/>
              </a:buClr>
              <a:buFont typeface="+mj-lt"/>
              <a:buAutoNum type="arabicPeriod"/>
            </a:pPr>
            <a:r>
              <a:rPr lang="es-CO" sz="1600">
                <a:latin typeface="Work Sans Light Roman"/>
              </a:rPr>
              <a:t>Diseñar los estados de la solución de software en base a los requerimientos .</a:t>
            </a:r>
          </a:p>
          <a:p>
            <a:pPr marL="342900" indent="-342900">
              <a:buClr>
                <a:srgbClr val="38AA00"/>
              </a:buClr>
              <a:buFont typeface="+mj-lt"/>
              <a:buAutoNum type="arabicPeriod"/>
            </a:pPr>
            <a:r>
              <a:rPr lang="es-CO" sz="1600">
                <a:latin typeface="Work Sans Light Roman"/>
              </a:rPr>
              <a:t>Desarrollar una solución en base del diseño obtenido.</a:t>
            </a:r>
          </a:p>
          <a:p>
            <a:pPr marL="342900" indent="-342900">
              <a:buClr>
                <a:srgbClr val="38AA00"/>
              </a:buClr>
              <a:buAutoNum type="arabicPeriod"/>
            </a:pPr>
            <a:r>
              <a:rPr lang="es-CO" sz="1600">
                <a:latin typeface="Work Sans Light Roman"/>
              </a:rPr>
              <a:t>Documentar o probar la solución en base de lo desarrollado.</a:t>
            </a:r>
          </a:p>
          <a:p>
            <a:pPr marL="342900" indent="-342900">
              <a:buClr>
                <a:srgbClr val="38AA00"/>
              </a:buClr>
              <a:buAutoNum type="arabicPeriod"/>
            </a:pPr>
            <a:r>
              <a:rPr lang="es-CO" sz="1600">
                <a:latin typeface="Work Sans Light Roman"/>
              </a:rPr>
              <a:t>Poner en marcha el software después de ponerlo a prueba.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C944BE0-A189-57EB-F174-EF90CD6D4892}"/>
              </a:ext>
            </a:extLst>
          </p:cNvPr>
          <p:cNvCxnSpPr/>
          <p:nvPr/>
        </p:nvCxnSpPr>
        <p:spPr>
          <a:xfrm>
            <a:off x="6089838" y="1157254"/>
            <a:ext cx="10026" cy="52838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9395501-E3CE-4CF9-3D3B-E40FE07C8AD8}"/>
              </a:ext>
            </a:extLst>
          </p:cNvPr>
          <p:cNvCxnSpPr>
            <a:cxnSpLocks/>
          </p:cNvCxnSpPr>
          <p:nvPr/>
        </p:nvCxnSpPr>
        <p:spPr>
          <a:xfrm flipV="1">
            <a:off x="435100" y="2239529"/>
            <a:ext cx="11339038" cy="422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454EC42F-B3A8-5F93-0BDB-13A73FAE832A}"/>
              </a:ext>
            </a:extLst>
          </p:cNvPr>
          <p:cNvSpPr txBox="1"/>
          <p:nvPr/>
        </p:nvSpPr>
        <p:spPr>
          <a:xfrm>
            <a:off x="437874" y="1717541"/>
            <a:ext cx="551843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1600" b="1">
                <a:latin typeface="Work Sans Light Roman"/>
              </a:rPr>
              <a:t>UX</a:t>
            </a:r>
            <a:endParaRPr lang="es-ES" b="1">
              <a:ea typeface="Calibri"/>
              <a:cs typeface="Calibr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5056A5-EAF8-4D26-F764-5EA0059D4D8F}"/>
              </a:ext>
            </a:extLst>
          </p:cNvPr>
          <p:cNvSpPr txBox="1"/>
          <p:nvPr/>
        </p:nvSpPr>
        <p:spPr>
          <a:xfrm>
            <a:off x="6377801" y="1717540"/>
            <a:ext cx="551843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1600" b="1">
                <a:latin typeface="Work Sans Light Roman"/>
                <a:ea typeface="+mn-lt"/>
                <a:cs typeface="+mn-lt"/>
              </a:rPr>
              <a:t>Analista</a:t>
            </a:r>
            <a:endParaRPr lang="es-ES">
              <a:latin typeface="Work Sans L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505390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WORK SANS BOLD ROMAN"/>
              </a:rPr>
              <a:t>Alternativa</a:t>
            </a:r>
            <a:endParaRPr lang="es-ES" sz="6000" b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WORK SANS BOLD ROMA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456236" y="1735932"/>
            <a:ext cx="10787387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 err="1">
                <a:latin typeface="Times New Roman"/>
                <a:ea typeface="+mn-lt"/>
                <a:cs typeface="+mn-lt"/>
              </a:rPr>
              <a:t>Reservify</a:t>
            </a:r>
            <a:r>
              <a:rPr lang="es-CO" sz="2400">
                <a:latin typeface="Times New Roman"/>
                <a:ea typeface="+mn-lt"/>
                <a:cs typeface="+mn-lt"/>
              </a:rPr>
              <a:t> es un proyecto enfocado en automatizar las reservas de restaurantes. La idea es mejorarle la </a:t>
            </a:r>
            <a:r>
              <a:rPr lang="es-CO" sz="2400" err="1">
                <a:latin typeface="Times New Roman"/>
                <a:ea typeface="+mn-lt"/>
                <a:cs typeface="+mn-lt"/>
              </a:rPr>
              <a:t>expericienta</a:t>
            </a:r>
            <a:r>
              <a:rPr lang="es-CO" sz="2400">
                <a:latin typeface="Times New Roman"/>
                <a:ea typeface="+mn-lt"/>
                <a:cs typeface="+mn-lt"/>
              </a:rPr>
              <a:t> al usuario al hacer reservas de manera rápida, como reuniones o citas, desde la comodidad de su casa, y que el empleado simplemente revise en la página las reservas que tiene ese día.</a:t>
            </a:r>
            <a:endParaRPr lang="en-US">
              <a:latin typeface="Times New Roman"/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s-CO" sz="2400">
                <a:latin typeface="Times New Roman"/>
                <a:ea typeface="+mn-lt"/>
                <a:cs typeface="+mn-lt"/>
              </a:rPr>
              <a:t>Optimización del flujo de clientes al restaurante.</a:t>
            </a:r>
          </a:p>
          <a:p>
            <a:pPr marL="457200" indent="-457200">
              <a:buAutoNum type="arabicPeriod"/>
            </a:pPr>
            <a:r>
              <a:rPr lang="es-CO" sz="2400">
                <a:latin typeface="Times New Roman"/>
                <a:ea typeface="+mn-lt"/>
                <a:cs typeface="+mn-lt"/>
              </a:rPr>
              <a:t>Facilitarle la búsqueda al usuario acerca de los restaurantes más cercanos y/o encontrar un restaurante en específico.</a:t>
            </a:r>
          </a:p>
          <a:p>
            <a:pPr marL="457200" indent="-457200">
              <a:buAutoNum type="arabicPeriod"/>
            </a:pPr>
            <a:r>
              <a:rPr lang="es-CO" sz="2400">
                <a:latin typeface="Times New Roman"/>
                <a:ea typeface="+mn-lt"/>
                <a:cs typeface="+mn-lt"/>
              </a:rPr>
              <a:t>Brindarle al cliente una experiencia más amena usando la aplicación.</a:t>
            </a:r>
          </a:p>
          <a:p>
            <a:endParaRPr lang="es-CO" sz="2400">
              <a:latin typeface="Work Sans Light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02612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F2AD1B-3B60-98A2-08B3-69B1415F51BE}"/>
              </a:ext>
            </a:extLst>
          </p:cNvPr>
          <p:cNvSpPr txBox="1"/>
          <p:nvPr/>
        </p:nvSpPr>
        <p:spPr>
          <a:xfrm>
            <a:off x="2819400" y="291791"/>
            <a:ext cx="6543907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3300" b="1">
                <a:latin typeface="time"/>
              </a:rPr>
              <a:t>METODOLOGÍA UTILIZADA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41854-7E21-44AC-F62B-2F6A7E7D8DE1}"/>
              </a:ext>
            </a:extLst>
          </p:cNvPr>
          <p:cNvSpPr txBox="1"/>
          <p:nvPr/>
        </p:nvSpPr>
        <p:spPr>
          <a:xfrm>
            <a:off x="366132" y="1880839"/>
            <a:ext cx="1108802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400">
                <a:latin typeface="time"/>
              </a:rPr>
              <a:t>Implementaremos el  modelo en  cascada ya que nos permite </a:t>
            </a:r>
            <a:r>
              <a:rPr lang="es-419" sz="2400">
                <a:latin typeface="time"/>
              </a:rPr>
              <a:t> relacionar cada una de las etapas  con la anterior, para considerar los elementos que debes quitar o añadir en la siguiente fase, teniendo en cuenta que cada fase del proyecto se debe completar antes de avanzar a la siguiente.</a:t>
            </a:r>
            <a:endParaRPr lang="es-419" sz="2400">
              <a:latin typeface="time"/>
              <a:cs typeface="Arial"/>
            </a:endParaRPr>
          </a:p>
        </p:txBody>
      </p:sp>
      <p:pic>
        <p:nvPicPr>
          <p:cNvPr id="12" name="Picture 11" descr="Metodología de Cascada – Mtro. Fernando Arciniega">
            <a:extLst>
              <a:ext uri="{FF2B5EF4-FFF2-40B4-BE49-F238E27FC236}">
                <a16:creationId xmlns:a16="http://schemas.microsoft.com/office/drawing/2014/main" id="{7EE715B5-31F4-C1EE-2099-E3BF04C1C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230" y="3427410"/>
            <a:ext cx="8430320" cy="313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BB55E-A0AF-120D-3F1C-74CBA3C04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4">
            <a:extLst>
              <a:ext uri="{FF2B5EF4-FFF2-40B4-BE49-F238E27FC236}">
                <a16:creationId xmlns:a16="http://schemas.microsoft.com/office/drawing/2014/main" id="{026FB49B-4FA2-5E79-0CA6-756242526103}"/>
              </a:ext>
            </a:extLst>
          </p:cNvPr>
          <p:cNvSpPr txBox="1"/>
          <p:nvPr/>
        </p:nvSpPr>
        <p:spPr>
          <a:xfrm>
            <a:off x="995422" y="2551837"/>
            <a:ext cx="6453678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Metodología</a:t>
            </a:r>
          </a:p>
        </p:txBody>
      </p:sp>
      <p:sp>
        <p:nvSpPr>
          <p:cNvPr id="9" name="CuadroTexto 7">
            <a:extLst>
              <a:ext uri="{FF2B5EF4-FFF2-40B4-BE49-F238E27FC236}">
                <a16:creationId xmlns:a16="http://schemas.microsoft.com/office/drawing/2014/main" id="{2A5B7BAF-923C-71D0-8EC3-E1FF9DD03EE7}"/>
              </a:ext>
            </a:extLst>
          </p:cNvPr>
          <p:cNvSpPr txBox="1"/>
          <p:nvPr/>
        </p:nvSpPr>
        <p:spPr>
          <a:xfrm>
            <a:off x="991243" y="3469376"/>
            <a:ext cx="10093711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000">
                <a:ea typeface="+mn-lt"/>
                <a:cs typeface="+mn-lt"/>
              </a:rPr>
              <a:t>1- Listado de requisitos</a:t>
            </a:r>
            <a:endParaRPr lang="en-US" sz="2000">
              <a:ea typeface="+mn-lt"/>
              <a:cs typeface="+mn-lt"/>
            </a:endParaRPr>
          </a:p>
          <a:p>
            <a:r>
              <a:rPr lang="es-CO" sz="2000">
                <a:ea typeface="+mn-lt"/>
                <a:cs typeface="+mn-lt"/>
              </a:rPr>
              <a:t>2- Diagramas estructurales de datos (casos de uso, MER, MR)</a:t>
            </a:r>
            <a:endParaRPr lang="en-US" sz="2000">
              <a:ea typeface="+mn-lt"/>
              <a:cs typeface="+mn-lt"/>
            </a:endParaRPr>
          </a:p>
          <a:p>
            <a:r>
              <a:rPr lang="es-CO" sz="2000">
                <a:ea typeface="+mn-lt"/>
                <a:cs typeface="+mn-lt"/>
              </a:rPr>
              <a:t>3- Nuevo esquema de procesos con la solución implementada</a:t>
            </a:r>
            <a:endParaRPr lang="es-ES">
              <a:ea typeface="+mn-lt"/>
              <a:cs typeface="+mn-lt"/>
            </a:endParaRPr>
          </a:p>
        </p:txBody>
      </p:sp>
      <p:pic>
        <p:nvPicPr>
          <p:cNvPr id="2" name="Picture 1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A91BE5AA-9672-3A45-6963-A26067553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634" y="5349321"/>
            <a:ext cx="2239537" cy="38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657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Metodología</a:t>
            </a:r>
            <a:endParaRPr kumimoji="0" lang="es-CO" sz="3600" b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456236" y="955346"/>
            <a:ext cx="214519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>
                <a:latin typeface="Times New Roman"/>
                <a:cs typeface="Times New Roman"/>
              </a:rPr>
              <a:t>1- Listado de requisitos</a:t>
            </a:r>
            <a:endParaRPr lang="en-US">
              <a:latin typeface="Times New Roman"/>
              <a:cs typeface="Times New Roman"/>
            </a:endParaRPr>
          </a:p>
          <a:p>
            <a:endParaRPr lang="es-CO" sz="1600">
              <a:latin typeface="Times New Roman"/>
              <a:cs typeface="Times New Roman"/>
            </a:endParaRP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FD67EF74-97FA-4E7E-8059-D5B3E7D9357E}"/>
              </a:ext>
            </a:extLst>
          </p:cNvPr>
          <p:cNvSpPr txBox="1"/>
          <p:nvPr/>
        </p:nvSpPr>
        <p:spPr>
          <a:xfrm>
            <a:off x="290983" y="2534626"/>
            <a:ext cx="5518437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s-CO" sz="1600">
                <a:latin typeface="time"/>
                <a:ea typeface="+mn-lt"/>
                <a:cs typeface="+mn-lt"/>
              </a:rPr>
              <a:t>Tener la app descargada en el celular o entrar a la página web</a:t>
            </a:r>
          </a:p>
          <a:p>
            <a:pPr marL="285750" indent="-285750">
              <a:buFont typeface="Calibri"/>
              <a:buChar char="-"/>
            </a:pPr>
            <a:r>
              <a:rPr lang="es-CO" sz="1600">
                <a:latin typeface="time"/>
                <a:ea typeface="+mn-lt"/>
                <a:cs typeface="+mn-lt"/>
              </a:rPr>
              <a:t>Seleccionar que tipo de mesa desea</a:t>
            </a:r>
          </a:p>
          <a:p>
            <a:pPr marL="285750" indent="-285750">
              <a:buFont typeface="Calibri"/>
              <a:buChar char="-"/>
            </a:pPr>
            <a:r>
              <a:rPr lang="es-CO" sz="1600">
                <a:latin typeface="time"/>
                <a:ea typeface="+mn-lt"/>
                <a:cs typeface="+mn-lt"/>
              </a:rPr>
              <a:t>Hacer el pedido de la reserva </a:t>
            </a:r>
          </a:p>
          <a:p>
            <a:pPr marL="285750" indent="-285750">
              <a:buFont typeface="Calibri"/>
              <a:buChar char="-"/>
            </a:pPr>
            <a:r>
              <a:rPr lang="es-CO" sz="1600">
                <a:latin typeface="time"/>
                <a:ea typeface="+mn-lt"/>
                <a:cs typeface="+mn-lt"/>
              </a:rPr>
              <a:t>Crear factura</a:t>
            </a:r>
          </a:p>
          <a:p>
            <a:pPr marL="285750" indent="-285750">
              <a:buFont typeface="Calibri"/>
              <a:buChar char="-"/>
            </a:pPr>
            <a:r>
              <a:rPr lang="es-CO" sz="1600">
                <a:latin typeface="time"/>
                <a:ea typeface="+mn-lt"/>
                <a:cs typeface="+mn-lt"/>
              </a:rPr>
              <a:t>Mostrar  factura y esperar a que le den la entrada</a:t>
            </a:r>
            <a:endParaRPr lang="es-CO">
              <a:latin typeface="time"/>
            </a:endParaRPr>
          </a:p>
          <a:p>
            <a:pPr marL="285750" indent="-285750">
              <a:buFont typeface="Calibri"/>
              <a:buChar char="-"/>
            </a:pPr>
            <a:r>
              <a:rPr lang="es-CO" sz="1600">
                <a:latin typeface="time"/>
                <a:ea typeface="+mn-lt"/>
                <a:cs typeface="+mn-lt"/>
              </a:rPr>
              <a:t>Permanecer el tiempo que asigno en la reserva</a:t>
            </a:r>
          </a:p>
          <a:p>
            <a:pPr marL="285750" indent="-285750">
              <a:buFont typeface="Calibri"/>
              <a:buChar char="-"/>
            </a:pPr>
            <a:r>
              <a:rPr lang="es-CO" sz="1600">
                <a:latin typeface="time"/>
                <a:ea typeface="+mn-lt"/>
                <a:cs typeface="+mn-lt"/>
              </a:rPr>
              <a:t>Al ser notificado al cliente que su reserva está a punto de terminar</a:t>
            </a:r>
          </a:p>
          <a:p>
            <a:pPr marL="285750" indent="-285750">
              <a:buFont typeface="Calibri"/>
              <a:buChar char="-"/>
            </a:pPr>
            <a:endParaRPr lang="es-CO" sz="1600">
              <a:latin typeface="Work Sans Light Roman"/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s-CO" sz="1600">
              <a:latin typeface="Work Sans Light Roman"/>
              <a:ea typeface="+mn-lt"/>
              <a:cs typeface="+mn-lt"/>
            </a:endParaRPr>
          </a:p>
        </p:txBody>
      </p:sp>
      <p:cxnSp>
        <p:nvCxnSpPr>
          <p:cNvPr id="10" name="Conector recto de flecha 4">
            <a:extLst>
              <a:ext uri="{FF2B5EF4-FFF2-40B4-BE49-F238E27FC236}">
                <a16:creationId xmlns:a16="http://schemas.microsoft.com/office/drawing/2014/main" id="{B50C08EB-D374-A4D3-ABB9-3CAE3CC1B8DF}"/>
              </a:ext>
            </a:extLst>
          </p:cNvPr>
          <p:cNvCxnSpPr/>
          <p:nvPr/>
        </p:nvCxnSpPr>
        <p:spPr>
          <a:xfrm>
            <a:off x="6089838" y="1157254"/>
            <a:ext cx="10026" cy="52838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5">
            <a:extLst>
              <a:ext uri="{FF2B5EF4-FFF2-40B4-BE49-F238E27FC236}">
                <a16:creationId xmlns:a16="http://schemas.microsoft.com/office/drawing/2014/main" id="{95C7627A-1306-85C6-D0C1-01E6657A6230}"/>
              </a:ext>
            </a:extLst>
          </p:cNvPr>
          <p:cNvCxnSpPr>
            <a:cxnSpLocks/>
          </p:cNvCxnSpPr>
          <p:nvPr/>
        </p:nvCxnSpPr>
        <p:spPr>
          <a:xfrm flipV="1">
            <a:off x="435100" y="2239529"/>
            <a:ext cx="11339038" cy="422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7">
            <a:extLst>
              <a:ext uri="{FF2B5EF4-FFF2-40B4-BE49-F238E27FC236}">
                <a16:creationId xmlns:a16="http://schemas.microsoft.com/office/drawing/2014/main" id="{D4E47A20-5756-39E5-D5F3-9B87DD811886}"/>
              </a:ext>
            </a:extLst>
          </p:cNvPr>
          <p:cNvSpPr txBox="1"/>
          <p:nvPr/>
        </p:nvSpPr>
        <p:spPr>
          <a:xfrm>
            <a:off x="456460" y="1717541"/>
            <a:ext cx="562994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1600" b="1">
                <a:latin typeface="Times New Roman"/>
                <a:ea typeface="Calibri"/>
                <a:cs typeface="Times New Roman"/>
              </a:rPr>
              <a:t>Usuario/Cliente</a:t>
            </a:r>
            <a:endParaRPr lang="es-ES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CuadroTexto 7">
            <a:extLst>
              <a:ext uri="{FF2B5EF4-FFF2-40B4-BE49-F238E27FC236}">
                <a16:creationId xmlns:a16="http://schemas.microsoft.com/office/drawing/2014/main" id="{FA9CFA80-EC06-C6C3-0DB8-B206E13194E8}"/>
              </a:ext>
            </a:extLst>
          </p:cNvPr>
          <p:cNvSpPr txBox="1"/>
          <p:nvPr/>
        </p:nvSpPr>
        <p:spPr>
          <a:xfrm>
            <a:off x="6320143" y="1717541"/>
            <a:ext cx="562994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1600" b="1">
                <a:latin typeface="Times New Roman"/>
                <a:cs typeface="Times New Roman"/>
              </a:rPr>
              <a:t>Empleado</a:t>
            </a:r>
            <a:endParaRPr lang="es-ES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" name="CuadroTexto 3">
            <a:extLst>
              <a:ext uri="{FF2B5EF4-FFF2-40B4-BE49-F238E27FC236}">
                <a16:creationId xmlns:a16="http://schemas.microsoft.com/office/drawing/2014/main" id="{8BFEF11C-507E-7B98-9D41-764FB3CA81F0}"/>
              </a:ext>
            </a:extLst>
          </p:cNvPr>
          <p:cNvSpPr txBox="1"/>
          <p:nvPr/>
        </p:nvSpPr>
        <p:spPr>
          <a:xfrm>
            <a:off x="6380742" y="2534625"/>
            <a:ext cx="551843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s-CO" sz="1600">
                <a:latin typeface="Times New Roman"/>
                <a:cs typeface="Times New Roman"/>
              </a:rPr>
              <a:t>Revisar la reserva a la hora de entrada del cliente</a:t>
            </a:r>
          </a:p>
          <a:p>
            <a:pPr marL="285750" indent="-285750">
              <a:buFont typeface="Calibri"/>
              <a:buChar char="-"/>
            </a:pPr>
            <a:r>
              <a:rPr lang="es-CO" sz="1600">
                <a:latin typeface="Times New Roman"/>
                <a:cs typeface="Times New Roman"/>
              </a:rPr>
              <a:t>Avisar la hora de salida del cliente</a:t>
            </a:r>
          </a:p>
        </p:txBody>
      </p:sp>
    </p:spTree>
    <p:extLst>
      <p:ext uri="{BB962C8B-B14F-4D97-AF65-F5344CB8AC3E}">
        <p14:creationId xmlns:p14="http://schemas.microsoft.com/office/powerpoint/2010/main" val="40101552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56395-384E-C7A3-2AFA-936A71EB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AAF15-62AE-D158-4821-37D11116594A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Metodología</a:t>
            </a:r>
            <a:endParaRPr kumimoji="0" lang="es-CO" sz="3600" b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1785BB-89BE-758F-F7EE-06B2FCBD1B23}"/>
              </a:ext>
            </a:extLst>
          </p:cNvPr>
          <p:cNvSpPr txBox="1"/>
          <p:nvPr/>
        </p:nvSpPr>
        <p:spPr>
          <a:xfrm>
            <a:off x="456236" y="946054"/>
            <a:ext cx="551843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>
                <a:latin typeface="Work Sans Light Roman"/>
              </a:rPr>
              <a:t>Especificar:</a:t>
            </a:r>
          </a:p>
          <a:p>
            <a:r>
              <a:rPr lang="es-CO" sz="1600">
                <a:latin typeface="Work Sans Light Roman"/>
              </a:rPr>
              <a:t>2- Diagramas estructurales de datos (casos de uso, MER, MR)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F2FFE3-171A-1DBF-F7D3-6A22DA3391B1}"/>
              </a:ext>
            </a:extLst>
          </p:cNvPr>
          <p:cNvCxnSpPr>
            <a:cxnSpLocks/>
          </p:cNvCxnSpPr>
          <p:nvPr/>
        </p:nvCxnSpPr>
        <p:spPr>
          <a:xfrm flipV="1">
            <a:off x="461846" y="2215143"/>
            <a:ext cx="11421170" cy="906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uadroTexto 2">
            <a:extLst>
              <a:ext uri="{FF2B5EF4-FFF2-40B4-BE49-F238E27FC236}">
                <a16:creationId xmlns:a16="http://schemas.microsoft.com/office/drawing/2014/main" id="{2DB21563-97FF-4FFF-7229-9B0B253D58BE}"/>
              </a:ext>
            </a:extLst>
          </p:cNvPr>
          <p:cNvSpPr txBox="1"/>
          <p:nvPr/>
        </p:nvSpPr>
        <p:spPr>
          <a:xfrm>
            <a:off x="3048894" y="1884614"/>
            <a:ext cx="551843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1600">
                <a:latin typeface="Work Sans Light Roman"/>
              </a:rPr>
              <a:t>Casos de uso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7D348E-2B88-C01E-BE2B-11F5AF7F0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002" y="2216329"/>
            <a:ext cx="11355658" cy="411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3222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7DC6B-0728-CD23-439C-5B80DAD3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06BC9-E40C-9F09-C9AC-23FA39819ED6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Metodología</a:t>
            </a:r>
            <a:endParaRPr kumimoji="0" lang="es-CO" sz="3600" b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36B6709-B359-A376-B6FF-DF0C60024BA9}"/>
              </a:ext>
            </a:extLst>
          </p:cNvPr>
          <p:cNvSpPr txBox="1"/>
          <p:nvPr/>
        </p:nvSpPr>
        <p:spPr>
          <a:xfrm>
            <a:off x="456236" y="946054"/>
            <a:ext cx="918989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>
                <a:latin typeface="Work Sans Light Roman"/>
              </a:rPr>
              <a:t>Especificar:</a:t>
            </a:r>
          </a:p>
          <a:p>
            <a:r>
              <a:rPr lang="es-CO" sz="1600">
                <a:latin typeface="Work Sans Light Roman"/>
              </a:rPr>
              <a:t>2- Diagramas estructurales de datos (casos de uso, MER, MR)</a:t>
            </a:r>
            <a:endParaRPr lang="es-CO">
              <a:latin typeface="Calibri"/>
              <a:ea typeface="Calibri"/>
              <a:cs typeface="Calibr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C7234A-2C75-F087-6F2E-02B0366251A0}"/>
              </a:ext>
            </a:extLst>
          </p:cNvPr>
          <p:cNvCxnSpPr>
            <a:cxnSpLocks/>
          </p:cNvCxnSpPr>
          <p:nvPr/>
        </p:nvCxnSpPr>
        <p:spPr>
          <a:xfrm flipV="1">
            <a:off x="461846" y="2105164"/>
            <a:ext cx="11421170" cy="906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uadroTexto 2">
            <a:extLst>
              <a:ext uri="{FF2B5EF4-FFF2-40B4-BE49-F238E27FC236}">
                <a16:creationId xmlns:a16="http://schemas.microsoft.com/office/drawing/2014/main" id="{7C7548EA-3198-EC57-7D54-9939E0907792}"/>
              </a:ext>
            </a:extLst>
          </p:cNvPr>
          <p:cNvSpPr txBox="1"/>
          <p:nvPr/>
        </p:nvSpPr>
        <p:spPr>
          <a:xfrm>
            <a:off x="3230494" y="1799405"/>
            <a:ext cx="551843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600">
                <a:latin typeface="Work Sans Light Roman"/>
              </a:rPr>
              <a:t>MER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51BC266-7E4F-76B4-F9B5-27D5181D0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162189"/>
            <a:ext cx="10082559" cy="405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267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2BCD5-A00E-48FB-D0A8-9E2D6F6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7844E8-D7DB-2A1E-825C-97EE78DEB577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Metodología</a:t>
            </a:r>
            <a:endParaRPr kumimoji="0" lang="es-CO" sz="3600" b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743D65-7718-8820-343A-AA1A2DC493DA}"/>
              </a:ext>
            </a:extLst>
          </p:cNvPr>
          <p:cNvSpPr txBox="1"/>
          <p:nvPr/>
        </p:nvSpPr>
        <p:spPr>
          <a:xfrm>
            <a:off x="456236" y="946054"/>
            <a:ext cx="1063076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>
                <a:latin typeface="Work Sans Light Roman"/>
              </a:rPr>
              <a:t>Especificar:</a:t>
            </a:r>
          </a:p>
          <a:p>
            <a:r>
              <a:rPr lang="es-CO" sz="1600">
                <a:latin typeface="Work Sans Light Roman"/>
              </a:rPr>
              <a:t>2- Diagramas estructurales de datos (casos de uso, MER, MR) </a:t>
            </a:r>
            <a:endParaRPr lang="es-CO"/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D79C24E2-89C7-3A00-3A10-23D1B7A890A2}"/>
              </a:ext>
            </a:extLst>
          </p:cNvPr>
          <p:cNvSpPr txBox="1"/>
          <p:nvPr/>
        </p:nvSpPr>
        <p:spPr>
          <a:xfrm>
            <a:off x="3226283" y="1798506"/>
            <a:ext cx="551843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600">
                <a:latin typeface="Work Sans Light Roman"/>
              </a:rPr>
              <a:t>MR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5107CF-307A-D7DA-2E43-43833B6F26E2}"/>
              </a:ext>
            </a:extLst>
          </p:cNvPr>
          <p:cNvCxnSpPr>
            <a:cxnSpLocks/>
          </p:cNvCxnSpPr>
          <p:nvPr/>
        </p:nvCxnSpPr>
        <p:spPr>
          <a:xfrm flipV="1">
            <a:off x="461846" y="2133863"/>
            <a:ext cx="11421170" cy="906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5A79F7A-FD52-58C2-7CA3-199B1F9DB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0858" y="2134952"/>
            <a:ext cx="8828101" cy="472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160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21C9-3507-11C5-F13A-58320ECA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804DA-B92F-713C-5A25-89277F00ED45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Metodología</a:t>
            </a:r>
            <a:endParaRPr kumimoji="0" lang="es-CO" sz="3600" b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24DA40-1ABE-073F-6C9F-5CD14F82F50E}"/>
              </a:ext>
            </a:extLst>
          </p:cNvPr>
          <p:cNvSpPr txBox="1"/>
          <p:nvPr/>
        </p:nvSpPr>
        <p:spPr>
          <a:xfrm>
            <a:off x="456236" y="946054"/>
            <a:ext cx="501345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>
                <a:latin typeface="Work Sans Light Roman"/>
              </a:rPr>
              <a:t>Especificar:</a:t>
            </a:r>
            <a:endParaRPr lang="es-CO" sz="1100">
              <a:latin typeface="Work Sans Light Roman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3 - Nuevo </a:t>
            </a:r>
            <a:r>
              <a:rPr lang="en-US" sz="1400" err="1">
                <a:latin typeface="Calibri"/>
                <a:ea typeface="Calibri"/>
                <a:cs typeface="Calibri"/>
              </a:rPr>
              <a:t>esquema</a:t>
            </a:r>
            <a:r>
              <a:rPr lang="en-US" sz="1400"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latin typeface="Calibri"/>
                <a:ea typeface="Calibri"/>
                <a:cs typeface="Calibri"/>
              </a:rPr>
              <a:t>procesos</a:t>
            </a:r>
            <a:r>
              <a:rPr lang="en-US" sz="1400">
                <a:latin typeface="Calibri"/>
                <a:ea typeface="Calibri"/>
                <a:cs typeface="Calibri"/>
              </a:rPr>
              <a:t> con la </a:t>
            </a:r>
            <a:r>
              <a:rPr lang="en-US" sz="1400" err="1">
                <a:latin typeface="Calibri"/>
                <a:ea typeface="Calibri"/>
                <a:cs typeface="Calibri"/>
              </a:rPr>
              <a:t>solución</a:t>
            </a:r>
            <a:r>
              <a:rPr lang="en-US" sz="1400"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latin typeface="Calibri"/>
                <a:ea typeface="Calibri"/>
                <a:cs typeface="Calibri"/>
              </a:rPr>
              <a:t>implementada</a:t>
            </a:r>
            <a:endParaRPr lang="es-CO" sz="1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5A38BA6-D251-92F7-3780-48E098074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333" y="1917470"/>
            <a:ext cx="5382605" cy="335626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98B1D5F-5A9F-7CC8-789A-F371ABE102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3492" y="3303594"/>
            <a:ext cx="5926286" cy="297915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BED7048-E266-29AD-7F4A-5BC1115DDE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7877" y="509695"/>
            <a:ext cx="6277979" cy="279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349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Cronograma</a:t>
            </a:r>
          </a:p>
        </p:txBody>
      </p:sp>
      <p:pic>
        <p:nvPicPr>
          <p:cNvPr id="2" name="Picture 1" descr="A white and black box with black text&#10;&#10;AI-generated content may be incorrect.">
            <a:extLst>
              <a:ext uri="{FF2B5EF4-FFF2-40B4-BE49-F238E27FC236}">
                <a16:creationId xmlns:a16="http://schemas.microsoft.com/office/drawing/2014/main" id="{6F7079A7-0924-504D-AC9E-700C66EF43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4" b="4469"/>
          <a:stretch>
            <a:fillRect/>
          </a:stretch>
        </p:blipFill>
        <p:spPr>
          <a:xfrm>
            <a:off x="330679" y="1527233"/>
            <a:ext cx="11717558" cy="475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5951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954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5">
            <a:extLst>
              <a:ext uri="{FF2B5EF4-FFF2-40B4-BE49-F238E27FC236}">
                <a16:creationId xmlns:a16="http://schemas.microsoft.com/office/drawing/2014/main" id="{459FA3D7-5B03-4E24-862D-2946E6804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985" y="2542462"/>
            <a:ext cx="2134135" cy="2201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uadroTexto 6">
            <a:extLst>
              <a:ext uri="{FF2B5EF4-FFF2-40B4-BE49-F238E27FC236}">
                <a16:creationId xmlns:a16="http://schemas.microsoft.com/office/drawing/2014/main" id="{A09018B0-7551-4499-8F7F-56DC7383D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0889" y="1743831"/>
            <a:ext cx="158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CO" altLang="es-419" sz="1800">
                <a:latin typeface="Arial" panose="020B0604020202020204" pitchFamily="34" charset="0"/>
              </a:rPr>
              <a:t>PostgreSQL</a:t>
            </a:r>
            <a:endParaRPr lang="es-MX" altLang="es-419" sz="1800">
              <a:latin typeface="Arial" panose="020B0604020202020204" pitchFamily="34" charset="0"/>
            </a:endParaRPr>
          </a:p>
        </p:txBody>
      </p:sp>
      <p:sp>
        <p:nvSpPr>
          <p:cNvPr id="6" name="CuadroTexto 7">
            <a:extLst>
              <a:ext uri="{FF2B5EF4-FFF2-40B4-BE49-F238E27FC236}">
                <a16:creationId xmlns:a16="http://schemas.microsoft.com/office/drawing/2014/main" id="{F12A8F68-C159-460C-8382-57BE0B005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8" y="1746016"/>
            <a:ext cx="2338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CO" altLang="es-419" sz="1800">
                <a:latin typeface="Arial"/>
                <a:cs typeface="Arial"/>
              </a:rPr>
              <a:t>Vite</a:t>
            </a:r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1BC8CC-86BB-AC3D-D21C-CCFBA4472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7144" y="1743831"/>
            <a:ext cx="83439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CO" altLang="es-419" sz="1800">
                <a:latin typeface="Arial" panose="020B0604020202020204" pitchFamily="34" charset="0"/>
              </a:rPr>
              <a:t>CSS</a:t>
            </a:r>
            <a:endParaRPr lang="es-MX" altLang="es-419" sz="1800">
              <a:latin typeface="Arial" panose="020B0604020202020204" pitchFamily="34" charset="0"/>
            </a:endParaRPr>
          </a:p>
        </p:txBody>
      </p:sp>
      <p:sp>
        <p:nvSpPr>
          <p:cNvPr id="8" name="CuadroTexto 6">
            <a:extLst>
              <a:ext uri="{FF2B5EF4-FFF2-40B4-BE49-F238E27FC236}">
                <a16:creationId xmlns:a16="http://schemas.microsoft.com/office/drawing/2014/main" id="{39C6073F-65D2-28A8-46A1-2A946C1EC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6744" y="1743831"/>
            <a:ext cx="15931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CO" altLang="es-419" sz="1800" err="1">
                <a:latin typeface="Arial"/>
                <a:cs typeface="Arial"/>
              </a:rPr>
              <a:t>TailwindCSS</a:t>
            </a:r>
            <a:endParaRPr lang="es-MX" altLang="es-419" sz="1800" err="1">
              <a:latin typeface="Arial" panose="020B0604020202020204" pitchFamily="34" charset="0"/>
            </a:endParaRPr>
          </a:p>
        </p:txBody>
      </p:sp>
      <p:pic>
        <p:nvPicPr>
          <p:cNvPr id="1028" name="Picture 4" descr="Logo CSS 3 – Logos PNG">
            <a:extLst>
              <a:ext uri="{FF2B5EF4-FFF2-40B4-BE49-F238E27FC236}">
                <a16:creationId xmlns:a16="http://schemas.microsoft.com/office/drawing/2014/main" id="{228EFAD8-47A9-91B7-5AF3-944F19783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360" y="2417547"/>
            <a:ext cx="2451651" cy="245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 descr="Tailwind CSS Logo PNG Vector SVG, EPS, Ai formats (2.30 KB) Free Download">
            <a:extLst>
              <a:ext uri="{FF2B5EF4-FFF2-40B4-BE49-F238E27FC236}">
                <a16:creationId xmlns:a16="http://schemas.microsoft.com/office/drawing/2014/main" id="{9AD7F5EE-0C79-B4FA-2EF7-80FCB173D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445" y="2540632"/>
            <a:ext cx="3198540" cy="1089634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BF50B7DD-3A3A-A19E-D294-8777D618DC98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3600" b="1">
                <a:solidFill>
                  <a:prstClr val="white"/>
                </a:solidFill>
                <a:latin typeface="WORK SANS BOLD ROMAN"/>
              </a:rPr>
              <a:t>Herramientas</a:t>
            </a:r>
            <a:endParaRPr lang="es-CO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pic>
        <p:nvPicPr>
          <p:cNvPr id="2" name="Picture 1" descr="File:Vitejs-logo.svg - Wikipedia">
            <a:extLst>
              <a:ext uri="{FF2B5EF4-FFF2-40B4-BE49-F238E27FC236}">
                <a16:creationId xmlns:a16="http://schemas.microsoft.com/office/drawing/2014/main" id="{5E2B832C-8F32-550E-077B-FDA69B3993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062" y="2414789"/>
            <a:ext cx="2749453" cy="267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85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955CD-CB72-A91E-FFA9-CD73CF8D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7">
            <a:extLst>
              <a:ext uri="{FF2B5EF4-FFF2-40B4-BE49-F238E27FC236}">
                <a16:creationId xmlns:a16="http://schemas.microsoft.com/office/drawing/2014/main" id="{CF6E60CE-A3A8-5DD3-02DA-E5559D328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61" y="1831875"/>
            <a:ext cx="232765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CO" altLang="es-419" sz="1800" err="1">
                <a:latin typeface="Arial"/>
                <a:cs typeface="Arial"/>
              </a:rPr>
              <a:t>FastAPI</a:t>
            </a:r>
            <a:endParaRPr lang="es-CO" altLang="es-419" sz="1800" err="1">
              <a:latin typeface="Arial" panose="020B0604020202020204" pitchFamily="34" charset="0"/>
              <a:cs typeface="Arial"/>
            </a:endParaRPr>
          </a:p>
        </p:txBody>
      </p:sp>
      <p:pic>
        <p:nvPicPr>
          <p:cNvPr id="5" name="Picture 4" descr="Aprende FastAPI desde 0">
            <a:extLst>
              <a:ext uri="{FF2B5EF4-FFF2-40B4-BE49-F238E27FC236}">
                <a16:creationId xmlns:a16="http://schemas.microsoft.com/office/drawing/2014/main" id="{F4ECFFAF-B61B-C6ED-963C-D35896349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444" y="2225921"/>
            <a:ext cx="4041818" cy="1479226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5FC7BB51-EE3A-FD3D-2672-68FB69D9E29E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tabLst/>
              <a:defRPr/>
            </a:pPr>
            <a:r>
              <a:rPr lang="es-CO" sz="3600" b="1">
                <a:solidFill>
                  <a:prstClr val="white"/>
                </a:solidFill>
                <a:latin typeface="Times New Roman"/>
                <a:ea typeface="Calibri Light"/>
                <a:cs typeface="Calibri Light"/>
              </a:rPr>
              <a:t>Herramientas</a:t>
            </a:r>
          </a:p>
        </p:txBody>
      </p:sp>
      <p:pic>
        <p:nvPicPr>
          <p:cNvPr id="2" name="Picture 1" descr="SQLAlchemy-logo.png — Quintagroup">
            <a:extLst>
              <a:ext uri="{FF2B5EF4-FFF2-40B4-BE49-F238E27FC236}">
                <a16:creationId xmlns:a16="http://schemas.microsoft.com/office/drawing/2014/main" id="{8085B147-4559-718B-2526-1150B8B6B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964" y="2582637"/>
            <a:ext cx="3676916" cy="778226"/>
          </a:xfrm>
          <a:prstGeom prst="rect">
            <a:avLst/>
          </a:prstGeom>
        </p:spPr>
      </p:pic>
      <p:sp>
        <p:nvSpPr>
          <p:cNvPr id="3" name="CuadroTexto 7">
            <a:extLst>
              <a:ext uri="{FF2B5EF4-FFF2-40B4-BE49-F238E27FC236}">
                <a16:creationId xmlns:a16="http://schemas.microsoft.com/office/drawing/2014/main" id="{26A7BF56-C83C-52E2-7F66-4D0CB9823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219" y="1810410"/>
            <a:ext cx="232765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CO" altLang="es-419" sz="1800">
                <a:latin typeface="Arial"/>
                <a:cs typeface="Arial"/>
              </a:rPr>
              <a:t>SQL </a:t>
            </a:r>
            <a:r>
              <a:rPr lang="es-CO" altLang="es-419" sz="1800" err="1">
                <a:latin typeface="Arial"/>
                <a:cs typeface="Arial"/>
              </a:rPr>
              <a:t>Alchemy</a:t>
            </a:r>
            <a:endParaRPr lang="es-CO" altLang="es-419" sz="180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7" name="CuadroTexto 7">
            <a:extLst>
              <a:ext uri="{FF2B5EF4-FFF2-40B4-BE49-F238E27FC236}">
                <a16:creationId xmlns:a16="http://schemas.microsoft.com/office/drawing/2014/main" id="{1C053E9F-987A-3150-F516-B5332B26E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2177" y="1810409"/>
            <a:ext cx="232765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CO" altLang="es-419" sz="1800" err="1">
                <a:latin typeface="Arial"/>
                <a:cs typeface="Arial"/>
              </a:rPr>
              <a:t>React</a:t>
            </a:r>
            <a:endParaRPr lang="en-US" err="1"/>
          </a:p>
        </p:txBody>
      </p:sp>
      <p:pic>
        <p:nvPicPr>
          <p:cNvPr id="8" name="Graphic 7" descr="React Mono SVG Logo | Free SVG logos &amp; icons download | SVGmix">
            <a:extLst>
              <a:ext uri="{FF2B5EF4-FFF2-40B4-BE49-F238E27FC236}">
                <a16:creationId xmlns:a16="http://schemas.microsoft.com/office/drawing/2014/main" id="{07DF8691-D4ED-FE7F-050B-6863516C81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9556" y="2465610"/>
            <a:ext cx="2743198" cy="89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924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WORK SANS BOLD ROMAN"/>
              </a:rPr>
              <a:t>Avances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6EDBC5-9719-5298-F46B-FFD61D7493B8}"/>
              </a:ext>
            </a:extLst>
          </p:cNvPr>
          <p:cNvSpPr txBox="1"/>
          <p:nvPr/>
        </p:nvSpPr>
        <p:spPr>
          <a:xfrm>
            <a:off x="452908" y="1719330"/>
            <a:ext cx="49326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  <a:hlinkClick r:id="rId2"/>
              </a:rPr>
              <a:t>Click aqui</a:t>
            </a:r>
          </a:p>
        </p:txBody>
      </p:sp>
    </p:spTree>
    <p:extLst>
      <p:ext uri="{BB962C8B-B14F-4D97-AF65-F5344CB8AC3E}">
        <p14:creationId xmlns:p14="http://schemas.microsoft.com/office/powerpoint/2010/main" val="3230526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67C6271-08B4-77E3-60B7-1B97F4CE02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6" t="532" r="-717" b="-532"/>
          <a:stretch/>
        </p:blipFill>
        <p:spPr>
          <a:xfrm>
            <a:off x="2109865" y="1382200"/>
            <a:ext cx="7763120" cy="3491406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Costos</a:t>
            </a:r>
          </a:p>
        </p:txBody>
      </p:sp>
    </p:spTree>
    <p:extLst>
      <p:ext uri="{BB962C8B-B14F-4D97-AF65-F5344CB8AC3E}">
        <p14:creationId xmlns:p14="http://schemas.microsoft.com/office/powerpoint/2010/main" val="3927921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revision>12</cp:revision>
  <dcterms:created xsi:type="dcterms:W3CDTF">2020-10-01T23:51:28Z</dcterms:created>
  <dcterms:modified xsi:type="dcterms:W3CDTF">2025-11-28T20:27:55Z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