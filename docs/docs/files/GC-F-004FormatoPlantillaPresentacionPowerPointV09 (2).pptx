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embeddedFontLst>
    <p:embeddedFont>
      <p:font typeface="Work Sans Medium"/>
      <p:regular r:id="rId30"/>
      <p:bold r:id="rId31"/>
      <p:italic r:id="rId32"/>
      <p:boldItalic r:id="rId33"/>
    </p:embeddedFont>
    <p:embeddedFont>
      <p:font typeface="Work Sans"/>
      <p:bold r:id="rId34"/>
      <p:boldItalic r:id="rId35"/>
    </p:embeddedFont>
    <p:embeddedFont>
      <p:font typeface="Work Sans Light"/>
      <p:regular r:id="rId36"/>
      <p:bold r:id="rId37"/>
      <p:italic r:id="rId38"/>
      <p:boldItalic r:id="rId3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595">
          <p15:clr>
            <a:srgbClr val="A4A3A4"/>
          </p15:clr>
        </p15:guide>
        <p15:guide id="2" pos="3840">
          <p15:clr>
            <a:srgbClr val="A4A3A4"/>
          </p15:clr>
        </p15:guide>
        <p15:guide id="3" orient="horz" pos="187">
          <p15:clr>
            <a:srgbClr val="A4A3A4"/>
          </p15:clr>
        </p15:guide>
      </p15:sldGuideLst>
    </p:ext>
    <p:ext uri="GoogleSlidesCustomDataVersion2">
      <go:slidesCustomData xmlns:go="http://customooxmlschemas.google.com/" r:id="rId40" roundtripDataSignature="AMtx7mhd7o6+tkaFsX+poP7wGDsIaC6wk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95" orient="horz"/>
        <p:guide pos="3840"/>
        <p:guide pos="187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customschemas.google.com/relationships/presentationmetadata" Target="meta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WorkSansMedium-bold.fntdata"/><Relationship Id="rId30" Type="http://schemas.openxmlformats.org/officeDocument/2006/relationships/font" Target="fonts/WorkSansMedium-regular.fntdata"/><Relationship Id="rId11" Type="http://schemas.openxmlformats.org/officeDocument/2006/relationships/slide" Target="slides/slide6.xml"/><Relationship Id="rId33" Type="http://schemas.openxmlformats.org/officeDocument/2006/relationships/font" Target="fonts/WorkSansMedium-boldItalic.fntdata"/><Relationship Id="rId10" Type="http://schemas.openxmlformats.org/officeDocument/2006/relationships/slide" Target="slides/slide5.xml"/><Relationship Id="rId32" Type="http://schemas.openxmlformats.org/officeDocument/2006/relationships/font" Target="fonts/WorkSansMedium-italic.fntdata"/><Relationship Id="rId13" Type="http://schemas.openxmlformats.org/officeDocument/2006/relationships/slide" Target="slides/slide8.xml"/><Relationship Id="rId35" Type="http://schemas.openxmlformats.org/officeDocument/2006/relationships/font" Target="fonts/WorkSans-boldItalic.fntdata"/><Relationship Id="rId12" Type="http://schemas.openxmlformats.org/officeDocument/2006/relationships/slide" Target="slides/slide7.xml"/><Relationship Id="rId34" Type="http://schemas.openxmlformats.org/officeDocument/2006/relationships/font" Target="fonts/WorkSans-bold.fntdata"/><Relationship Id="rId15" Type="http://schemas.openxmlformats.org/officeDocument/2006/relationships/slide" Target="slides/slide10.xml"/><Relationship Id="rId37" Type="http://schemas.openxmlformats.org/officeDocument/2006/relationships/font" Target="fonts/WorkSansLight-bold.fntdata"/><Relationship Id="rId14" Type="http://schemas.openxmlformats.org/officeDocument/2006/relationships/slide" Target="slides/slide9.xml"/><Relationship Id="rId36" Type="http://schemas.openxmlformats.org/officeDocument/2006/relationships/font" Target="fonts/WorkSansLight-regular.fntdata"/><Relationship Id="rId17" Type="http://schemas.openxmlformats.org/officeDocument/2006/relationships/slide" Target="slides/slide12.xml"/><Relationship Id="rId39" Type="http://schemas.openxmlformats.org/officeDocument/2006/relationships/font" Target="fonts/WorkSansLight-boldItalic.fntdata"/><Relationship Id="rId16" Type="http://schemas.openxmlformats.org/officeDocument/2006/relationships/slide" Target="slides/slide11.xml"/><Relationship Id="rId38" Type="http://schemas.openxmlformats.org/officeDocument/2006/relationships/font" Target="fonts/WorkSansLight-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s-CO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7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7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" name="Google Shape;22;p2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2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2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2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9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9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2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2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30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30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3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3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3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1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31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31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31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31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3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3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3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3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3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33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3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3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4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4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34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3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3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35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3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3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6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36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3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3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3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seño personalizado">
  <p:cSld name="Diseño personalizado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3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3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3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9.png"/><Relationship Id="rId4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0.png"/><Relationship Id="rId4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Relationship Id="rId4" Type="http://schemas.openxmlformats.org/officeDocument/2006/relationships/image" Target="../media/image6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g"/><Relationship Id="rId4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jpg"/><Relationship Id="rId4" Type="http://schemas.openxmlformats.org/officeDocument/2006/relationships/image" Target="../media/image8.png"/><Relationship Id="rId5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docs.google.com/spreadsheets/d/1ziGcEJIWWdArYEVR3MpIk33yreig74qm/edit?usp=drive_link&amp;ouid=118160846482597767338&amp;rtpof=true&amp;sd=true" TargetMode="External"/><Relationship Id="rId4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1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mermaid.ai/d/a806b4a5-34d9-4425-80bc-ef8613de0ffd" TargetMode="External"/><Relationship Id="rId4" Type="http://schemas.openxmlformats.org/officeDocument/2006/relationships/image" Target="../media/image4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rmaid.ai/d/29c2b9ab-3c09-44c8-871e-13636b80d335" TargetMode="External"/><Relationship Id="rId4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4.png"/><Relationship Id="rId6" Type="http://schemas.openxmlformats.org/officeDocument/2006/relationships/image" Target="../media/image20.png"/><Relationship Id="rId7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5.jpg"/><Relationship Id="rId4" Type="http://schemas.openxmlformats.org/officeDocument/2006/relationships/image" Target="../media/image14.png"/><Relationship Id="rId5" Type="http://schemas.openxmlformats.org/officeDocument/2006/relationships/image" Target="../media/image4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jpg"/><Relationship Id="rId4" Type="http://schemas.openxmlformats.org/officeDocument/2006/relationships/image" Target="../media/image27.png"/><Relationship Id="rId5" Type="http://schemas.openxmlformats.org/officeDocument/2006/relationships/image" Target="../media/image11.png"/><Relationship Id="rId6" Type="http://schemas.openxmlformats.org/officeDocument/2006/relationships/image" Target="../media/image10.png"/><Relationship Id="rId7" Type="http://schemas.openxmlformats.org/officeDocument/2006/relationships/image" Target="../media/image9.png"/><Relationship Id="rId8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5.jpg"/><Relationship Id="rId4" Type="http://schemas.openxmlformats.org/officeDocument/2006/relationships/image" Target="../media/image7.png"/><Relationship Id="rId9" Type="http://schemas.openxmlformats.org/officeDocument/2006/relationships/image" Target="../media/image4.png"/><Relationship Id="rId5" Type="http://schemas.openxmlformats.org/officeDocument/2006/relationships/image" Target="../media/image26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jpg"/><Relationship Id="rId4" Type="http://schemas.openxmlformats.org/officeDocument/2006/relationships/image" Target="../media/image23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jpg"/><Relationship Id="rId4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github.com/SebastianPacheco05/Reservify" TargetMode="External"/><Relationship Id="rId4" Type="http://schemas.openxmlformats.org/officeDocument/2006/relationships/image" Target="../media/image31.png"/><Relationship Id="rId5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jp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"/>
          <p:cNvSpPr/>
          <p:nvPr/>
        </p:nvSpPr>
        <p:spPr>
          <a:xfrm>
            <a:off x="3421172" y="3786902"/>
            <a:ext cx="5344743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2000" u="none" cap="none" strike="noStrike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rPr>
              <a:t>Centro de Servicios Empresarial y Turísticos </a:t>
            </a:r>
            <a:endParaRPr b="0" i="0" sz="2000" u="none" cap="none" strike="noStrike">
              <a:solidFill>
                <a:schemeClr val="lt1"/>
              </a:solidFill>
              <a:latin typeface="Work Sans Medium"/>
              <a:ea typeface="Work Sans Medium"/>
              <a:cs typeface="Work Sans Medium"/>
              <a:sym typeface="Work Sans Medium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2000" u="none" cap="none" strike="noStrike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rPr>
              <a:t>Einit Natalia Barajas </a:t>
            </a:r>
            <a:endParaRPr b="0" i="0" sz="2000" u="none" cap="none" strike="noStrike">
              <a:solidFill>
                <a:schemeClr val="lt1"/>
              </a:solidFill>
              <a:latin typeface="Work Sans Medium"/>
              <a:ea typeface="Work Sans Medium"/>
              <a:cs typeface="Work Sans Medium"/>
              <a:sym typeface="Work Sans Medium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2000" u="none" cap="none" strike="noStrike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rPr>
              <a:t>Sebastian Yesid Pacheco Rivera</a:t>
            </a:r>
            <a:br>
              <a:rPr b="0" i="0" lang="es-CO" sz="2000" u="none" cap="none" strike="noStrike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rPr>
            </a:br>
            <a:r>
              <a:rPr b="0" i="0" lang="es-CO" sz="2000" u="none" cap="none" strike="noStrike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rPr>
              <a:t>juan pacheco pachón</a:t>
            </a:r>
            <a:endParaRPr b="0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1005612" y="1713252"/>
            <a:ext cx="10175864" cy="14465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4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Implementación del software de reservas </a:t>
            </a:r>
            <a:endParaRPr b="1" i="0" sz="4400" u="none" cap="none" strike="noStrike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4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Enfocados en restaurantes de Bucaramanga</a:t>
            </a:r>
            <a:endParaRPr b="1" i="0" sz="4400" u="none" cap="none" strike="noStrike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95" name="Google Shape;95;p1"/>
          <p:cNvCxnSpPr/>
          <p:nvPr/>
        </p:nvCxnSpPr>
        <p:spPr>
          <a:xfrm>
            <a:off x="5013630" y="3555133"/>
            <a:ext cx="2247544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96" name="Google Shape;96;p1"/>
          <p:cNvSpPr/>
          <p:nvPr/>
        </p:nvSpPr>
        <p:spPr>
          <a:xfrm>
            <a:off x="3465010" y="5219000"/>
            <a:ext cx="534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2000" u="none" cap="none" strike="noStrike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rPr>
              <a:t>Ficha:2993127</a:t>
            </a:r>
            <a:endParaRPr/>
          </a:p>
        </p:txBody>
      </p:sp>
      <p:sp>
        <p:nvSpPr>
          <p:cNvPr id="97" name="Google Shape;97;p1"/>
          <p:cNvSpPr txBox="1"/>
          <p:nvPr/>
        </p:nvSpPr>
        <p:spPr>
          <a:xfrm>
            <a:off x="3841595" y="561279"/>
            <a:ext cx="4583151" cy="1015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6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RESERVIFY</a:t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8" name="Google Shape;98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641305" y="5678118"/>
            <a:ext cx="1938011" cy="7131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"/>
          <p:cNvSpPr txBox="1"/>
          <p:nvPr/>
        </p:nvSpPr>
        <p:spPr>
          <a:xfrm>
            <a:off x="4201782" y="370217"/>
            <a:ext cx="3462791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5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ANALISTAS</a:t>
            </a:r>
            <a:endParaRPr/>
          </a:p>
        </p:txBody>
      </p:sp>
      <p:sp>
        <p:nvSpPr>
          <p:cNvPr id="104" name="Google Shape;104;p2"/>
          <p:cNvSpPr txBox="1"/>
          <p:nvPr/>
        </p:nvSpPr>
        <p:spPr>
          <a:xfrm>
            <a:off x="1021772" y="1177635"/>
            <a:ext cx="5385954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Einit Natalia Barajas Figueroa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Sebastian Yedid Pacheco Rivera</a:t>
            </a:r>
            <a:endParaRPr/>
          </a:p>
        </p:txBody>
      </p:sp>
      <p:sp>
        <p:nvSpPr>
          <p:cNvPr id="105" name="Google Shape;105;p2"/>
          <p:cNvSpPr txBox="1"/>
          <p:nvPr/>
        </p:nvSpPr>
        <p:spPr>
          <a:xfrm>
            <a:off x="3372796" y="2010215"/>
            <a:ext cx="5455226" cy="8771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30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rPr>
              <a:t>PERFIL PROFESIONAL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"/>
          <p:cNvSpPr txBox="1"/>
          <p:nvPr/>
        </p:nvSpPr>
        <p:spPr>
          <a:xfrm>
            <a:off x="847610" y="2786266"/>
            <a:ext cx="10490568" cy="22159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El tecnólogo ADSO se desempeñará Desarrollo soluciones de tipo software en el que prestará servicios personales como analista, diseñador y programador de software independiente o, en proyectos específicos de acuerdo con la necesidad del servicio, adquiriendo la capacidad de autoaprendizaje y actualización de las nuevas tendencias de desarrollo de software en el mercado, al tiempo que mejora la dinámica y Economía del País. 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3372928" y="4666891"/>
            <a:ext cx="5719313" cy="11079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30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rPr>
              <a:t>VINCULACIÓN INSTITUCIONAL </a:t>
            </a:r>
            <a:endParaRPr/>
          </a:p>
        </p:txBody>
      </p:sp>
      <p:sp>
        <p:nvSpPr>
          <p:cNvPr id="108" name="Google Shape;108;p2"/>
          <p:cNvSpPr txBox="1"/>
          <p:nvPr/>
        </p:nvSpPr>
        <p:spPr>
          <a:xfrm>
            <a:off x="4724400" y="5227608"/>
            <a:ext cx="27432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Aprendiz 08/07/ 2024</a:t>
            </a:r>
            <a:endParaRPr/>
          </a:p>
        </p:txBody>
      </p:sp>
      <p:pic>
        <p:nvPicPr>
          <p:cNvPr id="109" name="Google Shape;109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641305" y="5678118"/>
            <a:ext cx="1938011" cy="7131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"/>
          <p:cNvSpPr txBox="1"/>
          <p:nvPr/>
        </p:nvSpPr>
        <p:spPr>
          <a:xfrm>
            <a:off x="1468229" y="1874367"/>
            <a:ext cx="6453678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5400"/>
              <a:buFont typeface="Work Sans"/>
              <a:buNone/>
            </a:pPr>
            <a:r>
              <a:rPr b="1" i="0" lang="es-CO" sz="5400" u="none" cap="none" strike="noStrike">
                <a:solidFill>
                  <a:srgbClr val="3F3F3F"/>
                </a:solidFill>
                <a:latin typeface="Work Sans"/>
                <a:ea typeface="Work Sans"/>
                <a:cs typeface="Work Sans"/>
                <a:sym typeface="Work Sans"/>
              </a:rPr>
              <a:t>Introducción</a:t>
            </a:r>
            <a:endParaRPr b="1" i="0" sz="4000" u="none" cap="none" strike="noStrike">
              <a:solidFill>
                <a:srgbClr val="3F3F3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115" name="Google Shape;115;p3"/>
          <p:cNvSpPr txBox="1"/>
          <p:nvPr/>
        </p:nvSpPr>
        <p:spPr>
          <a:xfrm>
            <a:off x="1467968" y="2865455"/>
            <a:ext cx="8968029" cy="29238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 Colombia, la oferta de aplicaciones para realizar reservas en restaurantes es limitada, lo que dificulta que los usuarios puedan encontrar y reservar fácilmente un establecimiento cercano a su ubicación.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Work Sans Light"/>
              <a:ea typeface="Work Sans Light"/>
              <a:cs typeface="Work Sans Light"/>
              <a:sym typeface="Work Sans Light"/>
            </a:endParaRPr>
          </a:p>
        </p:txBody>
      </p:sp>
      <p:pic>
        <p:nvPicPr>
          <p:cNvPr id="116" name="Google Shape;116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372889" y="1068668"/>
            <a:ext cx="1938011" cy="7131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4"/>
          <p:cNvSpPr txBox="1"/>
          <p:nvPr/>
        </p:nvSpPr>
        <p:spPr>
          <a:xfrm>
            <a:off x="1468229" y="1874367"/>
            <a:ext cx="6453678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5400"/>
              <a:buFont typeface="Work Sans"/>
              <a:buNone/>
            </a:pPr>
            <a:r>
              <a:rPr b="1" lang="es-CO" sz="5400">
                <a:solidFill>
                  <a:srgbClr val="3F3F3F"/>
                </a:solidFill>
                <a:latin typeface="Work Sans"/>
                <a:ea typeface="Work Sans"/>
                <a:cs typeface="Work Sans"/>
                <a:sym typeface="Work Sans"/>
              </a:rPr>
              <a:t>Problemática</a:t>
            </a:r>
            <a:endParaRPr b="1" i="0" sz="4000" u="none" cap="none" strike="noStrike">
              <a:solidFill>
                <a:srgbClr val="3F3F3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122" name="Google Shape;122;p4"/>
          <p:cNvSpPr txBox="1"/>
          <p:nvPr/>
        </p:nvSpPr>
        <p:spPr>
          <a:xfrm>
            <a:off x="1467968" y="2865455"/>
            <a:ext cx="8967900" cy="230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 escasa oferta de aplicaciones de reservas, junto con la limitada disponibilidad de información sobre los establecimientos que las utilizan, creando una escasa información al usuario obstaculiza una gestión eficiente y oportuna de las reservas. Asimismo, numerosos restaurantes requieren estrategias de visibilidad y promoción que les permitan posicionarse adecuadamente en el mercado.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3" name="Google Shape;123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320136" y="1161179"/>
            <a:ext cx="1938011" cy="7131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5"/>
          <p:cNvSpPr txBox="1"/>
          <p:nvPr/>
        </p:nvSpPr>
        <p:spPr>
          <a:xfrm>
            <a:off x="1776007" y="1892057"/>
            <a:ext cx="7550214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5400" u="none" cap="none" strike="noStrike">
                <a:solidFill>
                  <a:srgbClr val="3F3F3F"/>
                </a:solidFill>
                <a:latin typeface="Work Sans"/>
                <a:ea typeface="Work Sans"/>
                <a:cs typeface="Work Sans"/>
                <a:sym typeface="Work Sans"/>
              </a:rPr>
              <a:t>Justificación</a:t>
            </a:r>
            <a:r>
              <a:rPr b="1" lang="es-CO" sz="5400">
                <a:solidFill>
                  <a:srgbClr val="3F3F3F"/>
                </a:solidFill>
                <a:latin typeface="Work Sans"/>
                <a:ea typeface="Work Sans"/>
                <a:cs typeface="Work Sans"/>
                <a:sym typeface="Work Sans"/>
              </a:rPr>
              <a:t> </a:t>
            </a:r>
            <a:endParaRPr sz="540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5"/>
          <p:cNvSpPr txBox="1"/>
          <p:nvPr/>
        </p:nvSpPr>
        <p:spPr>
          <a:xfrm>
            <a:off x="1774627" y="2986260"/>
            <a:ext cx="8968029" cy="21852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 falta de software especializado en la búsqueda de reservas y en la gestión eficiente de las mismas por parte del usuario, junto con la deficiente organización y optimización de los sistemas actuales, representa una problemática significativa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0" name="Google Shape;130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201690" y="5171474"/>
            <a:ext cx="1938011" cy="7131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"/>
          <p:cNvSpPr txBox="1"/>
          <p:nvPr/>
        </p:nvSpPr>
        <p:spPr>
          <a:xfrm>
            <a:off x="605128" y="423813"/>
            <a:ext cx="3669714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24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Árbol de </a:t>
            </a:r>
            <a:r>
              <a:rPr b="1" lang="es-CO" sz="2400">
                <a:solidFill>
                  <a:srgbClr val="3F3F3F"/>
                </a:solidFill>
                <a:latin typeface="Work Sans"/>
                <a:ea typeface="Work Sans"/>
                <a:cs typeface="Work Sans"/>
                <a:sym typeface="Work Sans"/>
              </a:rPr>
              <a:t>Problemas</a:t>
            </a:r>
            <a:endParaRPr b="1" i="0" sz="2400" u="none" cap="none" strike="noStrike">
              <a:solidFill>
                <a:srgbClr val="3F3F3F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t/>
            </a:r>
            <a:endParaRPr b="1" i="0" sz="2400" u="none" cap="none" strike="noStrike">
              <a:solidFill>
                <a:srgbClr val="3F3F3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136" name="Google Shape;136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2742" y="0"/>
            <a:ext cx="10966515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641305" y="5678118"/>
            <a:ext cx="1938011" cy="7131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7"/>
          <p:cNvSpPr txBox="1"/>
          <p:nvPr/>
        </p:nvSpPr>
        <p:spPr>
          <a:xfrm>
            <a:off x="605128" y="423813"/>
            <a:ext cx="3669714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2400">
                <a:solidFill>
                  <a:srgbClr val="3F3F3F"/>
                </a:solidFill>
                <a:latin typeface="Work Sans"/>
                <a:ea typeface="Work Sans"/>
                <a:cs typeface="Work Sans"/>
                <a:sym typeface="Work Sans"/>
              </a:rPr>
              <a:t>Árbol de Objetivo </a:t>
            </a:r>
            <a:endParaRPr sz="180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t/>
            </a:r>
            <a:endParaRPr b="1" i="0" sz="2400" u="none" cap="none" strike="noStrike">
              <a:solidFill>
                <a:srgbClr val="3F3F3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143" name="Google Shape;143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4910" y="0"/>
            <a:ext cx="10602179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641305" y="5678118"/>
            <a:ext cx="1938011" cy="7131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8"/>
          <p:cNvSpPr txBox="1"/>
          <p:nvPr/>
        </p:nvSpPr>
        <p:spPr>
          <a:xfrm>
            <a:off x="1520925" y="1199808"/>
            <a:ext cx="3058086" cy="15507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4800"/>
              <a:buFont typeface="Work Sans"/>
              <a:buNone/>
            </a:pPr>
            <a:r>
              <a:rPr b="1" lang="es-CO" sz="4800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Objetivo General </a:t>
            </a:r>
            <a:endParaRPr/>
          </a:p>
        </p:txBody>
      </p:sp>
      <p:sp>
        <p:nvSpPr>
          <p:cNvPr id="150" name="Google Shape;150;p8"/>
          <p:cNvSpPr txBox="1"/>
          <p:nvPr/>
        </p:nvSpPr>
        <p:spPr>
          <a:xfrm>
            <a:off x="1046998" y="3155208"/>
            <a:ext cx="4010676" cy="18158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800">
                <a:solidFill>
                  <a:schemeClr val="dk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Innovar con un software enfocado a las reservas de restaurantes de gran flujo de personas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1" name="Google Shape;151;p8"/>
          <p:cNvCxnSpPr/>
          <p:nvPr/>
        </p:nvCxnSpPr>
        <p:spPr>
          <a:xfrm>
            <a:off x="1157468" y="2704095"/>
            <a:ext cx="1425934" cy="0"/>
          </a:xfrm>
          <a:prstGeom prst="straightConnector1">
            <a:avLst/>
          </a:prstGeom>
          <a:noFill/>
          <a:ln cap="flat" cmpd="sng" w="12700">
            <a:solidFill>
              <a:srgbClr val="4D4D4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52" name="Google Shape;152;p8"/>
          <p:cNvPicPr preferRelativeResize="0"/>
          <p:nvPr/>
        </p:nvPicPr>
        <p:blipFill rotWithShape="1">
          <a:blip r:embed="rId4">
            <a:alphaModFix/>
          </a:blip>
          <a:srcRect b="0" l="13166" r="239" t="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9"/>
          <p:cNvSpPr txBox="1"/>
          <p:nvPr/>
        </p:nvSpPr>
        <p:spPr>
          <a:xfrm>
            <a:off x="553928" y="270150"/>
            <a:ext cx="9815809" cy="741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D4D4C"/>
              </a:buClr>
              <a:buSzPts val="3600"/>
              <a:buFont typeface="Work Sans"/>
              <a:buNone/>
            </a:pPr>
            <a:r>
              <a:rPr b="1" lang="es-CO" sz="3600" u="none" cap="none" strike="noStrike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Objetivos Específicos </a:t>
            </a:r>
            <a:endParaRPr b="1" sz="3600" u="none" cap="none" strike="noStrike">
              <a:solidFill>
                <a:srgbClr val="4D4D4C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158" name="Google Shape;158;p9"/>
          <p:cNvSpPr txBox="1"/>
          <p:nvPr/>
        </p:nvSpPr>
        <p:spPr>
          <a:xfrm>
            <a:off x="290983" y="2534626"/>
            <a:ext cx="5518437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1600"/>
              <a:buFont typeface="Calibri"/>
              <a:buAutoNum type="arabicPeriod"/>
            </a:pPr>
            <a:r>
              <a:rPr lang="es-CO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Mayor visibilidad de los restaurantes, por medio de la aplicación o página web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1600"/>
              <a:buFont typeface="Calibri"/>
              <a:buAutoNum type="arabicPeriod"/>
            </a:pPr>
            <a:r>
              <a:rPr lang="es-CO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Aumentar el flujo de personas por restaurantes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1600"/>
              <a:buFont typeface="Calibri"/>
              <a:buAutoNum type="arabicPeriod"/>
            </a:pPr>
            <a:r>
              <a:rPr lang="es-CO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Plataforma intuitiva </a:t>
            </a:r>
            <a:endParaRPr/>
          </a:p>
        </p:txBody>
      </p:sp>
      <p:sp>
        <p:nvSpPr>
          <p:cNvPr id="159" name="Google Shape;159;p9"/>
          <p:cNvSpPr txBox="1"/>
          <p:nvPr/>
        </p:nvSpPr>
        <p:spPr>
          <a:xfrm>
            <a:off x="6380743" y="2534625"/>
            <a:ext cx="5518437" cy="30469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1600"/>
              <a:buFont typeface="Calibri"/>
              <a:buAutoNum type="arabicPeriod"/>
            </a:pPr>
            <a:r>
              <a:rPr lang="es-CO" sz="1600">
                <a:solidFill>
                  <a:schemeClr val="dk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Recolectar información suficiente a través de la ingeniería de requerimientos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1600"/>
              <a:buFont typeface="Calibri"/>
              <a:buAutoNum type="arabicPeriod"/>
            </a:pPr>
            <a:r>
              <a:rPr lang="es-CO" sz="1600">
                <a:solidFill>
                  <a:schemeClr val="dk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Modelar la información recolectada a través de una base de datos relacional de acuerdo con las necesidades identificadas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1600"/>
              <a:buFont typeface="Calibri"/>
              <a:buAutoNum type="arabicPeriod"/>
            </a:pPr>
            <a:r>
              <a:rPr lang="es-CO" sz="1600">
                <a:solidFill>
                  <a:schemeClr val="dk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Desarrollar la solución a través de una herramienta FRONT y BACK desde el modelo obtenido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1600"/>
              <a:buFont typeface="Calibri"/>
              <a:buAutoNum type="arabicPeriod"/>
            </a:pPr>
            <a:r>
              <a:rPr lang="es-CO" sz="1600">
                <a:solidFill>
                  <a:schemeClr val="dk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Realizar las pruebas de integridad, funcionalidad, seguridad y de estrés suficientes del sistema desarrollado.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1600"/>
              <a:buFont typeface="Calibri"/>
              <a:buAutoNum type="arabicPeriod"/>
            </a:pPr>
            <a:r>
              <a:rPr lang="es-CO" sz="1600">
                <a:solidFill>
                  <a:schemeClr val="dk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Documentar el sistema probado y desarrollado.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1600"/>
              <a:buFont typeface="Calibri"/>
              <a:buAutoNum type="arabicPeriod"/>
            </a:pPr>
            <a:r>
              <a:rPr lang="es-CO" sz="1600">
                <a:solidFill>
                  <a:schemeClr val="dk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Recibir la aceptación final del usuario a través de un acta entrega y aprobación </a:t>
            </a:r>
            <a:endParaRPr sz="1600">
              <a:solidFill>
                <a:schemeClr val="dk1"/>
              </a:solidFill>
              <a:latin typeface="Work Sans Light"/>
              <a:ea typeface="Work Sans Light"/>
              <a:cs typeface="Work Sans Light"/>
              <a:sym typeface="Work Sans Light"/>
            </a:endParaRPr>
          </a:p>
        </p:txBody>
      </p:sp>
      <p:cxnSp>
        <p:nvCxnSpPr>
          <p:cNvPr id="160" name="Google Shape;160;p9"/>
          <p:cNvCxnSpPr/>
          <p:nvPr/>
        </p:nvCxnSpPr>
        <p:spPr>
          <a:xfrm>
            <a:off x="6089838" y="1157254"/>
            <a:ext cx="10026" cy="528386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61" name="Google Shape;161;p9"/>
          <p:cNvCxnSpPr/>
          <p:nvPr/>
        </p:nvCxnSpPr>
        <p:spPr>
          <a:xfrm flipH="1" rot="10800000">
            <a:off x="435100" y="2239529"/>
            <a:ext cx="11339038" cy="4227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62" name="Google Shape;162;p9"/>
          <p:cNvSpPr txBox="1"/>
          <p:nvPr/>
        </p:nvSpPr>
        <p:spPr>
          <a:xfrm>
            <a:off x="437874" y="1717541"/>
            <a:ext cx="551843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1600">
                <a:solidFill>
                  <a:schemeClr val="dk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UX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9"/>
          <p:cNvSpPr txBox="1"/>
          <p:nvPr/>
        </p:nvSpPr>
        <p:spPr>
          <a:xfrm>
            <a:off x="6377801" y="1717540"/>
            <a:ext cx="551843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1600">
                <a:solidFill>
                  <a:schemeClr val="dk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Analista</a:t>
            </a:r>
            <a:endParaRPr sz="1800">
              <a:solidFill>
                <a:schemeClr val="dk1"/>
              </a:solidFill>
              <a:latin typeface="Work Sans Light"/>
              <a:ea typeface="Work Sans Light"/>
              <a:cs typeface="Work Sans Light"/>
              <a:sym typeface="Work Sans Light"/>
            </a:endParaRPr>
          </a:p>
        </p:txBody>
      </p:sp>
      <p:pic>
        <p:nvPicPr>
          <p:cNvPr id="164" name="Google Shape;164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137019" y="294845"/>
            <a:ext cx="1938011" cy="7131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0"/>
          <p:cNvSpPr txBox="1"/>
          <p:nvPr/>
        </p:nvSpPr>
        <p:spPr>
          <a:xfrm>
            <a:off x="2819400" y="291791"/>
            <a:ext cx="6543907" cy="6001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METODOLOGÍA UTILIZADA</a:t>
            </a:r>
            <a:endParaRPr/>
          </a:p>
        </p:txBody>
      </p:sp>
      <p:sp>
        <p:nvSpPr>
          <p:cNvPr id="170" name="Google Shape;170;p10"/>
          <p:cNvSpPr txBox="1"/>
          <p:nvPr/>
        </p:nvSpPr>
        <p:spPr>
          <a:xfrm>
            <a:off x="366132" y="1880839"/>
            <a:ext cx="11088029" cy="15696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Implementaremos el  modelo en  cascada ya que nos permite  relacionar cada una de las etapas  con la anterior, para considerar los elementos que debes quitar o añadir en la siguiente fase, teniendo en cuenta que cada fase del proyecto se debe completar antes de avanzar a la siguiente.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Metodología de Cascada – Mtro. Fernando Arciniega" id="171" name="Google Shape;171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39230" y="3427410"/>
            <a:ext cx="8430320" cy="31348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66132" y="316615"/>
            <a:ext cx="1938011" cy="7131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1"/>
          <p:cNvSpPr txBox="1"/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Work Sans"/>
              <a:buNone/>
            </a:pPr>
            <a:r>
              <a:rPr b="1" lang="es-CO" sz="6000" u="none" cap="none" strike="noStrik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rPr>
              <a:t>Alternativa</a:t>
            </a:r>
            <a:endParaRPr b="1" sz="6000" u="none" cap="none" strike="noStrike">
              <a:solidFill>
                <a:schemeClr val="dk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178" name="Google Shape;178;p11"/>
          <p:cNvSpPr txBox="1"/>
          <p:nvPr/>
        </p:nvSpPr>
        <p:spPr>
          <a:xfrm>
            <a:off x="456236" y="1735932"/>
            <a:ext cx="10787387" cy="3416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Reservify es un proyecto enfocado en automatizar las reservas de restaurantes. La idea es mejorarle la expericienta al usuario al hacer reservas de manera rápida, como reuniones o citas, desde la comodidad de su casa, y que el empleado simplemente revise en la página las reservas que tiene ese día.</a:t>
            </a:r>
            <a:endParaRPr sz="1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AutoNum type="arabicPeriod"/>
            </a:pPr>
            <a:r>
              <a:rPr lang="es-CO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Optimización del flujo de clientes al restaurante.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AutoNum type="arabicPeriod"/>
            </a:pPr>
            <a:r>
              <a:rPr lang="es-CO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Facilitarle la búsqueda al usuario acerca de los restaurantes más cercanos y/o encontrar un restaurante en específico.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AutoNum type="arabicPeriod"/>
            </a:pPr>
            <a:r>
              <a:rPr lang="es-CO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Brindarle al cliente una experiencia más amena usando la aplicación.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Work Sans Light"/>
              <a:ea typeface="Work Sans Light"/>
              <a:cs typeface="Work Sans Light"/>
              <a:sym typeface="Work Sans Light"/>
            </a:endParaRPr>
          </a:p>
        </p:txBody>
      </p:sp>
      <p:pic>
        <p:nvPicPr>
          <p:cNvPr id="179" name="Google Shape;179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641305" y="5678118"/>
            <a:ext cx="1938011" cy="7131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2"/>
          <p:cNvSpPr txBox="1"/>
          <p:nvPr/>
        </p:nvSpPr>
        <p:spPr>
          <a:xfrm>
            <a:off x="995422" y="2551837"/>
            <a:ext cx="6453678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5400"/>
              <a:buFont typeface="Work Sans"/>
              <a:buNone/>
            </a:pPr>
            <a:r>
              <a:rPr b="1" lang="es-CO" sz="5400">
                <a:solidFill>
                  <a:srgbClr val="3F3F3F"/>
                </a:solidFill>
                <a:latin typeface="Work Sans"/>
                <a:ea typeface="Work Sans"/>
                <a:cs typeface="Work Sans"/>
                <a:sym typeface="Work Sans"/>
              </a:rPr>
              <a:t>Metodología</a:t>
            </a:r>
            <a:endParaRPr/>
          </a:p>
        </p:txBody>
      </p:sp>
      <p:sp>
        <p:nvSpPr>
          <p:cNvPr id="185" name="Google Shape;185;p12"/>
          <p:cNvSpPr txBox="1"/>
          <p:nvPr/>
        </p:nvSpPr>
        <p:spPr>
          <a:xfrm>
            <a:off x="991243" y="3469376"/>
            <a:ext cx="10093711" cy="1015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1- Listado de requisitos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2- Diagramas estructurales de datos (casos de uso, MER, MR)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3- Nuevo esquema de procesos con la solución implementada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6" name="Google Shape;186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289612" y="5045984"/>
            <a:ext cx="1938011" cy="7131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3"/>
          <p:cNvSpPr txBox="1"/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Work Sans"/>
              <a:buNone/>
            </a:pPr>
            <a:r>
              <a:rPr b="1" lang="es-CO" sz="3600" u="none" cap="none" strike="noStrik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rPr>
              <a:t>Metodología</a:t>
            </a:r>
            <a:endParaRPr b="1" sz="3600" u="none" cap="none" strike="noStrike">
              <a:solidFill>
                <a:schemeClr val="dk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192" name="Google Shape;192;p13"/>
          <p:cNvSpPr txBox="1"/>
          <p:nvPr/>
        </p:nvSpPr>
        <p:spPr>
          <a:xfrm>
            <a:off x="456236" y="955346"/>
            <a:ext cx="3053318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1- Listado de requerimientos</a:t>
            </a:r>
            <a:endParaRPr sz="1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93" name="Google Shape;193;p13"/>
          <p:cNvSpPr txBox="1"/>
          <p:nvPr/>
        </p:nvSpPr>
        <p:spPr>
          <a:xfrm>
            <a:off x="3048000" y="2971345"/>
            <a:ext cx="60960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36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REQUERIMIENTOS</a:t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4" name="Google Shape;194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641305" y="5678118"/>
            <a:ext cx="1938011" cy="7131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"/>
          <p:cNvSpPr txBox="1"/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Work Sans"/>
              <a:buNone/>
            </a:pPr>
            <a:r>
              <a:rPr b="1" lang="es-CO" sz="3600" u="none" cap="none" strike="noStrik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rPr>
              <a:t>Metodología</a:t>
            </a:r>
            <a:endParaRPr b="1" sz="3600" u="none" cap="none" strike="noStrike">
              <a:solidFill>
                <a:schemeClr val="dk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200" name="Google Shape;200;p14"/>
          <p:cNvSpPr txBox="1"/>
          <p:nvPr/>
        </p:nvSpPr>
        <p:spPr>
          <a:xfrm>
            <a:off x="456236" y="946054"/>
            <a:ext cx="5518437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>
                <a:solidFill>
                  <a:schemeClr val="dk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Especificar: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>
                <a:solidFill>
                  <a:schemeClr val="dk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2- Diagramas estructurales de datos (casos de uso, MER, MR)</a:t>
            </a:r>
            <a:endParaRPr/>
          </a:p>
        </p:txBody>
      </p:sp>
      <p:sp>
        <p:nvSpPr>
          <p:cNvPr id="201" name="Google Shape;201;p14"/>
          <p:cNvSpPr txBox="1"/>
          <p:nvPr/>
        </p:nvSpPr>
        <p:spPr>
          <a:xfrm>
            <a:off x="2349647" y="573477"/>
            <a:ext cx="5518437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>
                <a:solidFill>
                  <a:schemeClr val="dk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Casos de uso</a:t>
            </a:r>
            <a:endParaRPr/>
          </a:p>
        </p:txBody>
      </p:sp>
      <p:pic>
        <p:nvPicPr>
          <p:cNvPr id="202" name="Google Shape;2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83448" y="451651"/>
            <a:ext cx="1938011" cy="7131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498312" y="1687617"/>
            <a:ext cx="7195375" cy="48029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5"/>
          <p:cNvSpPr txBox="1"/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Work Sans"/>
              <a:buNone/>
            </a:pPr>
            <a:r>
              <a:rPr b="1" lang="es-CO" sz="3600" u="none" cap="none" strike="noStrik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rPr>
              <a:t>Metodología</a:t>
            </a:r>
            <a:endParaRPr b="1" sz="3600" u="none" cap="none" strike="noStrike">
              <a:solidFill>
                <a:schemeClr val="dk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209" name="Google Shape;209;p15"/>
          <p:cNvSpPr txBox="1"/>
          <p:nvPr/>
        </p:nvSpPr>
        <p:spPr>
          <a:xfrm>
            <a:off x="456236" y="946054"/>
            <a:ext cx="9189891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>
                <a:solidFill>
                  <a:schemeClr val="dk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Especificar: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>
                <a:solidFill>
                  <a:schemeClr val="dk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2- Diagramas estructurales de datos (casos de uso, MER, MR)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5"/>
          <p:cNvSpPr txBox="1"/>
          <p:nvPr/>
        </p:nvSpPr>
        <p:spPr>
          <a:xfrm>
            <a:off x="2724884" y="2551837"/>
            <a:ext cx="7172151" cy="175432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3600">
                <a:solidFill>
                  <a:schemeClr val="dk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MER  </a:t>
            </a:r>
            <a:r>
              <a:rPr lang="es-CO" sz="3600" u="sng">
                <a:solidFill>
                  <a:schemeClr val="dk1"/>
                </a:solidFill>
                <a:latin typeface="Work Sans Light"/>
                <a:ea typeface="Work Sans Light"/>
                <a:cs typeface="Work Sans Light"/>
                <a:sym typeface="Work Sans Ligh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https://mermaid.ai/d/a806b4a5-34d9-4425-80bc-ef8613de0ffd</a:t>
            </a:r>
            <a:endParaRPr sz="3600">
              <a:solidFill>
                <a:schemeClr val="dk1"/>
              </a:solidFill>
              <a:latin typeface="Work Sans Light"/>
              <a:ea typeface="Work Sans Light"/>
              <a:cs typeface="Work Sans Light"/>
              <a:sym typeface="Work Sans Light"/>
            </a:endParaRPr>
          </a:p>
        </p:txBody>
      </p:sp>
      <p:pic>
        <p:nvPicPr>
          <p:cNvPr id="211" name="Google Shape;211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03039" y="493029"/>
            <a:ext cx="1938011" cy="7131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6"/>
          <p:cNvSpPr txBox="1"/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Work Sans"/>
              <a:buNone/>
            </a:pPr>
            <a:r>
              <a:rPr b="1" lang="es-CO" sz="3600" u="none" cap="none" strike="noStrik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rPr>
              <a:t>Metodología</a:t>
            </a:r>
            <a:endParaRPr b="1" sz="3600" u="none" cap="none" strike="noStrike">
              <a:solidFill>
                <a:schemeClr val="dk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217" name="Google Shape;217;p16"/>
          <p:cNvSpPr txBox="1"/>
          <p:nvPr/>
        </p:nvSpPr>
        <p:spPr>
          <a:xfrm>
            <a:off x="456236" y="946054"/>
            <a:ext cx="10630764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>
                <a:solidFill>
                  <a:schemeClr val="dk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Especificar: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>
                <a:solidFill>
                  <a:schemeClr val="dk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2- Diagramas estructurales de datos (casos de uso, MER, MR)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6"/>
          <p:cNvSpPr txBox="1"/>
          <p:nvPr/>
        </p:nvSpPr>
        <p:spPr>
          <a:xfrm>
            <a:off x="290597" y="3006435"/>
            <a:ext cx="10962042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4000">
                <a:solidFill>
                  <a:schemeClr val="dk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MR   </a:t>
            </a:r>
            <a:r>
              <a:rPr lang="es-CO" sz="4000" u="sng">
                <a:solidFill>
                  <a:schemeClr val="dk1"/>
                </a:solidFill>
                <a:latin typeface="Work Sans Light"/>
                <a:ea typeface="Work Sans Light"/>
                <a:cs typeface="Work Sans Light"/>
                <a:sym typeface="Work Sans Ligh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https://mermaid.ai/d/29c2b9ab-3c09-44c8-871e-13636b80d335</a:t>
            </a:r>
            <a:endParaRPr sz="4000">
              <a:solidFill>
                <a:schemeClr val="dk1"/>
              </a:solidFill>
              <a:latin typeface="Work Sans Light"/>
              <a:ea typeface="Work Sans Light"/>
              <a:cs typeface="Work Sans Light"/>
              <a:sym typeface="Work Sans Light"/>
            </a:endParaRPr>
          </a:p>
        </p:txBody>
      </p:sp>
      <p:pic>
        <p:nvPicPr>
          <p:cNvPr id="219" name="Google Shape;219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491646" y="631353"/>
            <a:ext cx="1938011" cy="7131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7"/>
          <p:cNvSpPr txBox="1"/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Work Sans"/>
              <a:buNone/>
            </a:pPr>
            <a:r>
              <a:rPr b="1" lang="es-CO" sz="3600" u="none" cap="none" strike="noStrik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rPr>
              <a:t>Metodología</a:t>
            </a:r>
            <a:endParaRPr b="1" sz="3600" u="none" cap="none" strike="noStrike">
              <a:solidFill>
                <a:schemeClr val="dk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225" name="Google Shape;225;p17"/>
          <p:cNvSpPr txBox="1"/>
          <p:nvPr/>
        </p:nvSpPr>
        <p:spPr>
          <a:xfrm>
            <a:off x="456236" y="946054"/>
            <a:ext cx="5013457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>
                <a:solidFill>
                  <a:schemeClr val="dk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Especificar:</a:t>
            </a:r>
            <a:endParaRPr sz="1100">
              <a:solidFill>
                <a:schemeClr val="dk1"/>
              </a:solidFill>
              <a:latin typeface="Work Sans Light"/>
              <a:ea typeface="Work Sans Light"/>
              <a:cs typeface="Work Sans Light"/>
              <a:sym typeface="Work Sans Ligh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3 - Nuevo esquema de procesos con la solución implementada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6" name="Google Shape;226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5677" y="1500052"/>
            <a:ext cx="4174573" cy="2603008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76064" y="3809725"/>
            <a:ext cx="4174573" cy="20985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285177" y="425709"/>
            <a:ext cx="1938011" cy="7131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20378" y="3809725"/>
            <a:ext cx="4443762" cy="270279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505184" y="1540877"/>
            <a:ext cx="4145453" cy="25213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8"/>
          <p:cNvSpPr txBox="1"/>
          <p:nvPr/>
        </p:nvSpPr>
        <p:spPr>
          <a:xfrm>
            <a:off x="456236" y="416690"/>
            <a:ext cx="9815809" cy="5278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Work Sans"/>
              <a:buNone/>
            </a:pPr>
            <a:r>
              <a:rPr b="1" lang="es-CO" sz="3600" u="none" cap="none" strike="noStrike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Cronograma</a:t>
            </a:r>
            <a:endParaRPr/>
          </a:p>
        </p:txBody>
      </p:sp>
      <p:pic>
        <p:nvPicPr>
          <p:cNvPr descr="A white and black box with black text&#10;&#10;AI-generated content may be incorrect." id="236" name="Google Shape;236;p18"/>
          <p:cNvPicPr preferRelativeResize="0"/>
          <p:nvPr/>
        </p:nvPicPr>
        <p:blipFill rotWithShape="1">
          <a:blip r:embed="rId4">
            <a:alphaModFix/>
          </a:blip>
          <a:srcRect b="4469" l="0" r="354" t="0"/>
          <a:stretch/>
        </p:blipFill>
        <p:spPr>
          <a:xfrm>
            <a:off x="330679" y="1527233"/>
            <a:ext cx="11717558" cy="4752092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113766" y="335595"/>
            <a:ext cx="1938011" cy="7131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9"/>
          <p:cNvSpPr txBox="1"/>
          <p:nvPr/>
        </p:nvSpPr>
        <p:spPr>
          <a:xfrm>
            <a:off x="8700954" y="3858682"/>
            <a:ext cx="2338387" cy="369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s-CO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Vite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9"/>
          <p:cNvSpPr txBox="1"/>
          <p:nvPr/>
        </p:nvSpPr>
        <p:spPr>
          <a:xfrm>
            <a:off x="8869641" y="1503865"/>
            <a:ext cx="155253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s-CO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Typescript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19"/>
          <p:cNvSpPr txBox="1"/>
          <p:nvPr/>
        </p:nvSpPr>
        <p:spPr>
          <a:xfrm>
            <a:off x="1426709" y="4228569"/>
            <a:ext cx="1593158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s-CO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TailwindCSS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Tailwind CSS Logo PNG Vector SVG, EPS, Ai formats (2.30 KB) Free Download" id="245" name="Google Shape;245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4996" y="4754770"/>
            <a:ext cx="3198540" cy="1089634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19"/>
          <p:cNvSpPr txBox="1"/>
          <p:nvPr/>
        </p:nvSpPr>
        <p:spPr>
          <a:xfrm>
            <a:off x="456236" y="416690"/>
            <a:ext cx="9815809" cy="5278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Work Sans"/>
              <a:buNone/>
            </a:pPr>
            <a:r>
              <a:rPr b="1" lang="es-CO" sz="36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Herramientas FRONTEND</a:t>
            </a:r>
            <a:endParaRPr b="1" sz="3600" u="none" cap="none" strike="noStrike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descr="File:Vitejs-logo.svg - Wikipedia" id="247" name="Google Shape;247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722014" y="4322096"/>
            <a:ext cx="2111793" cy="2052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19"/>
          <p:cNvSpPr txBox="1"/>
          <p:nvPr/>
        </p:nvSpPr>
        <p:spPr>
          <a:xfrm>
            <a:off x="1525909" y="1850675"/>
            <a:ext cx="2327655" cy="369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s-CO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React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React Mono SVG Logo | Free SVG logos &amp; icons download | SVGmix" id="249" name="Google Shape;249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64059" y="2316629"/>
            <a:ext cx="2743198" cy="89647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ypeScript Tutorial: A Guide to Using the Programming Language - The New  Stack" id="250" name="Google Shape;250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065357" y="1873197"/>
            <a:ext cx="3262584" cy="1339902"/>
          </a:xfrm>
          <a:prstGeom prst="rect">
            <a:avLst/>
          </a:prstGeom>
          <a:noFill/>
          <a:ln>
            <a:noFill/>
          </a:ln>
        </p:spPr>
      </p:pic>
      <p:pic>
        <p:nvPicPr>
          <p:cNvPr id="251" name="Google Shape;251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113766" y="335595"/>
            <a:ext cx="1938011" cy="713188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19"/>
          <p:cNvSpPr/>
          <p:nvPr/>
        </p:nvSpPr>
        <p:spPr>
          <a:xfrm>
            <a:off x="3906681" y="2180330"/>
            <a:ext cx="3686224" cy="3686224"/>
          </a:xfrm>
          <a:prstGeom prst="rect">
            <a:avLst/>
          </a:prstGeom>
          <a:noFill/>
          <a:ln>
            <a:noFill/>
          </a:ln>
        </p:spPr>
      </p:sp>
      <p:sp>
        <p:nvSpPr>
          <p:cNvPr id="253" name="Google Shape;253;p19"/>
          <p:cNvSpPr txBox="1"/>
          <p:nvPr/>
        </p:nvSpPr>
        <p:spPr>
          <a:xfrm>
            <a:off x="4494071" y="2242724"/>
            <a:ext cx="2327655" cy="369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s-CO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Node JS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0"/>
          <p:cNvSpPr txBox="1"/>
          <p:nvPr/>
        </p:nvSpPr>
        <p:spPr>
          <a:xfrm>
            <a:off x="0" y="2204402"/>
            <a:ext cx="3676916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s-CO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framework web en Python para construir la API REST (rutas, validación de request, etc.).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prende FastAPI desde 0" id="259" name="Google Shape;259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-277074" y="1070797"/>
            <a:ext cx="4041818" cy="147922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20"/>
          <p:cNvSpPr txBox="1"/>
          <p:nvPr/>
        </p:nvSpPr>
        <p:spPr>
          <a:xfrm>
            <a:off x="456236" y="416690"/>
            <a:ext cx="9815809" cy="5278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Times New Roman"/>
              <a:buNone/>
            </a:pPr>
            <a:r>
              <a:rPr b="1" lang="es-CO" sz="36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Herramientas BACKEND</a:t>
            </a:r>
            <a:endParaRPr/>
          </a:p>
        </p:txBody>
      </p:sp>
      <p:pic>
        <p:nvPicPr>
          <p:cNvPr descr="SQLAlchemy-logo.png — Quintagroup" id="261" name="Google Shape;261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08497" y="5008977"/>
            <a:ext cx="3676916" cy="778226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20"/>
          <p:cNvSpPr txBox="1"/>
          <p:nvPr/>
        </p:nvSpPr>
        <p:spPr>
          <a:xfrm>
            <a:off x="9366514" y="5074923"/>
            <a:ext cx="184235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s-CO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servidor ASGI para ejecutar FastAPI (con --reload en desarrollo).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20"/>
          <p:cNvSpPr txBox="1"/>
          <p:nvPr/>
        </p:nvSpPr>
        <p:spPr>
          <a:xfrm>
            <a:off x="983127" y="5787203"/>
            <a:ext cx="2327655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s-CO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capa de acceso a base de datos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vicorn" id="264" name="Google Shape;264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67929" y="4654137"/>
            <a:ext cx="1487905" cy="148790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ydantic | Sequoia Capital" id="265" name="Google Shape;265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311311" y="1509935"/>
            <a:ext cx="3303173" cy="656695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20"/>
          <p:cNvSpPr txBox="1"/>
          <p:nvPr/>
        </p:nvSpPr>
        <p:spPr>
          <a:xfrm>
            <a:off x="8888827" y="2204402"/>
            <a:ext cx="2581278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s-CO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modelos/schemas para validar y tipar los cuerpos de las peticiones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7" name="Google Shape;267;p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078547" y="3054114"/>
            <a:ext cx="3458877" cy="968486"/>
          </a:xfrm>
          <a:prstGeom prst="rect">
            <a:avLst/>
          </a:prstGeom>
          <a:noFill/>
          <a:ln>
            <a:noFill/>
          </a:ln>
        </p:spPr>
      </p:pic>
      <p:pic>
        <p:nvPicPr>
          <p:cNvPr id="268" name="Google Shape;268;p2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113766" y="335595"/>
            <a:ext cx="1938011" cy="713188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20"/>
          <p:cNvSpPr txBox="1"/>
          <p:nvPr/>
        </p:nvSpPr>
        <p:spPr>
          <a:xfrm>
            <a:off x="4830424" y="4203171"/>
            <a:ext cx="2327655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s-CO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Python es un lenguaje de programación utilizado.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21"/>
          <p:cNvSpPr txBox="1"/>
          <p:nvPr/>
        </p:nvSpPr>
        <p:spPr>
          <a:xfrm>
            <a:off x="456236" y="416690"/>
            <a:ext cx="9815809" cy="5278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Times New Roman"/>
              <a:buNone/>
            </a:pPr>
            <a:r>
              <a:rPr b="1" lang="es-CO" sz="36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Herramientas BASE DE DATOS</a:t>
            </a:r>
            <a:endParaRPr/>
          </a:p>
        </p:txBody>
      </p:sp>
      <p:pic>
        <p:nvPicPr>
          <p:cNvPr id="275" name="Google Shape;275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97072" y="3194365"/>
            <a:ext cx="2134135" cy="2201817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21"/>
          <p:cNvSpPr txBox="1"/>
          <p:nvPr/>
        </p:nvSpPr>
        <p:spPr>
          <a:xfrm>
            <a:off x="4571976" y="2444929"/>
            <a:ext cx="1584325" cy="369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s-CO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PostgreSQL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GitHub - Wikipedia, la enciclopedia libre" id="277" name="Google Shape;277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318500" y="4233863"/>
            <a:ext cx="1883834" cy="176635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Que es Git y para que sirve? | Victor Robles" id="278" name="Google Shape;278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64733" y="4110567"/>
            <a:ext cx="1875367" cy="1885950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21"/>
          <p:cNvSpPr txBox="1"/>
          <p:nvPr/>
        </p:nvSpPr>
        <p:spPr>
          <a:xfrm>
            <a:off x="1247760" y="3525208"/>
            <a:ext cx="2327655" cy="369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s-CO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Git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21"/>
          <p:cNvSpPr txBox="1"/>
          <p:nvPr/>
        </p:nvSpPr>
        <p:spPr>
          <a:xfrm>
            <a:off x="8095176" y="3525207"/>
            <a:ext cx="2327655" cy="369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s-CO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Github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1" name="Google Shape;281;p2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113766" y="335595"/>
            <a:ext cx="1938011" cy="7131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22"/>
          <p:cNvSpPr txBox="1"/>
          <p:nvPr/>
        </p:nvSpPr>
        <p:spPr>
          <a:xfrm>
            <a:off x="456236" y="416690"/>
            <a:ext cx="9815809" cy="5278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Times New Roman"/>
              <a:buNone/>
            </a:pPr>
            <a:r>
              <a:rPr b="1" lang="es-CO" sz="36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Librerias y APIs</a:t>
            </a:r>
            <a:endParaRPr b="1" sz="36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7" name="Google Shape;287;p22"/>
          <p:cNvSpPr txBox="1"/>
          <p:nvPr/>
        </p:nvSpPr>
        <p:spPr>
          <a:xfrm>
            <a:off x="568349" y="1433660"/>
            <a:ext cx="9199442" cy="50577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s-CO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Autenticación JWT con python-jose (jose.jwt): genera y valida tokens de acceso/refresh.</a:t>
            </a:r>
            <a:endParaRPr/>
          </a:p>
          <a:p>
            <a:pPr indent="-285750" lvl="0" marL="28575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s-CO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Encriptación de contraseñas con bcrypt: verifica y (si hace falta) migra contraseñas legacy a hash bcrypt.</a:t>
            </a:r>
            <a:r>
              <a:rPr lang="es-CO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  <a:p>
            <a:pPr indent="-285750" lvl="0" marL="28575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s-CO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smtplib + email (SMTP): envío de correos.  </a:t>
            </a:r>
            <a:endParaRPr/>
          </a:p>
          <a:p>
            <a:pPr indent="-285750" lvl="0" marL="28575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s-CO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imaplib + email: lectura de bandeja por IMAP (INBOX) para recoger emails (dashboard).</a:t>
            </a:r>
            <a:endParaRPr/>
          </a:p>
          <a:p>
            <a:pPr indent="-285750" lvl="0" marL="28575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s-CO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Lucide :iconos</a:t>
            </a:r>
            <a:endParaRPr/>
          </a:p>
          <a:p>
            <a:pPr indent="-285750" lvl="0" marL="28575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s-CO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OpenStreetMap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s-CO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Cloudinary: subida de imágenes (usa CLOUDINARY_URL y el paquete cloudinary).</a:t>
            </a:r>
            <a:endParaRPr/>
          </a:p>
          <a:p>
            <a:pPr indent="-285750" lvl="0" marL="28575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s-CO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Pagos con Wompi:  - requests (+ reintentos): llamadas a la API de Wompi.  - Webhook con validación de firma (integridad) y confirmación de reserva</a:t>
            </a:r>
            <a:endParaRPr/>
          </a:p>
          <a:p>
            <a:pPr indent="-285750" lvl="0" marL="28575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s-CO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Shadcn/ui: colección de componentes de interfaz de usuario (UI) reutilizables, modernos y accesibles para React.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8" name="Google Shape;288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113766" y="335595"/>
            <a:ext cx="1938011" cy="7131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23"/>
          <p:cNvSpPr txBox="1"/>
          <p:nvPr/>
        </p:nvSpPr>
        <p:spPr>
          <a:xfrm>
            <a:off x="456236" y="416690"/>
            <a:ext cx="9815809" cy="5278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Work Sans"/>
              <a:buNone/>
            </a:pPr>
            <a:r>
              <a:rPr b="1" lang="es-CO" sz="3600" u="none" cap="none" strike="noStrik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rPr>
              <a:t>Avances</a:t>
            </a:r>
            <a:endParaRPr/>
          </a:p>
        </p:txBody>
      </p:sp>
      <p:sp>
        <p:nvSpPr>
          <p:cNvPr id="294" name="Google Shape;294;p23"/>
          <p:cNvSpPr txBox="1"/>
          <p:nvPr/>
        </p:nvSpPr>
        <p:spPr>
          <a:xfrm>
            <a:off x="6853708" y="2782669"/>
            <a:ext cx="2020328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36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Click aqui</a:t>
            </a:r>
            <a:endParaRPr/>
          </a:p>
        </p:txBody>
      </p:sp>
      <p:pic>
        <p:nvPicPr>
          <p:cNvPr descr="GitHub Logo and symbol, meaning, history, PNG, brand" id="295" name="Google Shape;295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7532" y="1454332"/>
            <a:ext cx="6277913" cy="3531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" name="Google Shape;296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641305" y="5678118"/>
            <a:ext cx="1938011" cy="7131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126994" y="2460133"/>
            <a:ext cx="1938011" cy="7131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2020-10-01T23:51:28Z</dcterms:created>
  <dc:creator>Jorge Enrique Pedraza Sanchez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299739c-ad3d-4908-806e-4d91151a6e13_Enabled">
    <vt:lpwstr>true</vt:lpwstr>
  </property>
  <property fmtid="{D5CDD505-2E9C-101B-9397-08002B2CF9AE}" pid="3" name="MSIP_Label_1299739c-ad3d-4908-806e-4d91151a6e13_Method">
    <vt:lpwstr>Standard</vt:lpwstr>
  </property>
  <property fmtid="{D5CDD505-2E9C-101B-9397-08002B2CF9AE}" pid="4" name="MSIP_Label_1299739c-ad3d-4908-806e-4d91151a6e13_Name">
    <vt:lpwstr>All Employees (Unrestricted)</vt:lpwstr>
  </property>
  <property fmtid="{D5CDD505-2E9C-101B-9397-08002B2CF9AE}" pid="5" name="MSIP_Label_1299739c-ad3d-4908-806e-4d91151a6e13_SiteId">
    <vt:lpwstr>cbc2c381-2f2e-4d93-91d1-506c9316ace7</vt:lpwstr>
  </property>
  <property fmtid="{D5CDD505-2E9C-101B-9397-08002B2CF9AE}" pid="6" name="MSIP_Label_1299739c-ad3d-4908-806e-4d91151a6e13_ContentBits">
    <vt:lpwstr>0</vt:lpwstr>
  </property>
  <property fmtid="{D5CDD505-2E9C-101B-9397-08002B2CF9AE}" pid="7" name="MSIP_Label_1299739c-ad3d-4908-806e-4d91151a6e13_SetDate">
    <vt:lpwstr>2022-08-12T19:17:55Z</vt:lpwstr>
  </property>
  <property fmtid="{D5CDD505-2E9C-101B-9397-08002B2CF9AE}" pid="8" name="MSIP_Label_1299739c-ad3d-4908-806e-4d91151a6e13_ActionId">
    <vt:lpwstr>8c6bc714-34a9-4b82-914e-50b1377a2da4</vt:lpwstr>
  </property>
</Properties>
</file>