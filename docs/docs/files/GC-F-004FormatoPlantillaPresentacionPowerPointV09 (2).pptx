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omments/modernComment_21D_434DFD69.xml" ContentType="application/vnd.ms-powerpoint.comments+xml"/>
  <Override PartName="/ppt/comments/modernComment_22B_1523B216.xml" ContentType="application/vnd.ms-powerpoint.comments+xml"/>
  <Override PartName="/ppt/comments/modernComment_21B_430847FE.xml" ContentType="application/vnd.ms-powerpoint.comments+xml"/>
  <Override PartName="/ppt/comments/modernComment_229_DDB1419.xml" ContentType="application/vnd.ms-powerpoint.comments+xml"/>
  <Override PartName="/ppt/comments/modernComment_21C_10C0F3C0.xml" ContentType="application/vnd.ms-powerpoint.comments+xml"/>
  <Override PartName="/ppt/comments/modernComment_21E_F38A607B.xml" ContentType="application/vnd.ms-powerpoint.comments+xml"/>
  <Override PartName="/ppt/comments/modernComment_223_7C8BC086.xml" ContentType="application/vnd.ms-powerpoint.comments+xml"/>
  <Override PartName="/ppt/comments/modernComment_219_B5143432.xml" ContentType="application/vnd.ms-powerpoint.comments+xml"/>
  <Override PartName="/ppt/comments/modernComment_22D_3032A30.xml" ContentType="application/vnd.ms-powerpoint.comments+xml"/>
  <Override PartName="/ppt/comments/modernComment_218_1B4D6979.xml" ContentType="application/vnd.ms-powerpoint.comments+xml"/>
  <Override PartName="/ppt/comments/modernComment_221_7608637B.xml" ContentType="application/vnd.ms-powerpoint.comments+xml"/>
  <Override PartName="/ppt/comments/modernComment_22C_2461712B.xml" ContentType="application/vnd.ms-powerpoint.comments+xml"/>
  <Override PartName="/ppt/comments/modernComment_222_EF061CDA.xml" ContentType="application/vnd.ms-powerpoint.comments+xml"/>
  <Override PartName="/ppt/comments/modernComment_226_768363AE.xml" ContentType="application/vnd.ms-powerpoint.comments+xml"/>
  <Override PartName="/ppt/comments/modernComment_228_613163C3.xml" ContentType="application/vnd.ms-powerpoint.comments+xml"/>
  <Override PartName="/ppt/comments/modernComment_227_DDA10033.xml" ContentType="application/vnd.ms-powerpoint.comments+xml"/>
  <Override PartName="/ppt/comments/modernComment_22E_DB9C041C.xml" ContentType="application/vnd.ms-powerpoint.comments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handoutMasterIdLst>
    <p:handoutMasterId r:id="rId27"/>
  </p:handoutMasterIdLst>
  <p:sldIdLst>
    <p:sldId id="541" r:id="rId2"/>
    <p:sldId id="555" r:id="rId3"/>
    <p:sldId id="539" r:id="rId4"/>
    <p:sldId id="553" r:id="rId5"/>
    <p:sldId id="540" r:id="rId6"/>
    <p:sldId id="542" r:id="rId7"/>
    <p:sldId id="547" r:id="rId8"/>
    <p:sldId id="537" r:id="rId9"/>
    <p:sldId id="557" r:id="rId10"/>
    <p:sldId id="536" r:id="rId11"/>
    <p:sldId id="545" r:id="rId12"/>
    <p:sldId id="556" r:id="rId13"/>
    <p:sldId id="546" r:id="rId14"/>
    <p:sldId id="550" r:id="rId15"/>
    <p:sldId id="552" r:id="rId16"/>
    <p:sldId id="551" r:id="rId17"/>
    <p:sldId id="558" r:id="rId18"/>
    <p:sldId id="532" r:id="rId19"/>
    <p:sldId id="560" r:id="rId20"/>
    <p:sldId id="561" r:id="rId21"/>
    <p:sldId id="564" r:id="rId22"/>
    <p:sldId id="565" r:id="rId23"/>
    <p:sldId id="544" r:id="rId24"/>
    <p:sldId id="531" r:id="rId25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95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18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7DD254F-37CE-B72A-D929-E70B54B0ED62}" name="Einit Natalia Barajas Figueroa" initials="EF" userId="S::einit_barajas_soy.sena.edu.co#ext#@sena4.onmicrosoft.com::fc0b25c1-fd4c-4cd6-87fa-59bd7e2a3bf2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D4D4C"/>
    <a:srgbClr val="343433"/>
    <a:srgbClr val="FF6C00"/>
    <a:srgbClr val="38AA00"/>
    <a:srgbClr val="766363"/>
    <a:srgbClr val="FFF5EA"/>
    <a:srgbClr val="00324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1C2C552-820D-EC22-E3D7-C81A901524E2}" v="13" dt="2025-11-28T20:27:54.02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44" d="100"/>
          <a:sy n="44" d="100"/>
        </p:scale>
        <p:origin x="216" y="797"/>
      </p:cViewPr>
      <p:guideLst>
        <p:guide orient="horz" pos="595"/>
        <p:guide pos="3840"/>
        <p:guide orient="horz" pos="187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8/10/relationships/authors" Target="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init Natalia Barajas Figueroa" userId="S::einit_barajas_soy.sena.edu.co#ext#@sena4.onmicrosoft.com::fc0b25c1-fd4c-4cd6-87fa-59bd7e2a3bf2" providerId="AD" clId="Web-{F1C2C552-820D-EC22-E3D7-C81A901524E2}"/>
    <pc:docChg chg="modSld">
      <pc:chgData name="Einit Natalia Barajas Figueroa" userId="S::einit_barajas_soy.sena.edu.co#ext#@sena4.onmicrosoft.com::fc0b25c1-fd4c-4cd6-87fa-59bd7e2a3bf2" providerId="AD" clId="Web-{F1C2C552-820D-EC22-E3D7-C81A901524E2}" dt="2025-11-28T20:27:54.028" v="12" actId="1076"/>
      <pc:docMkLst>
        <pc:docMk/>
      </pc:docMkLst>
      <pc:sldChg chg="modSp">
        <pc:chgData name="Einit Natalia Barajas Figueroa" userId="S::einit_barajas_soy.sena.edu.co#ext#@sena4.onmicrosoft.com::fc0b25c1-fd4c-4cd6-87fa-59bd7e2a3bf2" providerId="AD" clId="Web-{F1C2C552-820D-EC22-E3D7-C81A901524E2}" dt="2025-11-28T20:27:54.028" v="12" actId="1076"/>
        <pc:sldMkLst>
          <pc:docMk/>
          <pc:sldMk cId="3927921496" sldId="543"/>
        </pc:sldMkLst>
        <pc:picChg chg="mod">
          <ac:chgData name="Einit Natalia Barajas Figueroa" userId="S::einit_barajas_soy.sena.edu.co#ext#@sena4.onmicrosoft.com::fc0b25c1-fd4c-4cd6-87fa-59bd7e2a3bf2" providerId="AD" clId="Web-{F1C2C552-820D-EC22-E3D7-C81A901524E2}" dt="2025-11-28T20:27:54.028" v="12" actId="1076"/>
          <ac:picMkLst>
            <pc:docMk/>
            <pc:sldMk cId="3927921496" sldId="543"/>
            <ac:picMk id="2" creationId="{767C6271-08B4-77E3-60B7-1B97F4CE02A0}"/>
          </ac:picMkLst>
        </pc:picChg>
      </pc:sldChg>
      <pc:sldChg chg="modSp">
        <pc:chgData name="Einit Natalia Barajas Figueroa" userId="S::einit_barajas_soy.sena.edu.co#ext#@sena4.onmicrosoft.com::fc0b25c1-fd4c-4cd6-87fa-59bd7e2a3bf2" providerId="AD" clId="Web-{F1C2C552-820D-EC22-E3D7-C81A901524E2}" dt="2025-11-28T20:23:30.732" v="9" actId="1076"/>
        <pc:sldMkLst>
          <pc:docMk/>
          <pc:sldMk cId="1630626755" sldId="552"/>
        </pc:sldMkLst>
        <pc:picChg chg="mod">
          <ac:chgData name="Einit Natalia Barajas Figueroa" userId="S::einit_barajas_soy.sena.edu.co#ext#@sena4.onmicrosoft.com::fc0b25c1-fd4c-4cd6-87fa-59bd7e2a3bf2" providerId="AD" clId="Web-{F1C2C552-820D-EC22-E3D7-C81A901524E2}" dt="2025-11-28T20:23:30.732" v="9" actId="1076"/>
          <ac:picMkLst>
            <pc:docMk/>
            <pc:sldMk cId="1630626755" sldId="552"/>
            <ac:picMk id="9" creationId="{451BC266-7E4F-76B4-F9B5-27D5181D0BEC}"/>
          </ac:picMkLst>
        </pc:picChg>
      </pc:sldChg>
    </pc:docChg>
  </pc:docChgLst>
</pc:chgInfo>
</file>

<file path=ppt/comments/modernComment_21B_430847FE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30BE37ED-6B30-4223-9B10-06D65EB9D9C6}" authorId="{27DD254F-37CE-B72A-D929-E70B54B0ED62}" created="2025-05-09T17:20:23.641">
    <pc:sldMkLst xmlns:pc="http://schemas.microsoft.com/office/powerpoint/2013/main/command">
      <pc:docMk/>
      <pc:sldMk cId="1124616190" sldId="539"/>
    </pc:sldMkLst>
    <p188:txBody>
      <a:bodyPr/>
      <a:lstStyle/>
      <a:p>
        <a:r>
          <a:rPr lang="en-US"/>
          <a:t>sebas</a:t>
        </a:r>
      </a:p>
    </p188:txBody>
  </p188:cm>
</p188:cmLst>
</file>

<file path=ppt/comments/modernComment_21C_10C0F3C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11CE1347-AC39-47DA-869C-8FE83F8BB829}" authorId="{27DD254F-37CE-B72A-D929-E70B54B0ED62}" created="2025-05-09T17:20:57.283">
    <pc:sldMkLst xmlns:pc="http://schemas.microsoft.com/office/powerpoint/2013/main/command">
      <pc:docMk/>
      <pc:sldMk cId="281080768" sldId="540"/>
    </pc:sldMkLst>
    <p188:txBody>
      <a:bodyPr/>
      <a:lstStyle/>
      <a:p>
        <a:r>
          <a:rPr lang="en-US"/>
          <a:t>nata</a:t>
        </a:r>
      </a:p>
    </p188:txBody>
  </p188:cm>
</p188:cmLst>
</file>

<file path=ppt/comments/modernComment_21D_434DFD69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6C7D49E4-DED9-468E-899C-36759F392501}" authorId="{27DD254F-37CE-B72A-D929-E70B54B0ED62}" created="2025-05-09T17:20:07.781">
    <pc:sldMkLst xmlns:pc="http://schemas.microsoft.com/office/powerpoint/2013/main/command">
      <pc:docMk/>
      <pc:sldMk cId="1129184617" sldId="541"/>
    </pc:sldMkLst>
    <p188:txBody>
      <a:bodyPr/>
      <a:lstStyle/>
      <a:p>
        <a:r>
          <a:rPr lang="en-US"/>
          <a:t>sebas</a:t>
        </a:r>
      </a:p>
    </p188:txBody>
  </p188:cm>
</p188:cmLst>
</file>

<file path=ppt/comments/modernComment_21E_F38A607B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20918AB3-C62C-4B09-8CAF-EA0690183F3F}" authorId="{27DD254F-37CE-B72A-D929-E70B54B0ED62}" created="2025-05-09T17:20:51.080">
    <pc:sldMkLst xmlns:pc="http://schemas.microsoft.com/office/powerpoint/2013/main/command">
      <pc:docMk/>
      <pc:sldMk cId="4085932155" sldId="542"/>
    </pc:sldMkLst>
    <p188:txBody>
      <a:bodyPr/>
      <a:lstStyle/>
      <a:p>
        <a:r>
          <a:rPr lang="en-US"/>
          <a:t>sebas</a:t>
        </a:r>
      </a:p>
    </p188:txBody>
  </p188:cm>
</p188:cmLst>
</file>

<file path=ppt/comments/modernComment_22B_1523B216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BAC63BCA-4324-48A6-BE18-5EA2CFC287F4}" authorId="{27DD254F-37CE-B72A-D929-E70B54B0ED62}" created="2025-05-09T17:21:05.549">
    <pc:sldMkLst xmlns:pc="http://schemas.microsoft.com/office/powerpoint/2013/main/command">
      <pc:docMk/>
      <pc:sldMk cId="1971142826" sldId="535"/>
    </pc:sldMkLst>
    <p188:txBody>
      <a:bodyPr/>
      <a:lstStyle/>
      <a:p>
        <a:r>
          <a:rPr lang="en-US"/>
          <a:t>nata</a:t>
        </a:r>
      </a:p>
    </p188:txBody>
  </p188:cm>
</p188:cmLst>
</file>

<file path=ppt/comments/modernComment_22C_2461712B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28F456A8-017C-44BB-B0DA-251F321016DF}" authorId="{27DD254F-37CE-B72A-D929-E70B54B0ED62}" created="2025-05-09T17:23:09.288">
    <pc:sldMkLst xmlns:pc="http://schemas.microsoft.com/office/powerpoint/2013/main/command">
      <pc:docMk/>
      <pc:sldMk cId="244571600" sldId="554"/>
    </pc:sldMkLst>
    <p188:txBody>
      <a:bodyPr/>
      <a:lstStyle/>
      <a:p>
        <a:r>
          <a:rPr lang="en-US"/>
          <a:t>2</a:t>
        </a:r>
      </a:p>
    </p188:txBody>
  </p188:cm>
</p188:cmLst>
</file>

<file path=ppt/comments/modernComment_22D_3032A3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13417762-9219-4DAF-B33E-5393D017C703}" authorId="{27DD254F-37CE-B72A-D929-E70B54B0ED62}" created="2025-05-09T17:21:40.691">
    <pc:sldMkLst xmlns:pc="http://schemas.microsoft.com/office/powerpoint/2013/main/command">
      <pc:docMk/>
      <pc:sldMk cId="458058105" sldId="536"/>
    </pc:sldMkLst>
    <p188:txBody>
      <a:bodyPr/>
      <a:lstStyle/>
      <a:p>
        <a:r>
          <a:rPr lang="en-US"/>
          <a:t>nata</a:t>
        </a:r>
      </a:p>
    </p188:txBody>
  </p188:cm>
</p188:cmLst>
</file>

<file path=ppt/comments/modernComment_22E_DB9C041C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A9B19FBF-A587-4E31-A5A9-F0099AA3C3AC}" authorId="{27DD254F-37CE-B72A-D929-E70B54B0ED62}" created="2025-05-09T17:22:58.537">
    <pc:sldMkLst xmlns:pc="http://schemas.microsoft.com/office/powerpoint/2013/main/command">
      <pc:docMk/>
      <pc:sldMk cId="3718316083" sldId="551"/>
    </pc:sldMkLst>
    <p188:txBody>
      <a:bodyPr/>
      <a:lstStyle/>
      <a:p>
        <a:r>
          <a:rPr lang="en-US"/>
          <a:t>nata</a:t>
        </a:r>
      </a:p>
    </p188:txBody>
  </p188:cm>
</p188:cmLst>
</file>

<file path=ppt/comments/modernComment_218_1B4D6979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BF25E645-1C7D-4B94-AF83-349044F6C4A1}" authorId="{27DD254F-37CE-B72A-D929-E70B54B0ED62}" created="2025-05-09T17:21:40.691">
    <pc:sldMkLst xmlns:pc="http://schemas.microsoft.com/office/powerpoint/2013/main/command">
      <pc:docMk/>
      <pc:sldMk cId="458058105" sldId="536"/>
    </pc:sldMkLst>
    <p188:txBody>
      <a:bodyPr/>
      <a:lstStyle/>
      <a:p>
        <a:r>
          <a:rPr lang="en-US"/>
          <a:t>nata</a:t>
        </a:r>
      </a:p>
    </p188:txBody>
  </p188:cm>
</p188:cmLst>
</file>

<file path=ppt/comments/modernComment_219_B5143432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71994EE0-44FA-481C-B4D0-1439E29A1575}" authorId="{27DD254F-37CE-B72A-D929-E70B54B0ED62}" created="2025-05-09T17:21:13.893">
    <pc:sldMkLst xmlns:pc="http://schemas.microsoft.com/office/powerpoint/2013/main/command">
      <pc:docMk/>
      <pc:sldMk cId="3038000178" sldId="537"/>
    </pc:sldMkLst>
    <p188:txBody>
      <a:bodyPr/>
      <a:lstStyle/>
      <a:p>
        <a:r>
          <a:rPr lang="en-US"/>
          <a:t>nata</a:t>
        </a:r>
      </a:p>
    </p188:txBody>
  </p188:cm>
</p188:cmLst>
</file>

<file path=ppt/comments/modernComment_221_7608637B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F6168791-F2B9-4ABB-96A9-F90BB5551799}" authorId="{27DD254F-37CE-B72A-D929-E70B54B0ED62}" created="2025-05-09T17:21:52.019">
    <pc:sldMkLst xmlns:pc="http://schemas.microsoft.com/office/powerpoint/2013/main/command">
      <pc:docMk/>
      <pc:sldMk cId="1980261243" sldId="545"/>
    </pc:sldMkLst>
    <p188:txBody>
      <a:bodyPr/>
      <a:lstStyle/>
      <a:p>
        <a:r>
          <a:rPr lang="en-US"/>
          <a:t>sebas</a:t>
        </a:r>
      </a:p>
    </p188:txBody>
  </p188:cm>
</p188:cmLst>
</file>

<file path=ppt/comments/modernComment_222_EF061CDA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A3F2F1A4-9DD4-4FE6-974E-CBBCD1B0ADFE}" authorId="{27DD254F-37CE-B72A-D929-E70B54B0ED62}" created="2025-05-09T17:22:13.958">
    <pc:sldMkLst xmlns:pc="http://schemas.microsoft.com/office/powerpoint/2013/main/command">
      <pc:docMk/>
      <pc:sldMk cId="4010155226" sldId="546"/>
    </pc:sldMkLst>
    <p188:txBody>
      <a:bodyPr/>
      <a:lstStyle/>
      <a:p>
        <a:r>
          <a:rPr lang="en-US"/>
          <a:t>sebas</a:t>
        </a:r>
      </a:p>
    </p188:txBody>
  </p188:cm>
</p188:cmLst>
</file>

<file path=ppt/comments/modernComment_223_7C8BC086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11D43E4A-0035-4D84-9B36-73E2E2448091}" authorId="{27DD254F-37CE-B72A-D929-E70B54B0ED62}" created="2025-05-09T17:21:19.706">
    <pc:sldMkLst xmlns:pc="http://schemas.microsoft.com/office/powerpoint/2013/main/command">
      <pc:docMk/>
      <pc:sldMk cId="2089533574" sldId="547"/>
    </pc:sldMkLst>
    <p188:txBody>
      <a:bodyPr/>
      <a:lstStyle/>
      <a:p>
        <a:r>
          <a:rPr lang="en-US"/>
          <a:t>nata</a:t>
        </a:r>
      </a:p>
    </p188:txBody>
  </p188:cm>
</p188:cmLst>
</file>

<file path=ppt/comments/modernComment_226_768363AE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FE43FFE9-36EB-4E53-883D-5EEF56E102CA}" authorId="{27DD254F-37CE-B72A-D929-E70B54B0ED62}" created="2025-05-09T17:22:30.802">
    <pc:sldMkLst xmlns:pc="http://schemas.microsoft.com/office/powerpoint/2013/main/command">
      <pc:docMk/>
      <pc:sldMk cId="1988322222" sldId="550"/>
    </pc:sldMkLst>
    <p188:txBody>
      <a:bodyPr/>
      <a:lstStyle/>
      <a:p>
        <a:r>
          <a:rPr lang="en-US"/>
          <a:t>nata</a:t>
        </a:r>
      </a:p>
    </p188:txBody>
  </p188:cm>
</p188:cmLst>
</file>

<file path=ppt/comments/modernComment_227_DDA10033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17DD6374-38E3-44F1-8480-188502E96A58}" authorId="{27DD254F-37CE-B72A-D929-E70B54B0ED62}" created="2025-05-09T17:22:58.537">
    <pc:sldMkLst xmlns:pc="http://schemas.microsoft.com/office/powerpoint/2013/main/command">
      <pc:docMk/>
      <pc:sldMk cId="3718316083" sldId="551"/>
    </pc:sldMkLst>
    <p188:txBody>
      <a:bodyPr/>
      <a:lstStyle/>
      <a:p>
        <a:r>
          <a:rPr lang="en-US"/>
          <a:t>nata</a:t>
        </a:r>
      </a:p>
    </p188:txBody>
  </p188:cm>
</p188:cmLst>
</file>

<file path=ppt/comments/modernComment_228_613163C3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0FD563B2-54F7-4635-8CC4-79887C0E67AD}" authorId="{27DD254F-37CE-B72A-D929-E70B54B0ED62}" created="2025-05-09T17:22:47.303">
    <pc:sldMkLst xmlns:pc="http://schemas.microsoft.com/office/powerpoint/2013/main/command">
      <pc:docMk/>
      <pc:sldMk cId="1630626755" sldId="552"/>
    </pc:sldMkLst>
    <p188:txBody>
      <a:bodyPr/>
      <a:lstStyle/>
      <a:p>
        <a:r>
          <a:rPr lang="en-US"/>
          <a:t>sebas</a:t>
        </a:r>
      </a:p>
    </p188:txBody>
  </p188:cm>
</p188:cmLst>
</file>

<file path=ppt/comments/modernComment_229_DDB1419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9EBFFACB-0D40-469D-A747-BBE84DF64409}" authorId="{27DD254F-37CE-B72A-D929-E70B54B0ED62}" created="2025-05-09T17:20:38.392">
    <pc:sldMkLst xmlns:pc="http://schemas.microsoft.com/office/powerpoint/2013/main/command">
      <pc:docMk/>
      <pc:sldMk cId="232461337" sldId="553"/>
    </pc:sldMkLst>
    <p188:txBody>
      <a:bodyPr/>
      <a:lstStyle/>
      <a:p>
        <a:r>
          <a:rPr lang="en-US"/>
          <a:t>sebas</a:t>
        </a:r>
      </a:p>
    </p188:txBody>
  </p188:cm>
</p188:cmLst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9999AFE6-721E-1D92-FFC0-72E02DBB97B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 dirty="0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BA598C0A-ECF9-B897-80D5-1AE7ABA3058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369B9F-131C-2846-AB8F-CEE154B4CAEB}" type="datetimeFigureOut">
              <a:rPr lang="es-CO" smtClean="0"/>
              <a:t>17/04/2026</a:t>
            </a:fld>
            <a:endParaRPr lang="es-CO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788F308B-0102-A0B4-9A23-E807C735E85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1E7CACDD-5D14-572A-2591-609B03F1682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93070F-3F68-E043-9CC3-B53B4F22454C}" type="slidenum">
              <a:rPr lang="es-CO" smtClean="0"/>
              <a:t>‹Nº›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47004591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 dirty="0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60CB96-A603-FF42-AE46-F5F75F80A67B}" type="datetimeFigureOut">
              <a:rPr lang="es-CO" smtClean="0"/>
              <a:t>17/04/2026</a:t>
            </a:fld>
            <a:endParaRPr lang="es-CO" dirty="0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 dirty="0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06C58E-460D-4A4B-B0C2-1191B9D14FCB}" type="slidenum">
              <a:rPr lang="es-CO" smtClean="0"/>
              <a:t>‹Nº›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0213026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95260C-E8AD-B240-9481-5B2FE14A60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8F4960B-AC04-294C-9B8A-B10830EF5F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9F720DD-BA8F-C443-A59E-F0EEAF843A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17/04/2026</a:t>
            </a:fld>
            <a:endParaRPr lang="es-CO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9A1676A-B50F-4048-B9A0-67475225D0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0B408DD-191C-9940-B5DC-9B04378C8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3794502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817F6C-CDBB-234C-B00B-255C60E548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9743F10-0075-0F47-A0C2-0071CB2B38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AB4C6E2-1F45-C54F-A384-6BA60BB5E5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17/04/2026</a:t>
            </a:fld>
            <a:endParaRPr lang="es-CO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F44B0E8-9C87-6C41-96F5-6419B5000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DD08979-815A-D443-B424-FB031F975D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6422036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4B3E04-413C-394A-94BD-6FD1D56E17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2E8DEAC-948A-0F4A-9098-1EA5A30BE3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F0E9B39-9659-7747-851C-17A0C73C8B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17/04/2026</a:t>
            </a:fld>
            <a:endParaRPr lang="es-CO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990AE33-28EE-274E-8E15-02A1474831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EA1D99B-0619-1847-8509-03589920E8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1303769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0119BB-39AA-4B48-BB60-3EE344FF24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8E8365F-8201-9D4B-85A4-E53E8819A8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674364B-4945-0A4D-A279-35519E3F46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868BFB1-0C38-A141-AB7B-22CD10FF3F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17/04/2026</a:t>
            </a:fld>
            <a:endParaRPr lang="es-CO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FF6516E-C104-3E4A-BC0F-DC137BD98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2C08597-16B2-3B42-B59A-8815DD7473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1425473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44272C-3F8B-AF4A-82BE-E5BE9107D7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4B8DA00-E62A-A54E-BC50-AEBAAF2516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6E9F7D8-1A62-544F-A4E2-23A591854B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21895FC1-5F27-B640-81B9-33366BECB58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400D0329-F1AE-FE44-A7B4-B16B429A0C9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5A80CE19-B065-6E4F-A207-999BBF94CA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17/04/2026</a:t>
            </a:fld>
            <a:endParaRPr lang="es-CO" dirty="0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299C46BF-4920-E443-B109-668969C5EB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9C417FDA-D0D0-AD4C-9F49-6FFEC4BC64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169540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C92FB5-1F0C-DE4B-8A05-DE0792814E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5AF7F14C-AA7D-3049-A400-4AC6EED537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17/04/2026</a:t>
            </a:fld>
            <a:endParaRPr lang="es-CO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E746EF7E-3912-BF43-BEB6-49819D4EEF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9BD767C9-209C-E54C-90E7-5176E4464B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8228511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77E92712-14E7-954C-8C23-33CD3DBD71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17/04/2026</a:t>
            </a:fld>
            <a:endParaRPr lang="es-CO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FD7BCE5F-F417-1247-9F26-F4B7134685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0B4FC7D-A6BA-0840-87AD-C71B1896B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5416207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F2BE35-F0B5-DA4A-BE9E-AACFF26FF1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E62C38B-5384-914E-829A-352266F70B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79E434B-6E01-8148-AB00-051DDD4020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E3E8B8D-7A8A-794B-83A8-6920142BBB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17/04/2026</a:t>
            </a:fld>
            <a:endParaRPr lang="es-CO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82F34C9-1A26-0B41-8AE3-21E599CC56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82100B2-B969-0340-BEE2-F5FE05353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697146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ADFDE3-8BDA-6F45-A442-3C2913AE52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C08B3433-597C-7E43-A088-A50E4434313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20DB791-C948-D149-A74A-0C0DFCA0B4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145138C-C370-6E42-902A-0DD2F4F614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17/04/2026</a:t>
            </a:fld>
            <a:endParaRPr lang="es-CO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A61561C-CA9F-0943-8A3E-60233368C6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7B72CA4-FB9F-FB4B-8159-119C3846C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0695029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8C07BF5-7EFA-9943-8CEE-7006AC893C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EFF53FB-B16B-7444-99CF-B7533C11E2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C9133D3-834D-0942-99DE-29F15E8DC4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17/04/2026</a:t>
            </a:fld>
            <a:endParaRPr lang="es-CO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A5A02E1-CB07-7943-ACA2-6FF8387D32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12BC7A9-2B5F-1841-91C8-9460E3E551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711478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C11DF48-6A7C-3349-8650-2AA87E5D5E6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5D61C96-3D9F-F745-A812-5EC81CEB48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3F61D3C-242D-F544-9883-3EEF515CE8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17/04/2026</a:t>
            </a:fld>
            <a:endParaRPr lang="es-CO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CAB2518-6961-A143-A5EE-C5606EBA48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86FEAD3-1533-7A45-8011-C0C84A1DCD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3816216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personalizado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CE09D5-8681-04F4-0AD1-7206C3FF51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EB62C8D-42BE-8DF8-DDA7-6DDCB2389C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17/04/2026</a:t>
            </a:fld>
            <a:endParaRPr lang="es-CO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19F9D5C3-AD35-C818-D069-AB2D8EBBEE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106A169-E84D-2DE1-E7CC-7058F9C00A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1456598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6EFFBE1-33C9-1D48-A916-7535B68EC6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778E02A-26CF-6C46-A280-67C4AA0551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CE7CDF9-2DDE-C04D-A9B9-78F138A1C3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986248-06F7-A441-A47A-264EBD310E11}" type="datetimeFigureOut">
              <a:rPr lang="es-CO" smtClean="0"/>
              <a:t>17/04/2026</a:t>
            </a:fld>
            <a:endParaRPr lang="es-CO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67570B4-267C-034E-B58B-04C03C9E55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041693D-7DB1-1144-97E3-85753EC9A0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E15DF6-230E-2E43-B847-68755106EC6D}" type="slidenum">
              <a:rPr lang="es-CO" smtClean="0"/>
              <a:t>‹Nº›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0626094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75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microsoft.com/office/2018/10/relationships/comments" Target="../comments/modernComment_21D_434DFD6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microsoft.com/office/2018/10/relationships/comments" Target="../comments/modernComment_22B_1523B21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microsoft.com/office/2018/10/relationships/comments" Target="../comments/modernComment_21B_430847FE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microsoft.com/office/2018/10/relationships/comments" Target="../comments/modernComment_229_DDB141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microsoft.com/office/2018/10/relationships/comments" Target="../comments/modernComment_21C_10C0F3C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microsoft.com/office/2018/10/relationships/comments" Target="../comments/modernComment_21E_F38A607B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microsoft.com/office/2018/10/relationships/comments" Target="../comments/modernComment_223_7C8BC08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microsoft.com/office/2018/10/relationships/comments" Target="../comments/modernComment_219_B514343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microsoft.com/office/2018/10/relationships/comments" Target="../comments/modernComment_22D_3032A3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microsoft.com/office/2018/10/relationships/comments" Target="../comments/modernComment_218_1B4D697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microsoft.com/office/2018/10/relationships/comments" Target="../comments/modernComment_221_7608637B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microsoft.com/office/2018/10/relationships/comments" Target="../comments/modernComment_22C_2461712B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oogle.com/spreadsheets/d/1ziGcEJIWWdArYEVR3MpIk33yreig74qm/edit?usp=drive_link&amp;ouid=118160846482597767338&amp;rtpof=true&amp;sd=true" TargetMode="External"/><Relationship Id="rId2" Type="http://schemas.microsoft.com/office/2018/10/relationships/comments" Target="../comments/modernComment_222_EF061CDA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microsoft.com/office/2018/10/relationships/comments" Target="../comments/modernComment_226_768363AE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microsoft.com/office/2018/10/relationships/comments" Target="../comments/modernComment_228_613163C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microsoft.com/office/2018/10/relationships/comments" Target="../comments/modernComment_227_DDA1003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microsoft.com/office/2018/10/relationships/comments" Target="../comments/modernComment_22E_DB9C041C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16.svg"/><Relationship Id="rId4" Type="http://schemas.openxmlformats.org/officeDocument/2006/relationships/image" Target="../media/image15.sv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7" Type="http://schemas.openxmlformats.org/officeDocument/2006/relationships/image" Target="../media/image3.pn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21.svg"/><Relationship Id="rId4" Type="http://schemas.openxmlformats.org/officeDocument/2006/relationships/image" Target="../media/image20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hyperlink" Target="https://github.com/SebastianPacheco05/Reservify" TargetMode="Externa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D1149976-59ED-86DE-CAFB-F26E38C394F4}"/>
              </a:ext>
            </a:extLst>
          </p:cNvPr>
          <p:cNvSpPr/>
          <p:nvPr/>
        </p:nvSpPr>
        <p:spPr>
          <a:xfrm>
            <a:off x="3421172" y="3786902"/>
            <a:ext cx="5344743" cy="1200329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defRPr sz="4000"/>
            </a:pPr>
            <a:r>
              <a:rPr lang="es-ES_tradnl" sz="2000" dirty="0">
                <a:solidFill>
                  <a:schemeClr val="bg1"/>
                </a:solidFill>
                <a:latin typeface="Work Sans Medium Roman"/>
                <a:ea typeface="+mj-ea"/>
                <a:cs typeface="+mj-cs"/>
                <a:sym typeface="Calibri"/>
              </a:rPr>
              <a:t>Centro de Servicios Empresarial y Turísticos </a:t>
            </a:r>
            <a:endParaRPr lang="es-ES_tradnl" sz="2000" dirty="0">
              <a:solidFill>
                <a:schemeClr val="bg1"/>
              </a:solidFill>
              <a:latin typeface="Work Sans Medium Roman" pitchFamily="2" charset="77"/>
              <a:ea typeface="+mj-ea"/>
              <a:cs typeface="+mj-cs"/>
            </a:endParaRPr>
          </a:p>
          <a:p>
            <a:pPr algn="ctr">
              <a:lnSpc>
                <a:spcPct val="90000"/>
              </a:lnSpc>
              <a:spcBef>
                <a:spcPct val="0"/>
              </a:spcBef>
              <a:defRPr sz="4000"/>
            </a:pPr>
            <a:r>
              <a:rPr lang="es-ES_tradnl" sz="2000" dirty="0">
                <a:solidFill>
                  <a:schemeClr val="bg1"/>
                </a:solidFill>
                <a:latin typeface="Work Sans Medium Roman"/>
                <a:ea typeface="+mj-ea"/>
                <a:cs typeface="+mj-cs"/>
                <a:sym typeface="Calibri"/>
              </a:rPr>
              <a:t>Einit Natalia Barajas </a:t>
            </a:r>
            <a:endParaRPr lang="es-ES_tradnl" sz="2000" dirty="0">
              <a:solidFill>
                <a:schemeClr val="bg1"/>
              </a:solidFill>
              <a:latin typeface="Work Sans Medium Roman" pitchFamily="2" charset="77"/>
              <a:ea typeface="+mj-ea"/>
              <a:cs typeface="+mj-cs"/>
            </a:endParaRPr>
          </a:p>
          <a:p>
            <a:pPr algn="ctr">
              <a:lnSpc>
                <a:spcPct val="90000"/>
              </a:lnSpc>
              <a:spcBef>
                <a:spcPct val="0"/>
              </a:spcBef>
              <a:defRPr sz="4000"/>
            </a:pPr>
            <a:r>
              <a:rPr lang="es-ES_tradnl" sz="2000" dirty="0">
                <a:solidFill>
                  <a:schemeClr val="bg1"/>
                </a:solidFill>
                <a:latin typeface="Work Sans Medium Roman"/>
                <a:ea typeface="+mj-ea"/>
                <a:cs typeface="+mj-cs"/>
                <a:sym typeface="Calibri"/>
              </a:rPr>
              <a:t>Sebastian Yesid Pacheco Rivera</a:t>
            </a:r>
            <a:br>
              <a:rPr lang="es-ES_tradnl" sz="2000" dirty="0">
                <a:solidFill>
                  <a:schemeClr val="bg1"/>
                </a:solidFill>
                <a:latin typeface="Work Sans Medium Roman"/>
                <a:ea typeface="+mj-ea"/>
                <a:cs typeface="+mj-cs"/>
                <a:sym typeface="Calibri"/>
              </a:rPr>
            </a:br>
            <a:r>
              <a:rPr lang="es-ES_tradnl" sz="2000" dirty="0">
                <a:solidFill>
                  <a:schemeClr val="bg1"/>
                </a:solidFill>
                <a:latin typeface="Work Sans Medium Roman"/>
                <a:ea typeface="+mj-ea"/>
                <a:cs typeface="+mj-cs"/>
                <a:sym typeface="Calibri"/>
              </a:rPr>
              <a:t>juan pacheco pachón</a:t>
            </a:r>
            <a:endParaRPr lang="es-ES_tradnl" sz="2000" dirty="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35BFFB67-C3D4-337D-C327-AB25D270EADA}"/>
              </a:ext>
            </a:extLst>
          </p:cNvPr>
          <p:cNvSpPr txBox="1"/>
          <p:nvPr/>
        </p:nvSpPr>
        <p:spPr>
          <a:xfrm>
            <a:off x="1005612" y="1713252"/>
            <a:ext cx="10175864" cy="1446550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algn="ctr">
              <a:defRPr/>
            </a:pPr>
            <a:r>
              <a:rPr lang="es-ES" sz="4400" dirty="0">
                <a:solidFill>
                  <a:schemeClr val="bg1"/>
                </a:solidFill>
                <a:ea typeface="+mn-lt"/>
                <a:cs typeface="+mn-lt"/>
              </a:rPr>
              <a:t>Implementación del software de reservas </a:t>
            </a:r>
            <a:endParaRPr lang="es-CO" sz="4400" b="1" dirty="0">
              <a:solidFill>
                <a:schemeClr val="bg1"/>
              </a:solidFill>
              <a:latin typeface="WORK SANS BOLD ROMAN" pitchFamily="2" charset="77"/>
              <a:ea typeface="+mn-lt"/>
              <a:cs typeface="+mn-lt"/>
            </a:endParaRPr>
          </a:p>
          <a:p>
            <a:pPr algn="ctr">
              <a:defRPr/>
            </a:pPr>
            <a:r>
              <a:rPr lang="es-ES" sz="4400" dirty="0">
                <a:solidFill>
                  <a:schemeClr val="bg1"/>
                </a:solidFill>
                <a:ea typeface="+mn-lt"/>
                <a:cs typeface="+mn-lt"/>
              </a:rPr>
              <a:t>Enfocados en restaurantes de Bucaramanga</a:t>
            </a:r>
            <a:endParaRPr lang="es-CO" sz="4400" b="1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WORK SANS BOLD ROMAN" pitchFamily="2" charset="77"/>
            </a:endParaRPr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38CE8666-1D2A-4D01-34E5-54FD74A39FC0}"/>
              </a:ext>
            </a:extLst>
          </p:cNvPr>
          <p:cNvCxnSpPr>
            <a:cxnSpLocks/>
          </p:cNvCxnSpPr>
          <p:nvPr/>
        </p:nvCxnSpPr>
        <p:spPr>
          <a:xfrm>
            <a:off x="5013630" y="3555133"/>
            <a:ext cx="2247544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ángulo 3">
            <a:extLst>
              <a:ext uri="{FF2B5EF4-FFF2-40B4-BE49-F238E27FC236}">
                <a16:creationId xmlns:a16="http://schemas.microsoft.com/office/drawing/2014/main" id="{1E91B7AF-6831-8D97-C796-119F20A22AA7}"/>
              </a:ext>
            </a:extLst>
          </p:cNvPr>
          <p:cNvSpPr/>
          <p:nvPr/>
        </p:nvSpPr>
        <p:spPr>
          <a:xfrm>
            <a:off x="3466760" y="4874200"/>
            <a:ext cx="5344743" cy="369332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defRPr sz="4000"/>
            </a:pPr>
            <a:r>
              <a:rPr lang="es-ES_tradnl" sz="2000" dirty="0">
                <a:solidFill>
                  <a:schemeClr val="bg1"/>
                </a:solidFill>
                <a:latin typeface="Work Sans Medium Roman"/>
                <a:ea typeface="Calibri"/>
                <a:cs typeface="Calibri"/>
              </a:rPr>
              <a:t>Ficha:2993127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F515A13-7717-78BA-728D-FCE1A1E1089D}"/>
              </a:ext>
            </a:extLst>
          </p:cNvPr>
          <p:cNvSpPr txBox="1"/>
          <p:nvPr/>
        </p:nvSpPr>
        <p:spPr>
          <a:xfrm>
            <a:off x="3841595" y="561279"/>
            <a:ext cx="4583151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s-CO" sz="6000" b="1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RESERVIFY</a:t>
            </a:r>
            <a:endParaRPr lang="en-US" dirty="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29CE61BB-07C5-F9CF-3E4D-272F097B89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41305" y="5678118"/>
            <a:ext cx="1938011" cy="713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9184617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A3419F3-A84C-6447-B375-21CAAA8C5C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6E6265A-A527-1137-F81B-1FE32C1B2D95}"/>
              </a:ext>
            </a:extLst>
          </p:cNvPr>
          <p:cNvSpPr txBox="1"/>
          <p:nvPr/>
        </p:nvSpPr>
        <p:spPr>
          <a:xfrm>
            <a:off x="4201782" y="370217"/>
            <a:ext cx="3462791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5400" b="1" dirty="0">
                <a:ea typeface="Calibri"/>
                <a:cs typeface="Calibri"/>
              </a:rPr>
              <a:t>ANALISTAS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D5255C7-D178-80A0-026E-227259370E62}"/>
              </a:ext>
            </a:extLst>
          </p:cNvPr>
          <p:cNvSpPr txBox="1"/>
          <p:nvPr/>
        </p:nvSpPr>
        <p:spPr>
          <a:xfrm>
            <a:off x="1021772" y="1177635"/>
            <a:ext cx="5385954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>
                <a:ea typeface="Calibri"/>
                <a:cs typeface="Calibri"/>
              </a:rPr>
              <a:t>Einit Natalia Barajas Figueroa</a:t>
            </a:r>
          </a:p>
          <a:p>
            <a:r>
              <a:rPr lang="en-US" sz="2400" b="1" dirty="0">
                <a:ea typeface="Calibri"/>
                <a:cs typeface="Calibri"/>
              </a:rPr>
              <a:t>Sebastian Yedid Pacheco Rivera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B248C25-403C-F73C-C90C-DDE75F8A2DD9}"/>
              </a:ext>
            </a:extLst>
          </p:cNvPr>
          <p:cNvSpPr txBox="1"/>
          <p:nvPr/>
        </p:nvSpPr>
        <p:spPr>
          <a:xfrm>
            <a:off x="3372796" y="2010215"/>
            <a:ext cx="5455226" cy="8771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300" b="1" dirty="0">
                <a:solidFill>
                  <a:srgbClr val="002060"/>
                </a:solidFill>
                <a:latin typeface="Source Sans Pro"/>
                <a:ea typeface="Source Sans Pro"/>
              </a:rPr>
              <a:t>PERFIL PROFESIONAL </a:t>
            </a:r>
            <a:endParaRPr lang="en-US" dirty="0"/>
          </a:p>
          <a:p>
            <a:pPr algn="l"/>
            <a:endParaRPr lang="en-US" dirty="0">
              <a:ea typeface="Calibri"/>
              <a:cs typeface="Calibri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9028142-EFBC-86B8-DB28-9FD052EA4C96}"/>
              </a:ext>
            </a:extLst>
          </p:cNvPr>
          <p:cNvSpPr txBox="1"/>
          <p:nvPr/>
        </p:nvSpPr>
        <p:spPr>
          <a:xfrm>
            <a:off x="847610" y="2786266"/>
            <a:ext cx="10490568" cy="221599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dirty="0">
                <a:ea typeface="+mn-lt"/>
                <a:cs typeface="+mn-lt"/>
              </a:rPr>
              <a:t>El tecnólogo ADSO se desempeñará Desarrollo soluciones de tipo software en el que prestará servicios personales como analista, diseñador y programador de software independiente o, en proyectos específicos de acuerdo con la necesidad del servicio, adquiriendo la capacidad de autoaprendizaje y actualización de las nuevas tendencias de desarrollo de software en el mercado, al tiempo que mejora la dinámica y Economía del País. </a:t>
            </a:r>
            <a:endParaRPr lang="en-US" dirty="0">
              <a:ea typeface="+mn-lt"/>
              <a:cs typeface="+mn-lt"/>
            </a:endParaRPr>
          </a:p>
          <a:p>
            <a:endParaRPr lang="en-US" sz="2000" b="1" dirty="0">
              <a:latin typeface="Arial"/>
              <a:cs typeface="Arial"/>
            </a:endParaRPr>
          </a:p>
          <a:p>
            <a:pPr algn="l"/>
            <a:endParaRPr lang="en-US" dirty="0">
              <a:ea typeface="Calibri"/>
              <a:cs typeface="Calibri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7A59CAD-B976-10C4-5DA7-614C28AA2FB3}"/>
              </a:ext>
            </a:extLst>
          </p:cNvPr>
          <p:cNvSpPr txBox="1"/>
          <p:nvPr/>
        </p:nvSpPr>
        <p:spPr>
          <a:xfrm>
            <a:off x="3372928" y="4666891"/>
            <a:ext cx="5719313" cy="110799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s-CO" sz="3300" b="1" dirty="0">
                <a:solidFill>
                  <a:srgbClr val="002060"/>
                </a:solidFill>
                <a:latin typeface="Source Sans Pro"/>
              </a:rPr>
              <a:t>VINCULACIÓN INSTITUCIONAL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86E8CD0-9AD6-33D2-1B99-3816BC879BBE}"/>
              </a:ext>
            </a:extLst>
          </p:cNvPr>
          <p:cNvSpPr txBox="1"/>
          <p:nvPr/>
        </p:nvSpPr>
        <p:spPr>
          <a:xfrm>
            <a:off x="4724400" y="5227608"/>
            <a:ext cx="2743200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s-419" sz="2000" b="1" dirty="0">
                <a:latin typeface="Arial"/>
              </a:rPr>
              <a:t>Aprendiz 08/07/ 2024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9A12EBFB-4CF0-6B7C-5CB5-3E7DB5F03A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41305" y="5678118"/>
            <a:ext cx="1938011" cy="713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660886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534A4208-7DDE-681C-B3CE-D7CE52BA4A83}"/>
              </a:ext>
            </a:extLst>
          </p:cNvPr>
          <p:cNvSpPr txBox="1"/>
          <p:nvPr/>
        </p:nvSpPr>
        <p:spPr>
          <a:xfrm>
            <a:off x="1468229" y="1874367"/>
            <a:ext cx="645367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5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Work Sans Bold Roman" pitchFamily="2" charset="77"/>
                <a:ea typeface="+mn-ea"/>
                <a:cs typeface="+mn-cs"/>
              </a:rPr>
              <a:t>Introducción</a:t>
            </a:r>
            <a:endParaRPr kumimoji="0" lang="es-ES" sz="40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Work Sans Bold Roman" pitchFamily="2" charset="77"/>
              <a:ea typeface="+mn-ea"/>
              <a:cs typeface="+mn-cs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EA7026A2-4DA2-FAFF-9A67-EA8EBE871B43}"/>
              </a:ext>
            </a:extLst>
          </p:cNvPr>
          <p:cNvSpPr txBox="1"/>
          <p:nvPr/>
        </p:nvSpPr>
        <p:spPr>
          <a:xfrm>
            <a:off x="1467968" y="2865455"/>
            <a:ext cx="8968029" cy="29238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CO" sz="2400" dirty="0">
                <a:ea typeface="+mn-lt"/>
                <a:cs typeface="+mn-lt"/>
              </a:rPr>
              <a:t>En Colombia, la oferta de aplicaciones para realizar reservas en restaurantes es limitada, lo que dificulta que los usuarios puedan encontrar y reservar fácilmente un establecimiento cercano a su ubicación.</a:t>
            </a:r>
          </a:p>
          <a:p>
            <a:endParaRPr lang="es-CO" sz="2400" dirty="0">
              <a:ea typeface="+mn-lt"/>
              <a:cs typeface="+mn-lt"/>
            </a:endParaRPr>
          </a:p>
          <a:p>
            <a:endParaRPr lang="es-CO" sz="2400" dirty="0">
              <a:latin typeface="Calibri"/>
              <a:ea typeface="Calibri"/>
              <a:cs typeface="Calibri"/>
            </a:endParaRPr>
          </a:p>
          <a:p>
            <a:endParaRPr lang="es-CO" sz="2400" dirty="0">
              <a:latin typeface="Calibri"/>
              <a:ea typeface="Calibri"/>
              <a:cs typeface="Calibri"/>
            </a:endParaRPr>
          </a:p>
          <a:p>
            <a:endParaRPr lang="es-CO" sz="1600" dirty="0">
              <a:latin typeface="Work Sans Light Roman" pitchFamily="2" charset="77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EF833615-C722-C866-0B24-F4AF600645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72889" y="1068668"/>
            <a:ext cx="1938011" cy="713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4616190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6CD774-2A78-7EE5-AB05-2AC8883CB6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EFF3BD05-BFAB-A6DB-3421-35B91A0FB1E4}"/>
              </a:ext>
            </a:extLst>
          </p:cNvPr>
          <p:cNvSpPr txBox="1"/>
          <p:nvPr/>
        </p:nvSpPr>
        <p:spPr>
          <a:xfrm>
            <a:off x="1468229" y="1874367"/>
            <a:ext cx="6453678" cy="92333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5400" b="1" dirty="0">
                <a:solidFill>
                  <a:prstClr val="black">
                    <a:lumMod val="75000"/>
                    <a:lumOff val="25000"/>
                  </a:prstClr>
                </a:solidFill>
                <a:latin typeface="Work Sans Bold Roman"/>
              </a:rPr>
              <a:t>Problemática</a:t>
            </a:r>
            <a:endParaRPr kumimoji="0" lang="es-ES" sz="40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Work Sans Bold Roman" pitchFamily="2" charset="77"/>
              <a:ea typeface="+mn-ea"/>
              <a:cs typeface="+mn-cs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E97599AE-DF5D-6C3D-9CCA-5EAF7142A041}"/>
              </a:ext>
            </a:extLst>
          </p:cNvPr>
          <p:cNvSpPr txBox="1"/>
          <p:nvPr/>
        </p:nvSpPr>
        <p:spPr>
          <a:xfrm>
            <a:off x="1467968" y="2865455"/>
            <a:ext cx="8968029" cy="230832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CO" sz="2400" dirty="0">
                <a:ea typeface="+mn-lt"/>
                <a:cs typeface="+mn-lt"/>
              </a:rPr>
              <a:t>La escasa demanda de aplicaciones de reservas, junto con la limitada disponibilidad de información sobre los establecimientos que las utilizan, creando una escasa información al usuario obstaculiza una gestión eficiente y oportuna de las reservas. Asimismo, numerosos restaurantes requieren estrategias de visibilidad y promoción que les permitan posicionarse adecuadamente en el mercado.</a:t>
            </a:r>
            <a:endParaRPr lang="en-US" dirty="0">
              <a:ea typeface="+mn-lt"/>
              <a:cs typeface="+mn-lt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106AD529-3E0C-A646-590F-E5C05ABC39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20136" y="1161179"/>
            <a:ext cx="1938011" cy="713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461337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015D167A-EE62-EA02-E6F4-53710691F485}"/>
              </a:ext>
            </a:extLst>
          </p:cNvPr>
          <p:cNvSpPr txBox="1"/>
          <p:nvPr/>
        </p:nvSpPr>
        <p:spPr>
          <a:xfrm>
            <a:off x="1776007" y="1892057"/>
            <a:ext cx="7550214" cy="92333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kumimoji="0" lang="es-ES" sz="5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Work Sans Bold Roman"/>
              </a:rPr>
              <a:t>Justificación</a:t>
            </a:r>
            <a:r>
              <a:rPr lang="es-ES" sz="5400" b="1" dirty="0">
                <a:solidFill>
                  <a:prstClr val="black">
                    <a:lumMod val="75000"/>
                    <a:lumOff val="25000"/>
                  </a:prstClr>
                </a:solidFill>
                <a:latin typeface="Work Sans Bold Roman"/>
              </a:rPr>
              <a:t> </a:t>
            </a:r>
            <a:endParaRPr lang="es-ES" sz="5400" dirty="0">
              <a:solidFill>
                <a:prstClr val="black">
                  <a:lumMod val="75000"/>
                  <a:lumOff val="25000"/>
                </a:prstClr>
              </a:solidFill>
              <a:ea typeface="Calibri"/>
              <a:cs typeface="Calibri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43D7E6F2-F79F-C5BE-8836-E85B5D641C6D}"/>
              </a:ext>
            </a:extLst>
          </p:cNvPr>
          <p:cNvSpPr txBox="1"/>
          <p:nvPr/>
        </p:nvSpPr>
        <p:spPr>
          <a:xfrm>
            <a:off x="1774627" y="2986260"/>
            <a:ext cx="8968029" cy="218521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CO" sz="2400" dirty="0">
                <a:ea typeface="+mn-lt"/>
                <a:cs typeface="+mn-lt"/>
              </a:rPr>
              <a:t>La falta de software especializado en la búsqueda de reservas y en la gestión eficiente de las mismas por parte del usuario, junto con la deficiente organización y optimización de los sistemas actuales, representa una problemática significativa</a:t>
            </a:r>
          </a:p>
          <a:p>
            <a:endParaRPr lang="es-CO" sz="2400" dirty="0">
              <a:ea typeface="Calibri"/>
              <a:cs typeface="Calibri"/>
            </a:endParaRPr>
          </a:p>
          <a:p>
            <a:endParaRPr lang="es-CO" sz="1600" dirty="0">
              <a:ea typeface="Calibri"/>
              <a:cs typeface="Calibri"/>
            </a:endParaRP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F41AE2BA-ACFC-565B-F492-17A8E7E16A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01690" y="5171474"/>
            <a:ext cx="1938011" cy="713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080768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015D167A-EE62-EA02-E6F4-53710691F485}"/>
              </a:ext>
            </a:extLst>
          </p:cNvPr>
          <p:cNvSpPr txBox="1"/>
          <p:nvPr/>
        </p:nvSpPr>
        <p:spPr>
          <a:xfrm>
            <a:off x="605128" y="423813"/>
            <a:ext cx="3669714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lang="es-ES" sz="2400" b="1" dirty="0">
                <a:solidFill>
                  <a:prstClr val="black">
                    <a:lumMod val="75000"/>
                    <a:lumOff val="25000"/>
                  </a:prstClr>
                </a:solidFill>
                <a:ea typeface="+mn-lt"/>
                <a:cs typeface="+mn-lt"/>
              </a:rPr>
              <a:t>Árbol </a:t>
            </a:r>
            <a:r>
              <a:rPr lang="es-ES" sz="2400" b="1" dirty="0">
                <a:solidFill>
                  <a:prstClr val="black">
                    <a:lumMod val="75000"/>
                    <a:lumOff val="25000"/>
                  </a:prstClr>
                </a:solidFill>
                <a:latin typeface="Calibri"/>
                <a:ea typeface="Calibri"/>
                <a:cs typeface="Calibri"/>
              </a:rPr>
              <a:t>de </a:t>
            </a:r>
            <a:r>
              <a:rPr lang="es-ES" sz="2400" b="1" dirty="0">
                <a:solidFill>
                  <a:prstClr val="black">
                    <a:lumMod val="75000"/>
                    <a:lumOff val="25000"/>
                  </a:prstClr>
                </a:solidFill>
                <a:latin typeface="Work Sans Bold Roman"/>
              </a:rPr>
              <a:t>Problemas</a:t>
            </a:r>
            <a:endParaRPr lang="es-ES" sz="24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Work Sans Bold Roman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ES" sz="24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Work Sans Bold Roman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358C1E2-4B46-D591-8A84-9176CCCF72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742" y="0"/>
            <a:ext cx="10966515" cy="6858000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DE617FD4-3964-617F-50A5-777E387404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41305" y="5678118"/>
            <a:ext cx="1938011" cy="713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5932155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28F619-5F25-AA9D-A4D4-84BB740FA0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E32AA6DD-A5B4-A57D-6965-8F7879DB4EF6}"/>
              </a:ext>
            </a:extLst>
          </p:cNvPr>
          <p:cNvSpPr txBox="1"/>
          <p:nvPr/>
        </p:nvSpPr>
        <p:spPr>
          <a:xfrm>
            <a:off x="605128" y="423813"/>
            <a:ext cx="3669714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lang="es-ES" sz="2400" b="1" dirty="0">
                <a:solidFill>
                  <a:prstClr val="black">
                    <a:lumMod val="75000"/>
                    <a:lumOff val="25000"/>
                  </a:prstClr>
                </a:solidFill>
                <a:latin typeface="Work Sans Bold Roman"/>
              </a:rPr>
              <a:t>Árbol de Objetivo </a:t>
            </a:r>
            <a:endParaRPr lang="es-ES" dirty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ES" sz="24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Work Sans Bold Roman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FACB039-960D-6984-2807-9A5B19B0FD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4910" y="0"/>
            <a:ext cx="10602179" cy="6858000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CEFC1DBF-50A2-3C0E-C83A-3425BE940B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41305" y="5678118"/>
            <a:ext cx="1938011" cy="713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9533574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B951D1C-ACAB-30A9-933A-FC96DF28A2F0}"/>
              </a:ext>
            </a:extLst>
          </p:cNvPr>
          <p:cNvSpPr txBox="1">
            <a:spLocks/>
          </p:cNvSpPr>
          <p:nvPr/>
        </p:nvSpPr>
        <p:spPr>
          <a:xfrm>
            <a:off x="1520925" y="1199808"/>
            <a:ext cx="3058086" cy="1550749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sz="4800" b="1" dirty="0">
                <a:solidFill>
                  <a:srgbClr val="38AA00"/>
                </a:solidFill>
                <a:latin typeface="WORK SANS BOLD ROMAN"/>
              </a:rPr>
              <a:t>Objetivo General 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CF6697F3-B1A3-FADB-1243-D89866428CB1}"/>
              </a:ext>
            </a:extLst>
          </p:cNvPr>
          <p:cNvSpPr txBox="1"/>
          <p:nvPr/>
        </p:nvSpPr>
        <p:spPr>
          <a:xfrm>
            <a:off x="1046998" y="3155208"/>
            <a:ext cx="4010676" cy="181588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CO" sz="2800" dirty="0">
                <a:latin typeface="Work Sans Light Roman"/>
              </a:rPr>
              <a:t>Innovar con un software enfocado a las reservas de restaurantes de gran flujo de personas</a:t>
            </a:r>
            <a:endParaRPr lang="es-CO" sz="3200" dirty="0">
              <a:ea typeface="Calibri" panose="020F0502020204030204"/>
              <a:cs typeface="Calibri" panose="020F0502020204030204"/>
            </a:endParaRPr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669DD18A-AB54-34AC-A662-0BDC60B050FF}"/>
              </a:ext>
            </a:extLst>
          </p:cNvPr>
          <p:cNvCxnSpPr>
            <a:cxnSpLocks/>
          </p:cNvCxnSpPr>
          <p:nvPr/>
        </p:nvCxnSpPr>
        <p:spPr>
          <a:xfrm>
            <a:off x="1157468" y="2704095"/>
            <a:ext cx="1425934" cy="0"/>
          </a:xfrm>
          <a:prstGeom prst="line">
            <a:avLst/>
          </a:prstGeom>
          <a:ln w="12700">
            <a:solidFill>
              <a:srgbClr val="4D4D4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Imagen 8">
            <a:extLst>
              <a:ext uri="{FF2B5EF4-FFF2-40B4-BE49-F238E27FC236}">
                <a16:creationId xmlns:a16="http://schemas.microsoft.com/office/drawing/2014/main" id="{CBB8E863-134C-047E-564D-20E4D7521C87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3166" r="239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8000178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9F34D7F-7092-FA25-DC24-6AA5ACC7D9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0A093F-98E4-BFBC-709C-9C138BDE59E3}"/>
              </a:ext>
            </a:extLst>
          </p:cNvPr>
          <p:cNvSpPr txBox="1">
            <a:spLocks/>
          </p:cNvSpPr>
          <p:nvPr/>
        </p:nvSpPr>
        <p:spPr>
          <a:xfrm>
            <a:off x="553928" y="270150"/>
            <a:ext cx="9815809" cy="741563"/>
          </a:xfrm>
          <a:prstGeom prst="rect">
            <a:avLst/>
          </a:prstGeom>
          <a:ln>
            <a:noFill/>
          </a:ln>
        </p:spPr>
        <p:txBody>
          <a:bodyPr lIns="91440" tIns="45720" rIns="91440" bIns="45720" anchor="t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3600" b="1" u="none" strike="noStrike" kern="1200" cap="none" spc="0" normalizeH="0" baseline="0" noProof="0" dirty="0">
                <a:ln>
                  <a:noFill/>
                </a:ln>
                <a:solidFill>
                  <a:srgbClr val="4D4D4C"/>
                </a:solidFill>
                <a:effectLst/>
                <a:uLnTx/>
                <a:uFillTx/>
                <a:latin typeface="WORK SANS BOLD ROMAN"/>
              </a:rPr>
              <a:t>Objetivos Específicos </a:t>
            </a:r>
            <a:endParaRPr lang="es-CO" sz="3600" b="1" u="none" strike="noStrike" kern="1200" cap="none" spc="0" normalizeH="0" baseline="0" noProof="0" dirty="0">
              <a:ln>
                <a:noFill/>
              </a:ln>
              <a:solidFill>
                <a:srgbClr val="4D4D4C"/>
              </a:solidFill>
              <a:effectLst/>
              <a:uLnTx/>
              <a:uFillTx/>
              <a:latin typeface="WORK SANS BOLD ROMAN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389C1D34-0AF1-87FD-82FE-58570D1504D0}"/>
              </a:ext>
            </a:extLst>
          </p:cNvPr>
          <p:cNvSpPr txBox="1"/>
          <p:nvPr/>
        </p:nvSpPr>
        <p:spPr>
          <a:xfrm>
            <a:off x="290983" y="2534626"/>
            <a:ext cx="5518437" cy="107721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342900" indent="-342900">
              <a:buClr>
                <a:srgbClr val="38AA00"/>
              </a:buClr>
              <a:buAutoNum type="arabicPeriod"/>
            </a:pPr>
            <a:r>
              <a:rPr lang="es-CO" sz="1600" dirty="0">
                <a:ea typeface="Calibri"/>
                <a:cs typeface="Calibri"/>
              </a:rPr>
              <a:t>Mayor visibilidad de los restaurantes, por medio de la aplicación o página web</a:t>
            </a:r>
          </a:p>
          <a:p>
            <a:pPr marL="342900" indent="-342900">
              <a:buClr>
                <a:srgbClr val="38AA00"/>
              </a:buClr>
              <a:buAutoNum type="arabicPeriod"/>
            </a:pPr>
            <a:r>
              <a:rPr lang="es-CO" sz="1600" dirty="0">
                <a:ea typeface="+mn-lt"/>
                <a:cs typeface="+mn-lt"/>
              </a:rPr>
              <a:t>Aumentar el flujo de personas por restaurantes</a:t>
            </a:r>
            <a:endParaRPr lang="es-CO" dirty="0"/>
          </a:p>
          <a:p>
            <a:pPr marL="342900" indent="-342900">
              <a:buClr>
                <a:srgbClr val="38AA00"/>
              </a:buClr>
              <a:buAutoNum type="arabicPeriod"/>
            </a:pPr>
            <a:r>
              <a:rPr lang="es-CO" sz="1600" dirty="0">
                <a:ea typeface="+mn-lt"/>
                <a:cs typeface="+mn-lt"/>
              </a:rPr>
              <a:t>Plataforma intuitiva 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338D43FB-EAAC-2340-3E18-2C43908CA24F}"/>
              </a:ext>
            </a:extLst>
          </p:cNvPr>
          <p:cNvSpPr txBox="1"/>
          <p:nvPr/>
        </p:nvSpPr>
        <p:spPr>
          <a:xfrm>
            <a:off x="6380743" y="2534625"/>
            <a:ext cx="5518437" cy="304698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342900" indent="-342900">
              <a:buClr>
                <a:srgbClr val="38AA00"/>
              </a:buClr>
              <a:buFont typeface="Calibri Light" panose="020F0302020204030204"/>
              <a:buAutoNum type="arabicPeriod"/>
            </a:pPr>
            <a:r>
              <a:rPr lang="es-ES" sz="1600" dirty="0">
                <a:latin typeface="Work Sans Light Roman"/>
              </a:rPr>
              <a:t>Recolectar información suficiente a través de la ingeniería de requerimientos</a:t>
            </a:r>
          </a:p>
          <a:p>
            <a:pPr marL="342900" indent="-342900">
              <a:buClr>
                <a:srgbClr val="38AA00"/>
              </a:buClr>
              <a:buFont typeface="Calibri Light" panose="020F0302020204030204"/>
              <a:buAutoNum type="arabicPeriod"/>
            </a:pPr>
            <a:r>
              <a:rPr lang="es-ES" sz="1600" dirty="0">
                <a:latin typeface="Work Sans Light Roman"/>
              </a:rPr>
              <a:t>Modelar la información recolectada a través de una base de datos relacional de acuerdo con las necesidades identificadas</a:t>
            </a:r>
          </a:p>
          <a:p>
            <a:pPr marL="342900" indent="-342900">
              <a:buClr>
                <a:srgbClr val="38AA00"/>
              </a:buClr>
              <a:buFont typeface="Calibri Light" panose="020F0302020204030204"/>
              <a:buAutoNum type="arabicPeriod"/>
            </a:pPr>
            <a:r>
              <a:rPr lang="es-ES" sz="1600" dirty="0">
                <a:latin typeface="Work Sans Light Roman"/>
              </a:rPr>
              <a:t>Desarrollar la solución a través de una herramienta FRONT y BACK desde el modelo obtenido</a:t>
            </a:r>
          </a:p>
          <a:p>
            <a:pPr marL="342900" indent="-342900">
              <a:buClr>
                <a:srgbClr val="38AA00"/>
              </a:buClr>
              <a:buFont typeface="Calibri Light" panose="020F0302020204030204"/>
              <a:buAutoNum type="arabicPeriod"/>
            </a:pPr>
            <a:r>
              <a:rPr lang="es-ES" sz="1600" dirty="0">
                <a:latin typeface="Work Sans Light Roman"/>
              </a:rPr>
              <a:t>Realizar las pruebas de integridad, funcionalidad, seguridad y de estrés suficientes del sistema desarrollado.</a:t>
            </a:r>
          </a:p>
          <a:p>
            <a:pPr marL="342900" indent="-342900">
              <a:buClr>
                <a:srgbClr val="38AA00"/>
              </a:buClr>
              <a:buFont typeface="Calibri Light" panose="020F0302020204030204"/>
              <a:buAutoNum type="arabicPeriod"/>
            </a:pPr>
            <a:r>
              <a:rPr lang="es-ES" sz="1600" dirty="0">
                <a:latin typeface="Work Sans Light Roman"/>
              </a:rPr>
              <a:t>Documentar el sistema probado y desarrollado.</a:t>
            </a:r>
          </a:p>
          <a:p>
            <a:pPr marL="342900" indent="-342900">
              <a:buClr>
                <a:srgbClr val="38AA00"/>
              </a:buClr>
              <a:buFont typeface="Calibri Light" panose="020F0302020204030204"/>
              <a:buAutoNum type="arabicPeriod"/>
            </a:pPr>
            <a:r>
              <a:rPr lang="es-ES" sz="1600" dirty="0">
                <a:latin typeface="Work Sans Light Roman"/>
              </a:rPr>
              <a:t>Recibir la aceptación final del usuario a través de un acta entrega y aprobación </a:t>
            </a:r>
            <a:endParaRPr lang="es-CO" sz="1600" dirty="0">
              <a:latin typeface="Work Sans Light Roman"/>
            </a:endParaRPr>
          </a:p>
        </p:txBody>
      </p:sp>
      <p:cxnSp>
        <p:nvCxnSpPr>
          <p:cNvPr id="5" name="Conector recto de flecha 4">
            <a:extLst>
              <a:ext uri="{FF2B5EF4-FFF2-40B4-BE49-F238E27FC236}">
                <a16:creationId xmlns:a16="http://schemas.microsoft.com/office/drawing/2014/main" id="{DC944BE0-A189-57EB-F174-EF90CD6D4892}"/>
              </a:ext>
            </a:extLst>
          </p:cNvPr>
          <p:cNvCxnSpPr/>
          <p:nvPr/>
        </p:nvCxnSpPr>
        <p:spPr>
          <a:xfrm>
            <a:off x="6089838" y="1157254"/>
            <a:ext cx="10026" cy="5283868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ector recto de flecha 5">
            <a:extLst>
              <a:ext uri="{FF2B5EF4-FFF2-40B4-BE49-F238E27FC236}">
                <a16:creationId xmlns:a16="http://schemas.microsoft.com/office/drawing/2014/main" id="{89395501-E3CE-4CF9-3D3B-E40FE07C8AD8}"/>
              </a:ext>
            </a:extLst>
          </p:cNvPr>
          <p:cNvCxnSpPr>
            <a:cxnSpLocks/>
          </p:cNvCxnSpPr>
          <p:nvPr/>
        </p:nvCxnSpPr>
        <p:spPr>
          <a:xfrm flipV="1">
            <a:off x="435100" y="2239529"/>
            <a:ext cx="11339038" cy="4227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uadroTexto 7">
            <a:extLst>
              <a:ext uri="{FF2B5EF4-FFF2-40B4-BE49-F238E27FC236}">
                <a16:creationId xmlns:a16="http://schemas.microsoft.com/office/drawing/2014/main" id="{454EC42F-B3A8-5F93-0BDB-13A73FAE832A}"/>
              </a:ext>
            </a:extLst>
          </p:cNvPr>
          <p:cNvSpPr txBox="1"/>
          <p:nvPr/>
        </p:nvSpPr>
        <p:spPr>
          <a:xfrm>
            <a:off x="437874" y="1717541"/>
            <a:ext cx="5518437" cy="33855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s-CO" sz="1600" b="1" dirty="0">
                <a:latin typeface="Work Sans Light Roman"/>
              </a:rPr>
              <a:t>UX</a:t>
            </a:r>
            <a:endParaRPr lang="es-ES" b="1" dirty="0">
              <a:ea typeface="Calibri"/>
              <a:cs typeface="Calibri"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805056A5-EAF8-4D26-F764-5EA0059D4D8F}"/>
              </a:ext>
            </a:extLst>
          </p:cNvPr>
          <p:cNvSpPr txBox="1"/>
          <p:nvPr/>
        </p:nvSpPr>
        <p:spPr>
          <a:xfrm>
            <a:off x="6377801" y="1717540"/>
            <a:ext cx="5518437" cy="33855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s-CO" sz="1600" b="1" dirty="0">
                <a:latin typeface="Work Sans Light Roman"/>
                <a:ea typeface="+mn-lt"/>
                <a:cs typeface="+mn-lt"/>
              </a:rPr>
              <a:t>Analista</a:t>
            </a:r>
            <a:endParaRPr lang="es-ES" dirty="0">
              <a:latin typeface="Work Sans Light Roman"/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90E01C09-C26F-F953-2BF6-5133628D08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37019" y="294845"/>
            <a:ext cx="1938011" cy="713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539056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1EF2AD1B-3B60-98A2-08B3-69B1415F51BE}"/>
              </a:ext>
            </a:extLst>
          </p:cNvPr>
          <p:cNvSpPr txBox="1"/>
          <p:nvPr/>
        </p:nvSpPr>
        <p:spPr>
          <a:xfrm>
            <a:off x="2819400" y="291791"/>
            <a:ext cx="6543907" cy="6001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s-CO" sz="3300" b="1" dirty="0">
                <a:latin typeface="time"/>
              </a:rPr>
              <a:t>METODOLOGÍA UTILIZADA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DC41854-7E21-44AC-F62B-2F6A7E7D8DE1}"/>
              </a:ext>
            </a:extLst>
          </p:cNvPr>
          <p:cNvSpPr txBox="1"/>
          <p:nvPr/>
        </p:nvSpPr>
        <p:spPr>
          <a:xfrm>
            <a:off x="366132" y="1880839"/>
            <a:ext cx="11088029" cy="15696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CO" sz="2400" dirty="0">
                <a:latin typeface="time"/>
              </a:rPr>
              <a:t>Implementaremos el  modelo en  cascada ya que nos permite </a:t>
            </a:r>
            <a:r>
              <a:rPr lang="es-419" sz="2400" dirty="0">
                <a:latin typeface="time"/>
              </a:rPr>
              <a:t> relacionar cada una de las etapas  con la anterior, para considerar los elementos que debes quitar o añadir en la siguiente fase, teniendo en cuenta que cada fase del proyecto se debe completar antes de avanzar a la siguiente.</a:t>
            </a:r>
            <a:endParaRPr lang="es-419" sz="2400" dirty="0">
              <a:latin typeface="time"/>
              <a:cs typeface="Arial"/>
            </a:endParaRPr>
          </a:p>
        </p:txBody>
      </p:sp>
      <p:pic>
        <p:nvPicPr>
          <p:cNvPr id="12" name="Picture 11" descr="Metodología de Cascada – Mtro. Fernando Arciniega">
            <a:extLst>
              <a:ext uri="{FF2B5EF4-FFF2-40B4-BE49-F238E27FC236}">
                <a16:creationId xmlns:a16="http://schemas.microsoft.com/office/drawing/2014/main" id="{7EE715B5-31F4-C1EE-2099-E3BF04C1C0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39230" y="3427410"/>
            <a:ext cx="8430320" cy="3134815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B56A63F7-9E39-DEB6-C9E7-7CF6411C99E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6132" y="316615"/>
            <a:ext cx="1938011" cy="713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8058105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CE75F1-F343-8856-BC69-4BB6B82BF3E4}"/>
              </a:ext>
            </a:extLst>
          </p:cNvPr>
          <p:cNvSpPr txBox="1">
            <a:spLocks/>
          </p:cNvSpPr>
          <p:nvPr/>
        </p:nvSpPr>
        <p:spPr>
          <a:xfrm>
            <a:off x="456236" y="416689"/>
            <a:ext cx="9815809" cy="741563"/>
          </a:xfrm>
          <a:prstGeom prst="rect">
            <a:avLst/>
          </a:prstGeom>
          <a:ln>
            <a:noFill/>
          </a:ln>
        </p:spPr>
        <p:txBody>
          <a:bodyPr lIns="91440" tIns="45720" rIns="91440" bIns="45720" anchor="t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6000" b="1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WORK SANS BOLD ROMAN"/>
              </a:rPr>
              <a:t>Alternativa</a:t>
            </a:r>
            <a:endParaRPr lang="es-ES" sz="6000" b="1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WORK SANS BOLD ROMAN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A6C31FC2-6C63-0CB9-C78D-1723D5E9DD66}"/>
              </a:ext>
            </a:extLst>
          </p:cNvPr>
          <p:cNvSpPr txBox="1"/>
          <p:nvPr/>
        </p:nvSpPr>
        <p:spPr>
          <a:xfrm>
            <a:off x="456236" y="1735932"/>
            <a:ext cx="10787387" cy="34163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CO" sz="2400" dirty="0">
                <a:latin typeface="Times New Roman"/>
                <a:ea typeface="+mn-lt"/>
                <a:cs typeface="+mn-lt"/>
              </a:rPr>
              <a:t>Reservify es un proyecto enfocado en automatizar las reservas de restaurantes. La idea es mejorarle la expericienta al usuario al hacer reservas de manera rápida, como reuniones o citas, desde la comodidad de su casa, y que el empleado simplemente revise en la página las reservas que tiene ese día.</a:t>
            </a:r>
            <a:endParaRPr lang="en-US" dirty="0">
              <a:latin typeface="Times New Roman"/>
              <a:ea typeface="+mn-lt"/>
              <a:cs typeface="+mn-lt"/>
            </a:endParaRPr>
          </a:p>
          <a:p>
            <a:pPr marL="457200" indent="-457200">
              <a:buAutoNum type="arabicPeriod"/>
            </a:pPr>
            <a:r>
              <a:rPr lang="es-CO" sz="2400" dirty="0">
                <a:latin typeface="Times New Roman"/>
                <a:ea typeface="+mn-lt"/>
                <a:cs typeface="+mn-lt"/>
              </a:rPr>
              <a:t>Optimización del flujo de clientes al restaurante.</a:t>
            </a:r>
          </a:p>
          <a:p>
            <a:pPr marL="457200" indent="-457200">
              <a:buAutoNum type="arabicPeriod"/>
            </a:pPr>
            <a:r>
              <a:rPr lang="es-CO" sz="2400" dirty="0">
                <a:latin typeface="Times New Roman"/>
                <a:ea typeface="+mn-lt"/>
                <a:cs typeface="+mn-lt"/>
              </a:rPr>
              <a:t>Facilitarle la búsqueda al usuario acerca de los restaurantes más cercanos y/o encontrar un restaurante en específico.</a:t>
            </a:r>
          </a:p>
          <a:p>
            <a:pPr marL="457200" indent="-457200">
              <a:buAutoNum type="arabicPeriod"/>
            </a:pPr>
            <a:r>
              <a:rPr lang="es-CO" sz="2400" dirty="0">
                <a:latin typeface="Times New Roman"/>
                <a:ea typeface="+mn-lt"/>
                <a:cs typeface="+mn-lt"/>
              </a:rPr>
              <a:t>Brindarle al cliente una experiencia más amena usando la aplicación.</a:t>
            </a:r>
          </a:p>
          <a:p>
            <a:endParaRPr lang="es-CO" sz="2400" dirty="0">
              <a:latin typeface="Work Sans Light Roman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85C981F8-D928-8934-494E-F8F14295F0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1305" y="5678118"/>
            <a:ext cx="1938011" cy="713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0261243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95BB55E-A0AF-120D-3F1C-74CBA3C04F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4">
            <a:extLst>
              <a:ext uri="{FF2B5EF4-FFF2-40B4-BE49-F238E27FC236}">
                <a16:creationId xmlns:a16="http://schemas.microsoft.com/office/drawing/2014/main" id="{026FB49B-4FA2-5E79-0CA6-756242526103}"/>
              </a:ext>
            </a:extLst>
          </p:cNvPr>
          <p:cNvSpPr txBox="1"/>
          <p:nvPr/>
        </p:nvSpPr>
        <p:spPr>
          <a:xfrm>
            <a:off x="995422" y="2551837"/>
            <a:ext cx="6453678" cy="92333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s-CO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5400" b="1" dirty="0">
                <a:solidFill>
                  <a:prstClr val="black">
                    <a:lumMod val="75000"/>
                    <a:lumOff val="25000"/>
                  </a:prstClr>
                </a:solidFill>
                <a:latin typeface="Work Sans Bold Roman"/>
              </a:rPr>
              <a:t>Metodología</a:t>
            </a:r>
          </a:p>
        </p:txBody>
      </p:sp>
      <p:sp>
        <p:nvSpPr>
          <p:cNvPr id="9" name="CuadroTexto 7">
            <a:extLst>
              <a:ext uri="{FF2B5EF4-FFF2-40B4-BE49-F238E27FC236}">
                <a16:creationId xmlns:a16="http://schemas.microsoft.com/office/drawing/2014/main" id="{2A5B7BAF-923C-71D0-8EC3-E1FF9DD03EE7}"/>
              </a:ext>
            </a:extLst>
          </p:cNvPr>
          <p:cNvSpPr txBox="1"/>
          <p:nvPr/>
        </p:nvSpPr>
        <p:spPr>
          <a:xfrm>
            <a:off x="991243" y="3469376"/>
            <a:ext cx="10093711" cy="1015663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s-CO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O" sz="2000" dirty="0">
                <a:ea typeface="+mn-lt"/>
                <a:cs typeface="+mn-lt"/>
              </a:rPr>
              <a:t>1- Listado de requisitos</a:t>
            </a:r>
            <a:endParaRPr lang="en-US" sz="2000" dirty="0">
              <a:ea typeface="+mn-lt"/>
              <a:cs typeface="+mn-lt"/>
            </a:endParaRPr>
          </a:p>
          <a:p>
            <a:r>
              <a:rPr lang="es-CO" sz="2000" dirty="0">
                <a:ea typeface="+mn-lt"/>
                <a:cs typeface="+mn-lt"/>
              </a:rPr>
              <a:t>2- Diagramas estructurales de datos (casos de uso, MER, MR)</a:t>
            </a:r>
            <a:endParaRPr lang="en-US" sz="2000" dirty="0">
              <a:ea typeface="+mn-lt"/>
              <a:cs typeface="+mn-lt"/>
            </a:endParaRPr>
          </a:p>
          <a:p>
            <a:r>
              <a:rPr lang="es-CO" sz="2000" dirty="0">
                <a:ea typeface="+mn-lt"/>
                <a:cs typeface="+mn-lt"/>
              </a:rPr>
              <a:t>3- Nuevo esquema de procesos con la solución implementada</a:t>
            </a:r>
            <a:endParaRPr lang="es-ES" dirty="0">
              <a:ea typeface="+mn-lt"/>
              <a:cs typeface="+mn-lt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58E25729-C646-043C-0AFB-CB6F5ABD06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89612" y="5045984"/>
            <a:ext cx="1938011" cy="713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0365739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CE75F1-F343-8856-BC69-4BB6B82BF3E4}"/>
              </a:ext>
            </a:extLst>
          </p:cNvPr>
          <p:cNvSpPr txBox="1">
            <a:spLocks/>
          </p:cNvSpPr>
          <p:nvPr/>
        </p:nvSpPr>
        <p:spPr>
          <a:xfrm>
            <a:off x="456236" y="416689"/>
            <a:ext cx="9815809" cy="741563"/>
          </a:xfrm>
          <a:prstGeom prst="rect">
            <a:avLst/>
          </a:prstGeom>
          <a:ln>
            <a:noFill/>
          </a:ln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3600" b="1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WORK SANS BOLD ROMAN" pitchFamily="2" charset="77"/>
              </a:rPr>
              <a:t>Metodología</a:t>
            </a:r>
            <a:endParaRPr kumimoji="0" lang="es-CO" sz="3600" b="1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WORK SANS BOLD ROMAN" pitchFamily="2" charset="77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A6C31FC2-6C63-0CB9-C78D-1723D5E9DD66}"/>
              </a:ext>
            </a:extLst>
          </p:cNvPr>
          <p:cNvSpPr txBox="1"/>
          <p:nvPr/>
        </p:nvSpPr>
        <p:spPr>
          <a:xfrm>
            <a:off x="456236" y="955346"/>
            <a:ext cx="3053318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CO" sz="1600" dirty="0">
                <a:latin typeface="Times New Roman"/>
                <a:cs typeface="Times New Roman"/>
              </a:rPr>
              <a:t>1- Listado de requerimientos</a:t>
            </a:r>
            <a:endParaRPr lang="en-US" dirty="0">
              <a:latin typeface="Times New Roman"/>
              <a:cs typeface="Times New Roman"/>
            </a:endParaRPr>
          </a:p>
          <a:p>
            <a:endParaRPr lang="es-CO" sz="1600" dirty="0">
              <a:latin typeface="Times New Roman"/>
              <a:cs typeface="Times New Roman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63C1BC28-1A3C-95B9-ED9D-DE94B74B8590}"/>
              </a:ext>
            </a:extLst>
          </p:cNvPr>
          <p:cNvSpPr txBox="1"/>
          <p:nvPr/>
        </p:nvSpPr>
        <p:spPr>
          <a:xfrm>
            <a:off x="3048000" y="2971345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3600" dirty="0">
                <a:hlinkClick r:id="rId3"/>
              </a:rPr>
              <a:t>REQUERIMIENTOS</a:t>
            </a:r>
            <a:endParaRPr lang="es-CO" sz="3600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CE215B05-DE34-5284-4469-2F508180F3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41305" y="5678118"/>
            <a:ext cx="1938011" cy="713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0155226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B56395-384E-C7A3-2AFA-936A71EBD2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6AAF15-62AE-D158-4821-37D11116594A}"/>
              </a:ext>
            </a:extLst>
          </p:cNvPr>
          <p:cNvSpPr txBox="1">
            <a:spLocks/>
          </p:cNvSpPr>
          <p:nvPr/>
        </p:nvSpPr>
        <p:spPr>
          <a:xfrm>
            <a:off x="456236" y="416689"/>
            <a:ext cx="9815809" cy="741563"/>
          </a:xfrm>
          <a:prstGeom prst="rect">
            <a:avLst/>
          </a:prstGeom>
          <a:ln>
            <a:noFill/>
          </a:ln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3600" b="1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WORK SANS BOLD ROMAN" pitchFamily="2" charset="77"/>
              </a:rPr>
              <a:t>Metodología</a:t>
            </a:r>
            <a:endParaRPr kumimoji="0" lang="es-CO" sz="3600" b="1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WORK SANS BOLD ROMAN" pitchFamily="2" charset="77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211785BB-89BE-758F-F7EE-06B2FCBD1B23}"/>
              </a:ext>
            </a:extLst>
          </p:cNvPr>
          <p:cNvSpPr txBox="1"/>
          <p:nvPr/>
        </p:nvSpPr>
        <p:spPr>
          <a:xfrm>
            <a:off x="456236" y="946054"/>
            <a:ext cx="5518437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CO" sz="1600" dirty="0">
                <a:latin typeface="Work Sans Light Roman"/>
              </a:rPr>
              <a:t>Especificar:</a:t>
            </a:r>
          </a:p>
          <a:p>
            <a:r>
              <a:rPr lang="es-CO" sz="1600" dirty="0">
                <a:latin typeface="Work Sans Light Roman"/>
              </a:rPr>
              <a:t>2- Diagramas estructurales de datos (casos de uso, MER, MR)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BF2FFE3-171A-1DBF-F7D3-6A22DA3391B1}"/>
              </a:ext>
            </a:extLst>
          </p:cNvPr>
          <p:cNvCxnSpPr>
            <a:cxnSpLocks/>
          </p:cNvCxnSpPr>
          <p:nvPr/>
        </p:nvCxnSpPr>
        <p:spPr>
          <a:xfrm flipV="1">
            <a:off x="461846" y="2215143"/>
            <a:ext cx="11421170" cy="9060"/>
          </a:xfrm>
          <a:prstGeom prst="straightConnector1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CuadroTexto 2">
            <a:extLst>
              <a:ext uri="{FF2B5EF4-FFF2-40B4-BE49-F238E27FC236}">
                <a16:creationId xmlns:a16="http://schemas.microsoft.com/office/drawing/2014/main" id="{2DB21563-97FF-4FFF-7229-9B0B253D58BE}"/>
              </a:ext>
            </a:extLst>
          </p:cNvPr>
          <p:cNvSpPr txBox="1"/>
          <p:nvPr/>
        </p:nvSpPr>
        <p:spPr>
          <a:xfrm>
            <a:off x="3048894" y="1884614"/>
            <a:ext cx="5518437" cy="33855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s-CO" sz="1600" dirty="0">
                <a:latin typeface="Work Sans Light Roman"/>
              </a:rPr>
              <a:t>Casos de uso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357D348E-2B88-C01E-BE2B-11F5AF7F011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8002" y="2216329"/>
            <a:ext cx="11355658" cy="4116496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89E88B8A-2333-BDFD-BCC9-13630E8E59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83448" y="451651"/>
            <a:ext cx="1938011" cy="713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8322222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47DC6B-0728-CD23-439C-5B80DAD30F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606BC9-E40C-9F09-C9AC-23FA39819ED6}"/>
              </a:ext>
            </a:extLst>
          </p:cNvPr>
          <p:cNvSpPr txBox="1">
            <a:spLocks/>
          </p:cNvSpPr>
          <p:nvPr/>
        </p:nvSpPr>
        <p:spPr>
          <a:xfrm>
            <a:off x="456236" y="416689"/>
            <a:ext cx="9815809" cy="741563"/>
          </a:xfrm>
          <a:prstGeom prst="rect">
            <a:avLst/>
          </a:prstGeom>
          <a:ln>
            <a:noFill/>
          </a:ln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3600" b="1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WORK SANS BOLD ROMAN" pitchFamily="2" charset="77"/>
              </a:rPr>
              <a:t>Metodología</a:t>
            </a:r>
            <a:endParaRPr kumimoji="0" lang="es-CO" sz="3600" b="1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WORK SANS BOLD ROMAN" pitchFamily="2" charset="77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F36B6709-B359-A376-B6FF-DF0C60024BA9}"/>
              </a:ext>
            </a:extLst>
          </p:cNvPr>
          <p:cNvSpPr txBox="1"/>
          <p:nvPr/>
        </p:nvSpPr>
        <p:spPr>
          <a:xfrm>
            <a:off x="456236" y="946054"/>
            <a:ext cx="9189891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CO" sz="1600" dirty="0">
                <a:latin typeface="Work Sans Light Roman"/>
              </a:rPr>
              <a:t>Especificar:</a:t>
            </a:r>
          </a:p>
          <a:p>
            <a:r>
              <a:rPr lang="es-CO" sz="1600" dirty="0">
                <a:latin typeface="Work Sans Light Roman"/>
              </a:rPr>
              <a:t>2- Diagramas estructurales de datos (casos de uso, MER, MR)</a:t>
            </a:r>
            <a:endParaRPr lang="es-CO" dirty="0">
              <a:latin typeface="Calibri"/>
              <a:ea typeface="Calibri"/>
              <a:cs typeface="Calibri"/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EDC7234A-2C75-F087-6F2E-02B0366251A0}"/>
              </a:ext>
            </a:extLst>
          </p:cNvPr>
          <p:cNvCxnSpPr>
            <a:cxnSpLocks/>
          </p:cNvCxnSpPr>
          <p:nvPr/>
        </p:nvCxnSpPr>
        <p:spPr>
          <a:xfrm flipV="1">
            <a:off x="461846" y="2105164"/>
            <a:ext cx="11421170" cy="9060"/>
          </a:xfrm>
          <a:prstGeom prst="straightConnector1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CuadroTexto 2">
            <a:extLst>
              <a:ext uri="{FF2B5EF4-FFF2-40B4-BE49-F238E27FC236}">
                <a16:creationId xmlns:a16="http://schemas.microsoft.com/office/drawing/2014/main" id="{7C7548EA-3198-EC57-7D54-9939E0907792}"/>
              </a:ext>
            </a:extLst>
          </p:cNvPr>
          <p:cNvSpPr txBox="1"/>
          <p:nvPr/>
        </p:nvSpPr>
        <p:spPr>
          <a:xfrm>
            <a:off x="3230494" y="1799405"/>
            <a:ext cx="5518437" cy="33855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s-CO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CO" sz="1600" dirty="0">
                <a:latin typeface="Work Sans Light Roman"/>
              </a:rPr>
              <a:t>MER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451BC266-7E4F-76B4-F9B5-27D5181D0BE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2000" y="2162189"/>
            <a:ext cx="10082559" cy="4057621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3ACC07D0-BF94-C7B3-623F-A1AC765C94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03039" y="493029"/>
            <a:ext cx="1938011" cy="713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0626755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42BCD5-A00E-48FB-D0A8-9E2D6F6CFF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87844E8-D7DB-2A1E-825C-97EE78DEB577}"/>
              </a:ext>
            </a:extLst>
          </p:cNvPr>
          <p:cNvSpPr txBox="1">
            <a:spLocks/>
          </p:cNvSpPr>
          <p:nvPr/>
        </p:nvSpPr>
        <p:spPr>
          <a:xfrm>
            <a:off x="456236" y="416689"/>
            <a:ext cx="9815809" cy="741563"/>
          </a:xfrm>
          <a:prstGeom prst="rect">
            <a:avLst/>
          </a:prstGeom>
          <a:ln>
            <a:noFill/>
          </a:ln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3600" b="1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WORK SANS BOLD ROMAN" pitchFamily="2" charset="77"/>
              </a:rPr>
              <a:t>Metodología</a:t>
            </a:r>
            <a:endParaRPr kumimoji="0" lang="es-CO" sz="3600" b="1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WORK SANS BOLD ROMAN" pitchFamily="2" charset="77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6B743D65-7718-8820-343A-AA1A2DC493DA}"/>
              </a:ext>
            </a:extLst>
          </p:cNvPr>
          <p:cNvSpPr txBox="1"/>
          <p:nvPr/>
        </p:nvSpPr>
        <p:spPr>
          <a:xfrm>
            <a:off x="456236" y="946054"/>
            <a:ext cx="10630764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CO" sz="1600" dirty="0">
                <a:latin typeface="Work Sans Light Roman"/>
              </a:rPr>
              <a:t>Especificar:</a:t>
            </a:r>
          </a:p>
          <a:p>
            <a:r>
              <a:rPr lang="es-CO" sz="1600" dirty="0">
                <a:latin typeface="Work Sans Light Roman"/>
              </a:rPr>
              <a:t>2- Diagramas estructurales de datos (casos de uso, MER, MR) </a:t>
            </a:r>
            <a:endParaRPr lang="es-CO" dirty="0"/>
          </a:p>
        </p:txBody>
      </p:sp>
      <p:sp>
        <p:nvSpPr>
          <p:cNvPr id="6" name="CuadroTexto 2">
            <a:extLst>
              <a:ext uri="{FF2B5EF4-FFF2-40B4-BE49-F238E27FC236}">
                <a16:creationId xmlns:a16="http://schemas.microsoft.com/office/drawing/2014/main" id="{D79C24E2-89C7-3A00-3A10-23D1B7A890A2}"/>
              </a:ext>
            </a:extLst>
          </p:cNvPr>
          <p:cNvSpPr txBox="1"/>
          <p:nvPr/>
        </p:nvSpPr>
        <p:spPr>
          <a:xfrm>
            <a:off x="3226283" y="1798506"/>
            <a:ext cx="5518437" cy="33855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s-CO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CO" sz="1600" dirty="0">
                <a:latin typeface="Work Sans Light Roman"/>
              </a:rPr>
              <a:t>MR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785107CF-307A-D7DA-2E43-43833B6F26E2}"/>
              </a:ext>
            </a:extLst>
          </p:cNvPr>
          <p:cNvCxnSpPr>
            <a:cxnSpLocks/>
          </p:cNvCxnSpPr>
          <p:nvPr/>
        </p:nvCxnSpPr>
        <p:spPr>
          <a:xfrm flipV="1">
            <a:off x="461846" y="2133863"/>
            <a:ext cx="11421170" cy="9060"/>
          </a:xfrm>
          <a:prstGeom prst="straightConnector1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4" name="Graphic 3">
            <a:extLst>
              <a:ext uri="{FF2B5EF4-FFF2-40B4-BE49-F238E27FC236}">
                <a16:creationId xmlns:a16="http://schemas.microsoft.com/office/drawing/2014/main" id="{05A79F7A-FD52-58C2-7CA3-199B1F9DBD7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80858" y="2134952"/>
            <a:ext cx="8828101" cy="4722456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20A810AE-4247-C8C9-06EF-01EC5E27B0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91646" y="631353"/>
            <a:ext cx="1938011" cy="713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8316083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B921C9-3507-11C5-F13A-58320ECA57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3804DA-B92F-713C-5A25-89277F00ED45}"/>
              </a:ext>
            </a:extLst>
          </p:cNvPr>
          <p:cNvSpPr txBox="1">
            <a:spLocks/>
          </p:cNvSpPr>
          <p:nvPr/>
        </p:nvSpPr>
        <p:spPr>
          <a:xfrm>
            <a:off x="456236" y="416689"/>
            <a:ext cx="9815809" cy="741563"/>
          </a:xfrm>
          <a:prstGeom prst="rect">
            <a:avLst/>
          </a:prstGeom>
          <a:ln>
            <a:noFill/>
          </a:ln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3600" b="1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WORK SANS BOLD ROMAN" pitchFamily="2" charset="77"/>
              </a:rPr>
              <a:t>Metodología</a:t>
            </a:r>
            <a:endParaRPr kumimoji="0" lang="es-CO" sz="3600" b="1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WORK SANS BOLD ROMAN" pitchFamily="2" charset="77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5324DA40-1ABE-073F-6C9F-5CD14F82F50E}"/>
              </a:ext>
            </a:extLst>
          </p:cNvPr>
          <p:cNvSpPr txBox="1"/>
          <p:nvPr/>
        </p:nvSpPr>
        <p:spPr>
          <a:xfrm>
            <a:off x="456236" y="946054"/>
            <a:ext cx="5013457" cy="55399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CO" sz="1600" dirty="0">
                <a:latin typeface="Work Sans Light Roman"/>
              </a:rPr>
              <a:t>Especificar:</a:t>
            </a:r>
            <a:endParaRPr lang="es-CO" sz="1100" dirty="0">
              <a:latin typeface="Work Sans Light Roman"/>
            </a:endParaRPr>
          </a:p>
          <a:p>
            <a:r>
              <a:rPr lang="en-US" sz="1400" dirty="0">
                <a:latin typeface="Calibri"/>
                <a:ea typeface="Calibri"/>
                <a:cs typeface="Calibri"/>
              </a:rPr>
              <a:t>3 - Nuevo esquema de procesos con la solución implementada</a:t>
            </a:r>
            <a:endParaRPr lang="es-CO" sz="1400" dirty="0">
              <a:ea typeface="Calibri" panose="020F0502020204030204"/>
              <a:cs typeface="Calibri" panose="020F0502020204030204"/>
            </a:endParaRP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A5A38BA6-D251-92F7-3780-48E0980745F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33333" y="1917470"/>
            <a:ext cx="5382605" cy="3356263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598B1D5F-5A9F-7CC8-789A-F371ABE1021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03492" y="3303594"/>
            <a:ext cx="5926286" cy="2979159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0BED7048-E266-29AD-7F4A-5BC1115DDEF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717877" y="509695"/>
            <a:ext cx="6277979" cy="2795026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FB330113-E0D5-8989-7A66-700B92BDAE6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0397" y="5555352"/>
            <a:ext cx="1938011" cy="713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4434972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>
            <a:extLst>
              <a:ext uri="{FF2B5EF4-FFF2-40B4-BE49-F238E27FC236}">
                <a16:creationId xmlns:a16="http://schemas.microsoft.com/office/drawing/2014/main" id="{BB6F714C-A6B0-54AE-507A-D0700714D94B}"/>
              </a:ext>
            </a:extLst>
          </p:cNvPr>
          <p:cNvSpPr txBox="1">
            <a:spLocks/>
          </p:cNvSpPr>
          <p:nvPr/>
        </p:nvSpPr>
        <p:spPr>
          <a:xfrm>
            <a:off x="456236" y="416690"/>
            <a:ext cx="9815809" cy="52787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36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WORK SANS BOLD ROMAN" pitchFamily="2" charset="77"/>
              </a:rPr>
              <a:t>Cronograma</a:t>
            </a:r>
          </a:p>
        </p:txBody>
      </p:sp>
      <p:pic>
        <p:nvPicPr>
          <p:cNvPr id="2" name="Picture 1" descr="A white and black box with black text&#10;&#10;AI-generated content may be incorrect.">
            <a:extLst>
              <a:ext uri="{FF2B5EF4-FFF2-40B4-BE49-F238E27FC236}">
                <a16:creationId xmlns:a16="http://schemas.microsoft.com/office/drawing/2014/main" id="{6F7079A7-0924-504D-AC9E-700C66EF43B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54" b="4469"/>
          <a:stretch>
            <a:fillRect/>
          </a:stretch>
        </p:blipFill>
        <p:spPr>
          <a:xfrm>
            <a:off x="330679" y="1527233"/>
            <a:ext cx="11717558" cy="4752092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834D104A-507E-E208-1C7B-35C0E6D1CA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13766" y="335595"/>
            <a:ext cx="1938011" cy="713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92924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7">
            <a:extLst>
              <a:ext uri="{FF2B5EF4-FFF2-40B4-BE49-F238E27FC236}">
                <a16:creationId xmlns:a16="http://schemas.microsoft.com/office/drawing/2014/main" id="{F12A8F68-C159-460C-8382-57BE0B0057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16257" y="3363853"/>
            <a:ext cx="233838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t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None/>
            </a:pPr>
            <a:r>
              <a:rPr lang="es-CO" altLang="es-419" sz="1800" dirty="0">
                <a:latin typeface="Arial"/>
                <a:cs typeface="Arial"/>
              </a:rPr>
              <a:t>Vite</a:t>
            </a:r>
            <a:endParaRPr lang="en-US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0E1BC8CC-86BB-AC3D-D21C-CCFBA4472A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47286" y="1462543"/>
            <a:ext cx="155253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s-ES" altLang="es-419" sz="1800" dirty="0">
                <a:latin typeface="Arial" panose="020B0604020202020204" pitchFamily="34" charset="0"/>
              </a:rPr>
              <a:t>T</a:t>
            </a:r>
            <a:r>
              <a:rPr lang="es-CO" altLang="es-419" sz="1800" dirty="0">
                <a:latin typeface="Arial" panose="020B0604020202020204" pitchFamily="34" charset="0"/>
              </a:rPr>
              <a:t>ypescript</a:t>
            </a:r>
            <a:endParaRPr lang="es-MX" altLang="es-419" sz="1800" dirty="0">
              <a:latin typeface="Arial" panose="020B0604020202020204" pitchFamily="34" charset="0"/>
            </a:endParaRPr>
          </a:p>
        </p:txBody>
      </p:sp>
      <p:sp>
        <p:nvSpPr>
          <p:cNvPr id="8" name="CuadroTexto 6">
            <a:extLst>
              <a:ext uri="{FF2B5EF4-FFF2-40B4-BE49-F238E27FC236}">
                <a16:creationId xmlns:a16="http://schemas.microsoft.com/office/drawing/2014/main" id="{39C6073F-65D2-28A8-46A1-2A946C1ECD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94856" y="3711218"/>
            <a:ext cx="159315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s-CO" altLang="es-419" sz="1800" dirty="0">
                <a:latin typeface="Arial"/>
                <a:cs typeface="Arial"/>
              </a:rPr>
              <a:t>TailwindCSS</a:t>
            </a:r>
            <a:endParaRPr lang="es-MX" altLang="es-419" sz="1800" dirty="0">
              <a:latin typeface="Arial" panose="020B0604020202020204" pitchFamily="34" charset="0"/>
            </a:endParaRPr>
          </a:p>
        </p:txBody>
      </p:sp>
      <p:pic>
        <p:nvPicPr>
          <p:cNvPr id="11" name="Graphic 10" descr="Tailwind CSS Logo PNG Vector SVG, EPS, Ai formats (2.30 KB) Free Download">
            <a:extLst>
              <a:ext uri="{FF2B5EF4-FFF2-40B4-BE49-F238E27FC236}">
                <a16:creationId xmlns:a16="http://schemas.microsoft.com/office/drawing/2014/main" id="{9AD7F5EE-0C79-B4FA-2EF7-80FCB173D8A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13143" y="4237419"/>
            <a:ext cx="3198540" cy="1089634"/>
          </a:xfrm>
          <a:prstGeom prst="rect">
            <a:avLst/>
          </a:prstGeom>
        </p:spPr>
      </p:pic>
      <p:sp>
        <p:nvSpPr>
          <p:cNvPr id="13" name="Título 1">
            <a:extLst>
              <a:ext uri="{FF2B5EF4-FFF2-40B4-BE49-F238E27FC236}">
                <a16:creationId xmlns:a16="http://schemas.microsoft.com/office/drawing/2014/main" id="{BF50B7DD-3A3A-A19E-D294-8777D618DC98}"/>
              </a:ext>
            </a:extLst>
          </p:cNvPr>
          <p:cNvSpPr txBox="1">
            <a:spLocks/>
          </p:cNvSpPr>
          <p:nvPr/>
        </p:nvSpPr>
        <p:spPr>
          <a:xfrm>
            <a:off x="456236" y="416690"/>
            <a:ext cx="9815809" cy="527874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O" sz="3600" b="1" dirty="0">
                <a:solidFill>
                  <a:prstClr val="white"/>
                </a:solidFill>
                <a:latin typeface="WORK SANS BOLD ROMAN"/>
              </a:rPr>
              <a:t>Herramientas FRONTEND</a:t>
            </a:r>
            <a:endParaRPr lang="es-CO" sz="3600" b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WORK SANS BOLD ROMAN" pitchFamily="2" charset="77"/>
            </a:endParaRPr>
          </a:p>
        </p:txBody>
      </p:sp>
      <p:pic>
        <p:nvPicPr>
          <p:cNvPr id="2" name="Picture 1" descr="File:Vitejs-logo.svg - Wikipedia">
            <a:extLst>
              <a:ext uri="{FF2B5EF4-FFF2-40B4-BE49-F238E27FC236}">
                <a16:creationId xmlns:a16="http://schemas.microsoft.com/office/drawing/2014/main" id="{5E2B832C-8F32-550E-077B-FDA69B3993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0723" y="3890609"/>
            <a:ext cx="2749453" cy="2672367"/>
          </a:xfrm>
          <a:prstGeom prst="rect">
            <a:avLst/>
          </a:prstGeom>
        </p:spPr>
      </p:pic>
      <p:sp>
        <p:nvSpPr>
          <p:cNvPr id="5" name="CuadroTexto 7">
            <a:extLst>
              <a:ext uri="{FF2B5EF4-FFF2-40B4-BE49-F238E27FC236}">
                <a16:creationId xmlns:a16="http://schemas.microsoft.com/office/drawing/2014/main" id="{1C053E9F-987A-3150-F516-B5332B26E8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27607" y="1809353"/>
            <a:ext cx="232765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None/>
            </a:pPr>
            <a:r>
              <a:rPr lang="es-CO" altLang="es-419" sz="1800" dirty="0">
                <a:latin typeface="Arial"/>
                <a:cs typeface="Arial"/>
              </a:rPr>
              <a:t>React</a:t>
            </a:r>
            <a:endParaRPr lang="en-US" dirty="0"/>
          </a:p>
        </p:txBody>
      </p:sp>
      <p:pic>
        <p:nvPicPr>
          <p:cNvPr id="9" name="Graphic 7" descr="React Mono SVG Logo | Free SVG logos &amp; icons download | SVGmix">
            <a:extLst>
              <a:ext uri="{FF2B5EF4-FFF2-40B4-BE49-F238E27FC236}">
                <a16:creationId xmlns:a16="http://schemas.microsoft.com/office/drawing/2014/main" id="{07DF8691-D4ED-FE7F-050B-6863516C816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665757" y="2275307"/>
            <a:ext cx="2743198" cy="896470"/>
          </a:xfrm>
          <a:prstGeom prst="rect">
            <a:avLst/>
          </a:prstGeom>
        </p:spPr>
      </p:pic>
      <p:pic>
        <p:nvPicPr>
          <p:cNvPr id="1026" name="Picture 2" descr="TypeScript Tutorial: A Guide to Using the Programming Language - The New  Stack">
            <a:extLst>
              <a:ext uri="{FF2B5EF4-FFF2-40B4-BE49-F238E27FC236}">
                <a16:creationId xmlns:a16="http://schemas.microsoft.com/office/drawing/2014/main" id="{0A4E263A-ACD4-9F11-D8BC-7038E9080C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43002" y="1831875"/>
            <a:ext cx="3262584" cy="13399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00E91DE1-D98D-2CED-A2DB-ED1076395E4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13766" y="335595"/>
            <a:ext cx="1938011" cy="713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988534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ED955CD-CB72-A91E-FFA9-CD73CF8D7A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7">
            <a:extLst>
              <a:ext uri="{FF2B5EF4-FFF2-40B4-BE49-F238E27FC236}">
                <a16:creationId xmlns:a16="http://schemas.microsoft.com/office/drawing/2014/main" id="{CF6E60CE-A3A8-5DD3-02DA-E5559D328B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2204402"/>
            <a:ext cx="367691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None/>
            </a:pPr>
            <a:r>
              <a:rPr lang="es-ES" altLang="es-419" sz="1200" dirty="0">
                <a:latin typeface="Arial" panose="020B0604020202020204" pitchFamily="34" charset="0"/>
                <a:cs typeface="Arial"/>
              </a:rPr>
              <a:t> </a:t>
            </a:r>
            <a:r>
              <a:rPr lang="es-ES" altLang="es-419" sz="1200" dirty="0" err="1">
                <a:latin typeface="Arial" panose="020B0604020202020204" pitchFamily="34" charset="0"/>
                <a:cs typeface="Arial"/>
              </a:rPr>
              <a:t>framework</a:t>
            </a:r>
            <a:r>
              <a:rPr lang="es-ES" altLang="es-419" sz="1200" dirty="0">
                <a:latin typeface="Arial" panose="020B0604020202020204" pitchFamily="34" charset="0"/>
                <a:cs typeface="Arial"/>
              </a:rPr>
              <a:t> web en Python para construir la API REST (rutas, validación de </a:t>
            </a:r>
            <a:r>
              <a:rPr lang="es-ES" altLang="es-419" sz="1200" dirty="0" err="1">
                <a:latin typeface="Arial" panose="020B0604020202020204" pitchFamily="34" charset="0"/>
                <a:cs typeface="Arial"/>
              </a:rPr>
              <a:t>request</a:t>
            </a:r>
            <a:r>
              <a:rPr lang="es-ES" altLang="es-419" sz="1200" dirty="0">
                <a:latin typeface="Arial" panose="020B0604020202020204" pitchFamily="34" charset="0"/>
                <a:cs typeface="Arial"/>
              </a:rPr>
              <a:t>, etc.).</a:t>
            </a:r>
            <a:endParaRPr lang="es-CO" altLang="es-419" sz="1200" dirty="0">
              <a:latin typeface="Arial" panose="020B0604020202020204" pitchFamily="34" charset="0"/>
              <a:cs typeface="Arial"/>
            </a:endParaRPr>
          </a:p>
        </p:txBody>
      </p:sp>
      <p:pic>
        <p:nvPicPr>
          <p:cNvPr id="5" name="Picture 4" descr="Aprende FastAPI desde 0">
            <a:extLst>
              <a:ext uri="{FF2B5EF4-FFF2-40B4-BE49-F238E27FC236}">
                <a16:creationId xmlns:a16="http://schemas.microsoft.com/office/drawing/2014/main" id="{F4ECFFAF-B61B-C6ED-963C-D358963490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77074" y="1070797"/>
            <a:ext cx="4041818" cy="1479226"/>
          </a:xfrm>
          <a:prstGeom prst="rect">
            <a:avLst/>
          </a:prstGeom>
        </p:spPr>
      </p:pic>
      <p:sp>
        <p:nvSpPr>
          <p:cNvPr id="15" name="Título 1">
            <a:extLst>
              <a:ext uri="{FF2B5EF4-FFF2-40B4-BE49-F238E27FC236}">
                <a16:creationId xmlns:a16="http://schemas.microsoft.com/office/drawing/2014/main" id="{5FC7BB51-EE3A-FD3D-2672-68FB69D9E29E}"/>
              </a:ext>
            </a:extLst>
          </p:cNvPr>
          <p:cNvSpPr txBox="1">
            <a:spLocks/>
          </p:cNvSpPr>
          <p:nvPr/>
        </p:nvSpPr>
        <p:spPr>
          <a:xfrm>
            <a:off x="456236" y="416690"/>
            <a:ext cx="9815809" cy="527874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None/>
              <a:tabLst/>
              <a:defRPr/>
            </a:pPr>
            <a:r>
              <a:rPr lang="es-CO" sz="3600" b="1" dirty="0">
                <a:solidFill>
                  <a:prstClr val="white"/>
                </a:solidFill>
                <a:latin typeface="Times New Roman"/>
                <a:ea typeface="Calibri Light"/>
                <a:cs typeface="Calibri Light"/>
              </a:rPr>
              <a:t>Herramientas BACKEND</a:t>
            </a:r>
          </a:p>
        </p:txBody>
      </p:sp>
      <p:pic>
        <p:nvPicPr>
          <p:cNvPr id="2" name="Picture 1" descr="SQLAlchemy-logo.png — Quintagroup">
            <a:extLst>
              <a:ext uri="{FF2B5EF4-FFF2-40B4-BE49-F238E27FC236}">
                <a16:creationId xmlns:a16="http://schemas.microsoft.com/office/drawing/2014/main" id="{8085B147-4559-718B-2526-1150B8B6BB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66564" y="3918865"/>
            <a:ext cx="3676916" cy="778226"/>
          </a:xfrm>
          <a:prstGeom prst="rect">
            <a:avLst/>
          </a:prstGeom>
        </p:spPr>
      </p:pic>
      <p:sp>
        <p:nvSpPr>
          <p:cNvPr id="3" name="CuadroTexto 7">
            <a:extLst>
              <a:ext uri="{FF2B5EF4-FFF2-40B4-BE49-F238E27FC236}">
                <a16:creationId xmlns:a16="http://schemas.microsoft.com/office/drawing/2014/main" id="{26A7BF56-C83C-52E2-7F66-4D0CB98230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47883" y="1838283"/>
            <a:ext cx="1842359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None/>
            </a:pPr>
            <a:r>
              <a:rPr lang="es-ES" altLang="es-419" sz="1200" dirty="0">
                <a:latin typeface="Arial"/>
                <a:cs typeface="Arial"/>
              </a:rPr>
              <a:t>servidor ASGI para ejecutar </a:t>
            </a:r>
            <a:r>
              <a:rPr lang="es-ES" altLang="es-419" sz="1200" dirty="0" err="1">
                <a:latin typeface="Arial"/>
                <a:cs typeface="Arial"/>
              </a:rPr>
              <a:t>FastAPI</a:t>
            </a:r>
            <a:r>
              <a:rPr lang="es-ES" altLang="es-419" sz="1200" dirty="0">
                <a:latin typeface="Arial"/>
                <a:cs typeface="Arial"/>
              </a:rPr>
              <a:t> (con --</a:t>
            </a:r>
            <a:r>
              <a:rPr lang="es-ES" altLang="es-419" sz="1200" dirty="0" err="1">
                <a:latin typeface="Arial"/>
                <a:cs typeface="Arial"/>
              </a:rPr>
              <a:t>reload</a:t>
            </a:r>
            <a:r>
              <a:rPr lang="es-ES" altLang="es-419" sz="1200" dirty="0">
                <a:latin typeface="Arial"/>
                <a:cs typeface="Arial"/>
              </a:rPr>
              <a:t> en desarrollo).</a:t>
            </a:r>
            <a:endParaRPr lang="es-CO" altLang="es-419" sz="1200" dirty="0">
              <a:latin typeface="Arial" panose="020B0604020202020204" pitchFamily="34" charset="0"/>
              <a:cs typeface="Arial"/>
            </a:endParaRPr>
          </a:p>
        </p:txBody>
      </p:sp>
      <p:sp>
        <p:nvSpPr>
          <p:cNvPr id="10" name="CuadroTexto 7">
            <a:extLst>
              <a:ext uri="{FF2B5EF4-FFF2-40B4-BE49-F238E27FC236}">
                <a16:creationId xmlns:a16="http://schemas.microsoft.com/office/drawing/2014/main" id="{FF56FD8C-8690-550A-C47A-6121180489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41194" y="4697091"/>
            <a:ext cx="232765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None/>
            </a:pPr>
            <a:r>
              <a:rPr lang="es-ES" altLang="es-419" sz="1200" dirty="0">
                <a:latin typeface="Arial"/>
                <a:cs typeface="Arial"/>
              </a:rPr>
              <a:t>capa de acceso a base de datos </a:t>
            </a:r>
            <a:endParaRPr lang="es-CO" altLang="es-419" sz="1200" dirty="0">
              <a:latin typeface="Arial" panose="020B0604020202020204" pitchFamily="34" charset="0"/>
              <a:cs typeface="Arial"/>
            </a:endParaRPr>
          </a:p>
        </p:txBody>
      </p:sp>
      <p:pic>
        <p:nvPicPr>
          <p:cNvPr id="2050" name="Picture 2" descr="uvicorn">
            <a:extLst>
              <a:ext uri="{FF2B5EF4-FFF2-40B4-BE49-F238E27FC236}">
                <a16:creationId xmlns:a16="http://schemas.microsoft.com/office/drawing/2014/main" id="{FC20B364-15E8-49D5-773A-D2DDC23487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49298" y="1417497"/>
            <a:ext cx="1487905" cy="14879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Pydantic | Sequoia Capital">
            <a:extLst>
              <a:ext uri="{FF2B5EF4-FFF2-40B4-BE49-F238E27FC236}">
                <a16:creationId xmlns:a16="http://schemas.microsoft.com/office/drawing/2014/main" id="{62EAAA64-F034-8742-3D86-BAE66444A7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11311" y="1509935"/>
            <a:ext cx="3303173" cy="6566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CuadroTexto 7">
            <a:extLst>
              <a:ext uri="{FF2B5EF4-FFF2-40B4-BE49-F238E27FC236}">
                <a16:creationId xmlns:a16="http://schemas.microsoft.com/office/drawing/2014/main" id="{E5CCE6B3-9540-0627-3718-E6A89D73EC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88827" y="2204402"/>
            <a:ext cx="258127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None/>
            </a:pPr>
            <a:r>
              <a:rPr lang="es-ES" altLang="es-419" sz="1200" dirty="0">
                <a:latin typeface="Arial"/>
                <a:cs typeface="Arial"/>
              </a:rPr>
              <a:t> modelos/</a:t>
            </a:r>
            <a:r>
              <a:rPr lang="es-ES" altLang="es-419" sz="1200" dirty="0" err="1">
                <a:latin typeface="Arial"/>
                <a:cs typeface="Arial"/>
              </a:rPr>
              <a:t>schemas</a:t>
            </a:r>
            <a:r>
              <a:rPr lang="es-ES" altLang="es-419" sz="1200" dirty="0">
                <a:latin typeface="Arial"/>
                <a:cs typeface="Arial"/>
              </a:rPr>
              <a:t> para validar y </a:t>
            </a:r>
            <a:r>
              <a:rPr lang="es-ES" altLang="es-419" sz="1200" dirty="0" err="1">
                <a:latin typeface="Arial"/>
                <a:cs typeface="Arial"/>
              </a:rPr>
              <a:t>tipar</a:t>
            </a:r>
            <a:r>
              <a:rPr lang="es-ES" altLang="es-419" sz="1200" dirty="0">
                <a:latin typeface="Arial"/>
                <a:cs typeface="Arial"/>
              </a:rPr>
              <a:t> los cuerpos de las peticiones </a:t>
            </a:r>
            <a:endParaRPr lang="es-CO" altLang="es-419" sz="1200" dirty="0">
              <a:latin typeface="Arial" panose="020B0604020202020204" pitchFamily="34" charset="0"/>
              <a:cs typeface="Arial"/>
            </a:endParaRPr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96BF63AE-FEFD-5F9C-FE94-B53D85219C4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11228" y="3223448"/>
            <a:ext cx="3458877" cy="968486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1694F53C-C06E-8D7A-A283-82AA34684FA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13766" y="335595"/>
            <a:ext cx="1938011" cy="713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292450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6E37EC2-A2C8-D44E-8A0A-E0913ACAB8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ítulo 1">
            <a:extLst>
              <a:ext uri="{FF2B5EF4-FFF2-40B4-BE49-F238E27FC236}">
                <a16:creationId xmlns:a16="http://schemas.microsoft.com/office/drawing/2014/main" id="{CB6DFC8B-EA4C-A5F4-079E-FBEB71B345A6}"/>
              </a:ext>
            </a:extLst>
          </p:cNvPr>
          <p:cNvSpPr txBox="1">
            <a:spLocks/>
          </p:cNvSpPr>
          <p:nvPr/>
        </p:nvSpPr>
        <p:spPr>
          <a:xfrm>
            <a:off x="456236" y="416690"/>
            <a:ext cx="9815809" cy="527874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None/>
              <a:tabLst/>
              <a:defRPr/>
            </a:pPr>
            <a:r>
              <a:rPr lang="es-CO" sz="3600" b="1" dirty="0">
                <a:solidFill>
                  <a:prstClr val="white"/>
                </a:solidFill>
                <a:latin typeface="Times New Roman"/>
                <a:ea typeface="Calibri Light"/>
                <a:cs typeface="Calibri Light"/>
              </a:rPr>
              <a:t>Herramientas BASE DE DATOS</a:t>
            </a:r>
          </a:p>
        </p:txBody>
      </p:sp>
      <p:pic>
        <p:nvPicPr>
          <p:cNvPr id="4" name="Imagen 5">
            <a:extLst>
              <a:ext uri="{FF2B5EF4-FFF2-40B4-BE49-F238E27FC236}">
                <a16:creationId xmlns:a16="http://schemas.microsoft.com/office/drawing/2014/main" id="{47E0DFFE-26FD-3ED9-2155-9135EE3A01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7072" y="3194365"/>
            <a:ext cx="2134135" cy="22018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CuadroTexto 6">
            <a:extLst>
              <a:ext uri="{FF2B5EF4-FFF2-40B4-BE49-F238E27FC236}">
                <a16:creationId xmlns:a16="http://schemas.microsoft.com/office/drawing/2014/main" id="{70FFD65B-713C-3A16-3350-5E039B8AD4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1976" y="2444929"/>
            <a:ext cx="15843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t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s-CO" altLang="es-419" sz="1800" dirty="0">
                <a:latin typeface="Arial" panose="020B0604020202020204" pitchFamily="34" charset="0"/>
              </a:rPr>
              <a:t>PostgreSQL</a:t>
            </a:r>
            <a:endParaRPr lang="es-MX" altLang="es-419" sz="1800" dirty="0">
              <a:latin typeface="Arial" panose="020B0604020202020204" pitchFamily="34" charset="0"/>
            </a:endParaRPr>
          </a:p>
        </p:txBody>
      </p:sp>
      <p:pic>
        <p:nvPicPr>
          <p:cNvPr id="7" name="Picture 3" descr="GitHub - Wikipedia, la enciclopedia libre">
            <a:extLst>
              <a:ext uri="{FF2B5EF4-FFF2-40B4-BE49-F238E27FC236}">
                <a16:creationId xmlns:a16="http://schemas.microsoft.com/office/drawing/2014/main" id="{0CCC151E-C3AC-C9D9-F08A-EAB9F6900E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18500" y="4233863"/>
            <a:ext cx="1883834" cy="1766359"/>
          </a:xfrm>
          <a:prstGeom prst="rect">
            <a:avLst/>
          </a:prstGeom>
        </p:spPr>
      </p:pic>
      <p:pic>
        <p:nvPicPr>
          <p:cNvPr id="8" name="Picture 8" descr="Que es Git y para que sirve? | Victor Robles">
            <a:extLst>
              <a:ext uri="{FF2B5EF4-FFF2-40B4-BE49-F238E27FC236}">
                <a16:creationId xmlns:a16="http://schemas.microsoft.com/office/drawing/2014/main" id="{A99A0245-800C-BA08-FEE3-4167B1B06C5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64733" y="4110567"/>
            <a:ext cx="1875367" cy="1885950"/>
          </a:xfrm>
          <a:prstGeom prst="rect">
            <a:avLst/>
          </a:prstGeom>
        </p:spPr>
      </p:pic>
      <p:sp>
        <p:nvSpPr>
          <p:cNvPr id="10" name="CuadroTexto 7">
            <a:extLst>
              <a:ext uri="{FF2B5EF4-FFF2-40B4-BE49-F238E27FC236}">
                <a16:creationId xmlns:a16="http://schemas.microsoft.com/office/drawing/2014/main" id="{4E4B056C-2773-E63E-8D02-4FA14F1377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47760" y="3525208"/>
            <a:ext cx="232765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None/>
            </a:pPr>
            <a:r>
              <a:rPr lang="es-CO" altLang="es-419" sz="1800">
                <a:latin typeface="Arial"/>
                <a:cs typeface="Arial"/>
              </a:rPr>
              <a:t>Git</a:t>
            </a:r>
            <a:endParaRPr lang="es-CO" altLang="es-419" sz="1800" err="1">
              <a:latin typeface="Arial" panose="020B0604020202020204" pitchFamily="34" charset="0"/>
              <a:cs typeface="Arial"/>
            </a:endParaRPr>
          </a:p>
        </p:txBody>
      </p:sp>
      <p:sp>
        <p:nvSpPr>
          <p:cNvPr id="11" name="CuadroTexto 7">
            <a:extLst>
              <a:ext uri="{FF2B5EF4-FFF2-40B4-BE49-F238E27FC236}">
                <a16:creationId xmlns:a16="http://schemas.microsoft.com/office/drawing/2014/main" id="{FE560347-1740-6F7B-1C95-DDAC844280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95176" y="3525207"/>
            <a:ext cx="232765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None/>
            </a:pPr>
            <a:r>
              <a:rPr lang="es-CO" altLang="es-419" sz="1800">
                <a:latin typeface="Arial"/>
                <a:cs typeface="Arial"/>
              </a:rPr>
              <a:t>Github</a:t>
            </a:r>
            <a:endParaRPr lang="es-CO" altLang="es-419" sz="1800" err="1">
              <a:latin typeface="Arial" panose="020B0604020202020204" pitchFamily="34" charset="0"/>
              <a:cs typeface="Arial"/>
            </a:endParaRPr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8C2D9162-417F-EEC2-91E6-7156F980D2B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13766" y="335595"/>
            <a:ext cx="1938011" cy="713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770287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E31261F-F03F-4591-0BEC-803002FD29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ítulo 1">
            <a:extLst>
              <a:ext uri="{FF2B5EF4-FFF2-40B4-BE49-F238E27FC236}">
                <a16:creationId xmlns:a16="http://schemas.microsoft.com/office/drawing/2014/main" id="{7EDFC12B-8862-7002-95EC-8BB33A54AEC7}"/>
              </a:ext>
            </a:extLst>
          </p:cNvPr>
          <p:cNvSpPr txBox="1">
            <a:spLocks/>
          </p:cNvSpPr>
          <p:nvPr/>
        </p:nvSpPr>
        <p:spPr>
          <a:xfrm>
            <a:off x="456236" y="416690"/>
            <a:ext cx="9815809" cy="527874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None/>
              <a:tabLst/>
              <a:defRPr/>
            </a:pPr>
            <a:r>
              <a:rPr lang="es-ES" sz="3600" b="1" dirty="0" err="1">
                <a:solidFill>
                  <a:prstClr val="white"/>
                </a:solidFill>
                <a:latin typeface="Times New Roman"/>
                <a:ea typeface="Calibri Light"/>
                <a:cs typeface="Calibri Light"/>
              </a:rPr>
              <a:t>Librerias</a:t>
            </a:r>
            <a:r>
              <a:rPr lang="es-ES" sz="3600" b="1" dirty="0">
                <a:solidFill>
                  <a:prstClr val="white"/>
                </a:solidFill>
                <a:latin typeface="Times New Roman"/>
                <a:ea typeface="Calibri Light"/>
                <a:cs typeface="Calibri Light"/>
              </a:rPr>
              <a:t> y </a:t>
            </a:r>
            <a:r>
              <a:rPr lang="es-ES" sz="3600" b="1" dirty="0" err="1">
                <a:solidFill>
                  <a:prstClr val="white"/>
                </a:solidFill>
                <a:latin typeface="Times New Roman"/>
                <a:ea typeface="Calibri Light"/>
                <a:cs typeface="Calibri Light"/>
              </a:rPr>
              <a:t>APIs</a:t>
            </a:r>
            <a:endParaRPr lang="es-CO" sz="3600" b="1" dirty="0">
              <a:solidFill>
                <a:prstClr val="white"/>
              </a:solidFill>
              <a:latin typeface="Times New Roman"/>
              <a:ea typeface="Calibri Light"/>
              <a:cs typeface="Calibri Light"/>
            </a:endParaRPr>
          </a:p>
        </p:txBody>
      </p:sp>
      <p:sp>
        <p:nvSpPr>
          <p:cNvPr id="9" name="CuadroTexto 6">
            <a:extLst>
              <a:ext uri="{FF2B5EF4-FFF2-40B4-BE49-F238E27FC236}">
                <a16:creationId xmlns:a16="http://schemas.microsoft.com/office/drawing/2014/main" id="{EA4B36F8-E1DE-6C3B-E4F5-B2B1F8FB84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8349" y="1433660"/>
            <a:ext cx="9199442" cy="43755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285750" indent="-285750">
              <a:lnSpc>
                <a:spcPct val="100000"/>
              </a:lnSpc>
              <a:spcBef>
                <a:spcPct val="0"/>
              </a:spcBef>
            </a:pPr>
            <a:r>
              <a:rPr lang="es-CO" altLang="es-419" sz="2000" dirty="0">
                <a:latin typeface="Arial" panose="020B0604020202020204" pitchFamily="34" charset="0"/>
              </a:rPr>
              <a:t>Autenticación JWT con </a:t>
            </a:r>
            <a:r>
              <a:rPr lang="es-CO" altLang="es-419" sz="2000" dirty="0" err="1">
                <a:latin typeface="Arial" panose="020B0604020202020204" pitchFamily="34" charset="0"/>
              </a:rPr>
              <a:t>python-jose</a:t>
            </a:r>
            <a:r>
              <a:rPr lang="es-CO" altLang="es-419" sz="2000" dirty="0">
                <a:latin typeface="Arial" panose="020B0604020202020204" pitchFamily="34" charset="0"/>
              </a:rPr>
              <a:t> (</a:t>
            </a:r>
            <a:r>
              <a:rPr lang="es-CO" altLang="es-419" sz="2000" dirty="0" err="1">
                <a:latin typeface="Arial" panose="020B0604020202020204" pitchFamily="34" charset="0"/>
              </a:rPr>
              <a:t>jose.jwt</a:t>
            </a:r>
            <a:r>
              <a:rPr lang="es-CO" altLang="es-419" sz="2000" dirty="0">
                <a:latin typeface="Arial" panose="020B0604020202020204" pitchFamily="34" charset="0"/>
              </a:rPr>
              <a:t>): genera y valida tokens de acceso/</a:t>
            </a:r>
            <a:r>
              <a:rPr lang="es-CO" altLang="es-419" sz="2000" dirty="0" err="1">
                <a:latin typeface="Arial" panose="020B0604020202020204" pitchFamily="34" charset="0"/>
              </a:rPr>
              <a:t>refresh</a:t>
            </a:r>
            <a:r>
              <a:rPr lang="es-CO" altLang="es-419" sz="2000" dirty="0">
                <a:latin typeface="Arial" panose="020B0604020202020204" pitchFamily="34" charset="0"/>
              </a:rPr>
              <a:t>.</a:t>
            </a:r>
          </a:p>
          <a:p>
            <a:pPr marL="285750" indent="-285750"/>
            <a:r>
              <a:rPr lang="es-CO" altLang="es-419" sz="2000" dirty="0">
                <a:latin typeface="Arial" panose="020B0604020202020204" pitchFamily="34" charset="0"/>
              </a:rPr>
              <a:t> Encriptación de contraseñas con </a:t>
            </a:r>
            <a:r>
              <a:rPr lang="es-CO" altLang="es-419" sz="2000" dirty="0" err="1">
                <a:latin typeface="Arial" panose="020B0604020202020204" pitchFamily="34" charset="0"/>
              </a:rPr>
              <a:t>bcrypt</a:t>
            </a:r>
            <a:r>
              <a:rPr lang="es-CO" altLang="es-419" sz="2000" dirty="0">
                <a:latin typeface="Arial" panose="020B0604020202020204" pitchFamily="34" charset="0"/>
              </a:rPr>
              <a:t>: verifica y (si hace falta) migra contraseñas </a:t>
            </a:r>
            <a:r>
              <a:rPr lang="es-CO" altLang="es-419" sz="2000" dirty="0" err="1">
                <a:latin typeface="Arial" panose="020B0604020202020204" pitchFamily="34" charset="0"/>
              </a:rPr>
              <a:t>legacy</a:t>
            </a:r>
            <a:r>
              <a:rPr lang="es-CO" altLang="es-419" sz="2000" dirty="0">
                <a:latin typeface="Arial" panose="020B0604020202020204" pitchFamily="34" charset="0"/>
              </a:rPr>
              <a:t> a hash </a:t>
            </a:r>
            <a:r>
              <a:rPr lang="es-CO" altLang="es-419" sz="2000" dirty="0" err="1">
                <a:latin typeface="Arial" panose="020B0604020202020204" pitchFamily="34" charset="0"/>
              </a:rPr>
              <a:t>bcrypt</a:t>
            </a:r>
            <a:r>
              <a:rPr lang="es-CO" altLang="es-419" sz="2000" dirty="0">
                <a:latin typeface="Arial" panose="020B0604020202020204" pitchFamily="34" charset="0"/>
              </a:rPr>
              <a:t>.</a:t>
            </a:r>
            <a:r>
              <a:rPr lang="es-CO" sz="2000" dirty="0"/>
              <a:t> </a:t>
            </a:r>
          </a:p>
          <a:p>
            <a:pPr marL="285750" indent="-285750"/>
            <a:r>
              <a:rPr lang="es-CO" sz="2000" dirty="0" err="1"/>
              <a:t>smtplib</a:t>
            </a:r>
            <a:r>
              <a:rPr lang="es-CO" sz="2000" dirty="0"/>
              <a:t> + email (SMTP): envío de correos.  </a:t>
            </a:r>
          </a:p>
          <a:p>
            <a:pPr marL="285750" indent="-285750"/>
            <a:r>
              <a:rPr lang="es-CO" sz="2000" dirty="0" err="1"/>
              <a:t>imaplib</a:t>
            </a:r>
            <a:r>
              <a:rPr lang="es-CO" sz="2000" dirty="0"/>
              <a:t> + email: lectura de bandeja por IMAP (INBOX) para recoger emails (</a:t>
            </a:r>
            <a:r>
              <a:rPr lang="es-CO" sz="2000" dirty="0" err="1"/>
              <a:t>dashboard</a:t>
            </a:r>
            <a:r>
              <a:rPr lang="es-CO" sz="2000" dirty="0"/>
              <a:t>).</a:t>
            </a:r>
          </a:p>
          <a:p>
            <a:pPr marL="285750" indent="-285750"/>
            <a:r>
              <a:rPr lang="es-CO" sz="2000" dirty="0"/>
              <a:t>Lucide :iconos</a:t>
            </a:r>
          </a:p>
          <a:p>
            <a:pPr marL="285750" indent="-285750"/>
            <a:r>
              <a:rPr lang="es-CO" sz="2000" dirty="0" err="1"/>
              <a:t>OpenStreetMap</a:t>
            </a:r>
            <a:endParaRPr lang="es-CO" sz="2000" dirty="0"/>
          </a:p>
          <a:p>
            <a:pPr marL="285750" indent="-285750"/>
            <a:r>
              <a:rPr lang="es-CO" sz="2000" dirty="0" err="1"/>
              <a:t>Cloudinary</a:t>
            </a:r>
            <a:r>
              <a:rPr lang="es-CO" sz="2000" dirty="0"/>
              <a:t>: subida de imágenes (usa CLOUDINARY_URL y el paquete </a:t>
            </a:r>
            <a:r>
              <a:rPr lang="es-CO" sz="2000" dirty="0" err="1"/>
              <a:t>cloudinary</a:t>
            </a:r>
            <a:r>
              <a:rPr lang="es-CO" sz="2000" dirty="0"/>
              <a:t>).</a:t>
            </a:r>
          </a:p>
          <a:p>
            <a:pPr marL="285750" indent="-285750"/>
            <a:r>
              <a:rPr lang="es-CO" sz="2000" dirty="0"/>
              <a:t>Pagos con </a:t>
            </a:r>
            <a:r>
              <a:rPr lang="es-CO" sz="2000" dirty="0" err="1"/>
              <a:t>Wompi</a:t>
            </a:r>
            <a:r>
              <a:rPr lang="es-CO" sz="2000" dirty="0"/>
              <a:t>:  - </a:t>
            </a:r>
            <a:r>
              <a:rPr lang="es-CO" sz="2000" dirty="0" err="1"/>
              <a:t>requests</a:t>
            </a:r>
            <a:r>
              <a:rPr lang="es-CO" sz="2000" dirty="0"/>
              <a:t> (+ reintentos): llamadas a la API de </a:t>
            </a:r>
            <a:r>
              <a:rPr lang="es-CO" sz="2000" dirty="0" err="1"/>
              <a:t>Wompi</a:t>
            </a:r>
            <a:r>
              <a:rPr lang="es-CO" sz="2000" dirty="0"/>
              <a:t>.  - </a:t>
            </a:r>
            <a:r>
              <a:rPr lang="es-CO" sz="2000" dirty="0" err="1"/>
              <a:t>Webhook</a:t>
            </a:r>
            <a:r>
              <a:rPr lang="es-CO" sz="2000" dirty="0"/>
              <a:t> con validación de firma (integridad) y confirmación de reserva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4D94082A-2BFC-2303-593E-A90A63DE1C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13766" y="335595"/>
            <a:ext cx="1938011" cy="713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317335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>
            <a:extLst>
              <a:ext uri="{FF2B5EF4-FFF2-40B4-BE49-F238E27FC236}">
                <a16:creationId xmlns:a16="http://schemas.microsoft.com/office/drawing/2014/main" id="{BB6F714C-A6B0-54AE-507A-D0700714D94B}"/>
              </a:ext>
            </a:extLst>
          </p:cNvPr>
          <p:cNvSpPr txBox="1">
            <a:spLocks/>
          </p:cNvSpPr>
          <p:nvPr/>
        </p:nvSpPr>
        <p:spPr>
          <a:xfrm>
            <a:off x="456236" y="416690"/>
            <a:ext cx="9815809" cy="527874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3600" b="1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WORK SANS BOLD ROMAN"/>
              </a:rPr>
              <a:t>Avances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C6EDBC5-9719-5298-F46B-FFD61D7493B8}"/>
              </a:ext>
            </a:extLst>
          </p:cNvPr>
          <p:cNvSpPr txBox="1"/>
          <p:nvPr/>
        </p:nvSpPr>
        <p:spPr>
          <a:xfrm>
            <a:off x="6853708" y="2782669"/>
            <a:ext cx="2020328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dirty="0">
                <a:ea typeface="Calibri"/>
                <a:cs typeface="Calibri"/>
                <a:hlinkClick r:id="rId2"/>
              </a:rPr>
              <a:t>Click aqui</a:t>
            </a:r>
          </a:p>
        </p:txBody>
      </p:sp>
      <p:pic>
        <p:nvPicPr>
          <p:cNvPr id="3074" name="Picture 2" descr="GitHub Logo and symbol, meaning, history, PNG, brand">
            <a:extLst>
              <a:ext uri="{FF2B5EF4-FFF2-40B4-BE49-F238E27FC236}">
                <a16:creationId xmlns:a16="http://schemas.microsoft.com/office/drawing/2014/main" id="{50AFD77A-0689-42F1-6076-607F215204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532" y="1454332"/>
            <a:ext cx="6277913" cy="35313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E9202541-CAD5-BD95-949F-3759C9972B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41305" y="5678118"/>
            <a:ext cx="1938011" cy="713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052615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526E8965-C505-F42A-8164-B2118710E9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6994" y="2460133"/>
            <a:ext cx="1938011" cy="713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462668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819</Words>
  <Application>Microsoft Office PowerPoint</Application>
  <PresentationFormat>Panorámica</PresentationFormat>
  <Paragraphs>93</Paragraphs>
  <Slides>24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10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24</vt:i4>
      </vt:variant>
    </vt:vector>
  </HeadingPairs>
  <TitlesOfParts>
    <vt:vector size="35" baseType="lpstr">
      <vt:lpstr>Arial</vt:lpstr>
      <vt:lpstr>Calibri</vt:lpstr>
      <vt:lpstr>Calibri Light</vt:lpstr>
      <vt:lpstr>Source Sans Pro</vt:lpstr>
      <vt:lpstr>time</vt:lpstr>
      <vt:lpstr>Times New Roman</vt:lpstr>
      <vt:lpstr>WORK SANS BOLD ROMAN</vt:lpstr>
      <vt:lpstr>WORK SANS BOLD ROMAN</vt:lpstr>
      <vt:lpstr>Work Sans Light Roman</vt:lpstr>
      <vt:lpstr>Work Sans Medium Roman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Jorge Enrique Pedraza Sanchez</dc:creator>
  <cp:lastModifiedBy>natalia barajas</cp:lastModifiedBy>
  <cp:revision>13</cp:revision>
  <dcterms:created xsi:type="dcterms:W3CDTF">2020-10-01T23:51:28Z</dcterms:created>
  <dcterms:modified xsi:type="dcterms:W3CDTF">2026-04-17T21:51:01Z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299739c-ad3d-4908-806e-4d91151a6e13_Enabled">
    <vt:lpwstr>true</vt:lpwstr>
  </property>
  <property fmtid="{D5CDD505-2E9C-101B-9397-08002B2CF9AE}" pid="3" name="MSIP_Label_1299739c-ad3d-4908-806e-4d91151a6e13_Method">
    <vt:lpwstr>Standard</vt:lpwstr>
  </property>
  <property fmtid="{D5CDD505-2E9C-101B-9397-08002B2CF9AE}" pid="4" name="MSIP_Label_1299739c-ad3d-4908-806e-4d91151a6e13_Name">
    <vt:lpwstr>All Employees (Unrestricted)</vt:lpwstr>
  </property>
  <property fmtid="{D5CDD505-2E9C-101B-9397-08002B2CF9AE}" pid="5" name="MSIP_Label_1299739c-ad3d-4908-806e-4d91151a6e13_SiteId">
    <vt:lpwstr>cbc2c381-2f2e-4d93-91d1-506c9316ace7</vt:lpwstr>
  </property>
  <property fmtid="{D5CDD505-2E9C-101B-9397-08002B2CF9AE}" pid="6" name="MSIP_Label_1299739c-ad3d-4908-806e-4d91151a6e13_ContentBits">
    <vt:lpwstr>0</vt:lpwstr>
  </property>
  <property fmtid="{D5CDD505-2E9C-101B-9397-08002B2CF9AE}" pid="7" name="MSIP_Label_1299739c-ad3d-4908-806e-4d91151a6e13_SetDate">
    <vt:lpwstr>2022-08-12T19:17:55Z</vt:lpwstr>
  </property>
  <property fmtid="{D5CDD505-2E9C-101B-9397-08002B2CF9AE}" pid="8" name="MSIP_Label_1299739c-ad3d-4908-806e-4d91151a6e13_ActionId">
    <vt:lpwstr>8c6bc714-34a9-4b82-914e-50b1377a2da4</vt:lpwstr>
  </property>
</Properties>
</file>