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21D_434DFD69.xml" ContentType="application/vnd.ms-powerpoint.comments+xml"/>
  <Override PartName="/ppt/comments/modernComment_22B_1523B216.xml" ContentType="application/vnd.ms-powerpoint.comments+xml"/>
  <Override PartName="/ppt/comments/modernComment_21B_430847FE.xml" ContentType="application/vnd.ms-powerpoint.comments+xml"/>
  <Override PartName="/ppt/comments/modernComment_229_DDB1419.xml" ContentType="application/vnd.ms-powerpoint.comments+xml"/>
  <Override PartName="/ppt/comments/modernComment_21C_10C0F3C0.xml" ContentType="application/vnd.ms-powerpoint.comments+xml"/>
  <Override PartName="/ppt/comments/modernComment_21E_F38A607B.xml" ContentType="application/vnd.ms-powerpoint.comments+xml"/>
  <Override PartName="/ppt/comments/modernComment_223_7C8BC086.xml" ContentType="application/vnd.ms-powerpoint.comments+xml"/>
  <Override PartName="/ppt/comments/modernComment_219_B5143432.xml" ContentType="application/vnd.ms-powerpoint.comments+xml"/>
  <Override PartName="/ppt/comments/modernComment_22D_3032A30.xml" ContentType="application/vnd.ms-powerpoint.comments+xml"/>
  <Override PartName="/ppt/comments/modernComment_218_1B4D6979.xml" ContentType="application/vnd.ms-powerpoint.comments+xml"/>
  <Override PartName="/ppt/comments/modernComment_233_9BB658D1.xml" ContentType="application/vnd.ms-powerpoint.comments+xml"/>
  <Override PartName="/ppt/comments/modernComment_22C_2461712B.xml" ContentType="application/vnd.ms-powerpoint.comments+xml"/>
  <Override PartName="/ppt/comments/modernComment_222_EF061CDA.xml" ContentType="application/vnd.ms-powerpoint.comments+xml"/>
  <Override PartName="/ppt/comments/modernComment_226_768363AE.xml" ContentType="application/vnd.ms-powerpoint.comments+xml"/>
  <Override PartName="/ppt/comments/modernComment_228_613163C3.xml" ContentType="application/vnd.ms-powerpoint.comments+xml"/>
  <Override PartName="/ppt/comments/modernComment_227_DDA10033.xml" ContentType="application/vnd.ms-powerpoint.comments+xml"/>
  <Override PartName="/ppt/comments/modernComment_22E_DB9C041C.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handoutMasterIdLst>
    <p:handoutMasterId r:id="rId27"/>
  </p:handoutMasterIdLst>
  <p:sldIdLst>
    <p:sldId id="541" r:id="rId2"/>
    <p:sldId id="555" r:id="rId3"/>
    <p:sldId id="539" r:id="rId4"/>
    <p:sldId id="553" r:id="rId5"/>
    <p:sldId id="540" r:id="rId6"/>
    <p:sldId id="542" r:id="rId7"/>
    <p:sldId id="547" r:id="rId8"/>
    <p:sldId id="537" r:id="rId9"/>
    <p:sldId id="557" r:id="rId10"/>
    <p:sldId id="536" r:id="rId11"/>
    <p:sldId id="563" r:id="rId12"/>
    <p:sldId id="556" r:id="rId13"/>
    <p:sldId id="546" r:id="rId14"/>
    <p:sldId id="550" r:id="rId15"/>
    <p:sldId id="552" r:id="rId16"/>
    <p:sldId id="551" r:id="rId17"/>
    <p:sldId id="558" r:id="rId18"/>
    <p:sldId id="532" r:id="rId19"/>
    <p:sldId id="560" r:id="rId20"/>
    <p:sldId id="561" r:id="rId21"/>
    <p:sldId id="564" r:id="rId22"/>
    <p:sldId id="565" r:id="rId23"/>
    <p:sldId id="544" r:id="rId24"/>
    <p:sldId id="531" r:id="rId2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2" pos="3840" userDrawn="1">
          <p15:clr>
            <a:srgbClr val="A4A3A4"/>
          </p15:clr>
        </p15:guide>
        <p15:guide id="3" orient="horz" pos="18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DD254F-37CE-B72A-D929-E70B54B0ED62}" name="Einit Natalia Barajas Figueroa" initials="EF" userId="S::einit_barajas_soy.sena.edu.co#ext#@sena4.onmicrosoft.com::fc0b25c1-fd4c-4cd6-87fa-59bd7e2a3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C"/>
    <a:srgbClr val="343433"/>
    <a:srgbClr val="FF6C00"/>
    <a:srgbClr val="38AA00"/>
    <a:srgbClr val="766363"/>
    <a:srgbClr val="FFF5EA"/>
    <a:srgbClr val="003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C2C552-820D-EC22-E3D7-C81A901524E2}" v="13" dt="2025-11-28T20:27:54.02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54" autoAdjust="0"/>
  </p:normalViewPr>
  <p:slideViewPr>
    <p:cSldViewPr snapToGrid="0">
      <p:cViewPr varScale="1">
        <p:scale>
          <a:sx n="48" d="100"/>
          <a:sy n="48" d="100"/>
        </p:scale>
        <p:origin x="53" y="806"/>
      </p:cViewPr>
      <p:guideLst>
        <p:guide orient="horz" pos="595"/>
        <p:guide pos="3840"/>
        <p:guide orient="horz" pos="18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omments/modernComment_21B_430847FE.xml><?xml version="1.0" encoding="utf-8"?>
<p188:cmLst xmlns:a="http://schemas.openxmlformats.org/drawingml/2006/main" xmlns:r="http://schemas.openxmlformats.org/officeDocument/2006/relationships" xmlns:p188="http://schemas.microsoft.com/office/powerpoint/2018/8/main">
  <p188:cm id="{30BE37ED-6B30-4223-9B10-06D65EB9D9C6}" authorId="{27DD254F-37CE-B72A-D929-E70B54B0ED62}" created="2025-05-09T17:20:23.641">
    <pc:sldMkLst xmlns:pc="http://schemas.microsoft.com/office/powerpoint/2013/main/command">
      <pc:docMk/>
      <pc:sldMk cId="1124616190" sldId="539"/>
    </pc:sldMkLst>
    <p188:txBody>
      <a:bodyPr/>
      <a:lstStyle/>
      <a:p>
        <a:r>
          <a:rPr lang="en-US"/>
          <a:t>sebas</a:t>
        </a:r>
      </a:p>
    </p188:txBody>
  </p188:cm>
</p188:cmLst>
</file>

<file path=ppt/comments/modernComment_21C_10C0F3C0.xml><?xml version="1.0" encoding="utf-8"?>
<p188:cmLst xmlns:a="http://schemas.openxmlformats.org/drawingml/2006/main" xmlns:r="http://schemas.openxmlformats.org/officeDocument/2006/relationships" xmlns:p188="http://schemas.microsoft.com/office/powerpoint/2018/8/main">
  <p188:cm id="{11CE1347-AC39-47DA-869C-8FE83F8BB829}" authorId="{27DD254F-37CE-B72A-D929-E70B54B0ED62}" created="2025-05-09T17:20:57.283">
    <pc:sldMkLst xmlns:pc="http://schemas.microsoft.com/office/powerpoint/2013/main/command">
      <pc:docMk/>
      <pc:sldMk cId="281080768" sldId="540"/>
    </pc:sldMkLst>
    <p188:txBody>
      <a:bodyPr/>
      <a:lstStyle/>
      <a:p>
        <a:r>
          <a:rPr lang="en-US"/>
          <a:t>nata</a:t>
        </a:r>
      </a:p>
    </p188:txBody>
  </p188:cm>
</p188:cmLst>
</file>

<file path=ppt/comments/modernComment_21D_434DFD69.xml><?xml version="1.0" encoding="utf-8"?>
<p188:cmLst xmlns:a="http://schemas.openxmlformats.org/drawingml/2006/main" xmlns:r="http://schemas.openxmlformats.org/officeDocument/2006/relationships" xmlns:p188="http://schemas.microsoft.com/office/powerpoint/2018/8/main">
  <p188:cm id="{6C7D49E4-DED9-468E-899C-36759F392501}" authorId="{27DD254F-37CE-B72A-D929-E70B54B0ED62}" created="2025-05-09T17:20:07.781">
    <pc:sldMkLst xmlns:pc="http://schemas.microsoft.com/office/powerpoint/2013/main/command">
      <pc:docMk/>
      <pc:sldMk cId="1129184617" sldId="541"/>
    </pc:sldMkLst>
    <p188:txBody>
      <a:bodyPr/>
      <a:lstStyle/>
      <a:p>
        <a:r>
          <a:rPr lang="en-US"/>
          <a:t>sebas</a:t>
        </a:r>
      </a:p>
    </p188:txBody>
  </p188:cm>
</p188:cmLst>
</file>

<file path=ppt/comments/modernComment_21E_F38A607B.xml><?xml version="1.0" encoding="utf-8"?>
<p188:cmLst xmlns:a="http://schemas.openxmlformats.org/drawingml/2006/main" xmlns:r="http://schemas.openxmlformats.org/officeDocument/2006/relationships" xmlns:p188="http://schemas.microsoft.com/office/powerpoint/2018/8/main">
  <p188:cm id="{20918AB3-C62C-4B09-8CAF-EA0690183F3F}" authorId="{27DD254F-37CE-B72A-D929-E70B54B0ED62}" created="2025-05-09T17:20:51.080">
    <pc:sldMkLst xmlns:pc="http://schemas.microsoft.com/office/powerpoint/2013/main/command">
      <pc:docMk/>
      <pc:sldMk cId="4085932155" sldId="542"/>
    </pc:sldMkLst>
    <p188:txBody>
      <a:bodyPr/>
      <a:lstStyle/>
      <a:p>
        <a:r>
          <a:rPr lang="en-US"/>
          <a:t>sebas</a:t>
        </a:r>
      </a:p>
    </p188:txBody>
  </p188:cm>
</p188:cmLst>
</file>

<file path=ppt/comments/modernComment_22B_1523B216.xml><?xml version="1.0" encoding="utf-8"?>
<p188:cmLst xmlns:a="http://schemas.openxmlformats.org/drawingml/2006/main" xmlns:r="http://schemas.openxmlformats.org/officeDocument/2006/relationships" xmlns:p188="http://schemas.microsoft.com/office/powerpoint/2018/8/main">
  <p188:cm id="{BAC63BCA-4324-48A6-BE18-5EA2CFC287F4}" authorId="{27DD254F-37CE-B72A-D929-E70B54B0ED62}" created="2025-05-09T17:21:05.549">
    <pc:sldMkLst xmlns:pc="http://schemas.microsoft.com/office/powerpoint/2013/main/command">
      <pc:docMk/>
      <pc:sldMk cId="1971142826" sldId="535"/>
    </pc:sldMkLst>
    <p188:txBody>
      <a:bodyPr/>
      <a:lstStyle/>
      <a:p>
        <a:r>
          <a:rPr lang="en-US"/>
          <a:t>nata</a:t>
        </a:r>
      </a:p>
    </p188:txBody>
  </p188:cm>
</p188:cmLst>
</file>

<file path=ppt/comments/modernComment_22C_2461712B.xml><?xml version="1.0" encoding="utf-8"?>
<p188:cmLst xmlns:a="http://schemas.openxmlformats.org/drawingml/2006/main" xmlns:r="http://schemas.openxmlformats.org/officeDocument/2006/relationships" xmlns:p188="http://schemas.microsoft.com/office/powerpoint/2018/8/main">
  <p188:cm id="{28F456A8-017C-44BB-B0DA-251F321016DF}" authorId="{27DD254F-37CE-B72A-D929-E70B54B0ED62}" created="2025-05-09T17:23:09.288">
    <pc:sldMkLst xmlns:pc="http://schemas.microsoft.com/office/powerpoint/2013/main/command">
      <pc:docMk/>
      <pc:sldMk cId="244571600" sldId="554"/>
    </pc:sldMkLst>
    <p188:txBody>
      <a:bodyPr/>
      <a:lstStyle/>
      <a:p>
        <a:r>
          <a:rPr lang="en-US"/>
          <a:t>2</a:t>
        </a:r>
      </a:p>
    </p188:txBody>
  </p188:cm>
</p188:cmLst>
</file>

<file path=ppt/comments/modernComment_22D_3032A30.xml><?xml version="1.0" encoding="utf-8"?>
<p188:cmLst xmlns:a="http://schemas.openxmlformats.org/drawingml/2006/main" xmlns:r="http://schemas.openxmlformats.org/officeDocument/2006/relationships" xmlns:p188="http://schemas.microsoft.com/office/powerpoint/2018/8/main">
  <p188:cm id="{13417762-9219-4DAF-B33E-5393D017C703}" authorId="{27DD254F-37CE-B72A-D929-E70B54B0ED62}" created="2025-05-09T17:21:40.691">
    <pc:sldMkLst xmlns:pc="http://schemas.microsoft.com/office/powerpoint/2013/main/command">
      <pc:docMk/>
      <pc:sldMk cId="458058105" sldId="536"/>
    </pc:sldMkLst>
    <p188:txBody>
      <a:bodyPr/>
      <a:lstStyle/>
      <a:p>
        <a:r>
          <a:rPr lang="en-US"/>
          <a:t>nata</a:t>
        </a:r>
      </a:p>
    </p188:txBody>
  </p188:cm>
</p188:cmLst>
</file>

<file path=ppt/comments/modernComment_22E_DB9C041C.xml><?xml version="1.0" encoding="utf-8"?>
<p188:cmLst xmlns:a="http://schemas.openxmlformats.org/drawingml/2006/main" xmlns:r="http://schemas.openxmlformats.org/officeDocument/2006/relationships" xmlns:p188="http://schemas.microsoft.com/office/powerpoint/2018/8/main">
  <p188:cm id="{A9B19FBF-A587-4E31-A5A9-F0099AA3C3AC}" authorId="{27DD254F-37CE-B72A-D929-E70B54B0ED62}" created="2025-05-09T17:22:58.537">
    <pc:sldMkLst xmlns:pc="http://schemas.microsoft.com/office/powerpoint/2013/main/command">
      <pc:docMk/>
      <pc:sldMk cId="3718316083" sldId="551"/>
    </pc:sldMkLst>
    <p188:txBody>
      <a:bodyPr/>
      <a:lstStyle/>
      <a:p>
        <a:r>
          <a:rPr lang="en-US"/>
          <a:t>nata</a:t>
        </a:r>
      </a:p>
    </p188:txBody>
  </p188:cm>
</p188:cmLst>
</file>

<file path=ppt/comments/modernComment_218_1B4D6979.xml><?xml version="1.0" encoding="utf-8"?>
<p188:cmLst xmlns:a="http://schemas.openxmlformats.org/drawingml/2006/main" xmlns:r="http://schemas.openxmlformats.org/officeDocument/2006/relationships" xmlns:p188="http://schemas.microsoft.com/office/powerpoint/2018/8/main">
  <p188:cm id="{BF25E645-1C7D-4B94-AF83-349044F6C4A1}" authorId="{27DD254F-37CE-B72A-D929-E70B54B0ED62}" created="2025-05-09T17:21:40.691">
    <pc:sldMkLst xmlns:pc="http://schemas.microsoft.com/office/powerpoint/2013/main/command">
      <pc:docMk/>
      <pc:sldMk cId="458058105" sldId="536"/>
    </pc:sldMkLst>
    <p188:txBody>
      <a:bodyPr/>
      <a:lstStyle/>
      <a:p>
        <a:r>
          <a:rPr lang="en-US"/>
          <a:t>nata</a:t>
        </a:r>
      </a:p>
    </p188:txBody>
  </p188:cm>
</p188:cmLst>
</file>

<file path=ppt/comments/modernComment_219_B5143432.xml><?xml version="1.0" encoding="utf-8"?>
<p188:cmLst xmlns:a="http://schemas.openxmlformats.org/drawingml/2006/main" xmlns:r="http://schemas.openxmlformats.org/officeDocument/2006/relationships" xmlns:p188="http://schemas.microsoft.com/office/powerpoint/2018/8/main">
  <p188:cm id="{71994EE0-44FA-481C-B4D0-1439E29A1575}" authorId="{27DD254F-37CE-B72A-D929-E70B54B0ED62}" created="2025-05-09T17:21:13.893">
    <pc:sldMkLst xmlns:pc="http://schemas.microsoft.com/office/powerpoint/2013/main/command">
      <pc:docMk/>
      <pc:sldMk cId="3038000178" sldId="537"/>
    </pc:sldMkLst>
    <p188:txBody>
      <a:bodyPr/>
      <a:lstStyle/>
      <a:p>
        <a:r>
          <a:rPr lang="en-US"/>
          <a:t>nata</a:t>
        </a:r>
      </a:p>
    </p188:txBody>
  </p188:cm>
</p188:cmLst>
</file>

<file path=ppt/comments/modernComment_222_EF061CDA.xml><?xml version="1.0" encoding="utf-8"?>
<p188:cmLst xmlns:a="http://schemas.openxmlformats.org/drawingml/2006/main" xmlns:r="http://schemas.openxmlformats.org/officeDocument/2006/relationships" xmlns:p188="http://schemas.microsoft.com/office/powerpoint/2018/8/main">
  <p188:cm id="{A3F2F1A4-9DD4-4FE6-974E-CBBCD1B0ADFE}" authorId="{27DD254F-37CE-B72A-D929-E70B54B0ED62}" created="2025-05-09T17:22:13.958">
    <pc:sldMkLst xmlns:pc="http://schemas.microsoft.com/office/powerpoint/2013/main/command">
      <pc:docMk/>
      <pc:sldMk cId="4010155226" sldId="546"/>
    </pc:sldMkLst>
    <p188:txBody>
      <a:bodyPr/>
      <a:lstStyle/>
      <a:p>
        <a:r>
          <a:rPr lang="en-US"/>
          <a:t>sebas</a:t>
        </a:r>
      </a:p>
    </p188:txBody>
  </p188:cm>
</p188:cmLst>
</file>

<file path=ppt/comments/modernComment_223_7C8BC086.xml><?xml version="1.0" encoding="utf-8"?>
<p188:cmLst xmlns:a="http://schemas.openxmlformats.org/drawingml/2006/main" xmlns:r="http://schemas.openxmlformats.org/officeDocument/2006/relationships" xmlns:p188="http://schemas.microsoft.com/office/powerpoint/2018/8/main">
  <p188:cm id="{11D43E4A-0035-4D84-9B36-73E2E2448091}" authorId="{27DD254F-37CE-B72A-D929-E70B54B0ED62}" created="2025-05-09T17:21:19.706">
    <pc:sldMkLst xmlns:pc="http://schemas.microsoft.com/office/powerpoint/2013/main/command">
      <pc:docMk/>
      <pc:sldMk cId="2089533574" sldId="547"/>
    </pc:sldMkLst>
    <p188:txBody>
      <a:bodyPr/>
      <a:lstStyle/>
      <a:p>
        <a:r>
          <a:rPr lang="en-US"/>
          <a:t>nata</a:t>
        </a:r>
      </a:p>
    </p188:txBody>
  </p188:cm>
</p188:cmLst>
</file>

<file path=ppt/comments/modernComment_226_768363AE.xml><?xml version="1.0" encoding="utf-8"?>
<p188:cmLst xmlns:a="http://schemas.openxmlformats.org/drawingml/2006/main" xmlns:r="http://schemas.openxmlformats.org/officeDocument/2006/relationships" xmlns:p188="http://schemas.microsoft.com/office/powerpoint/2018/8/main">
  <p188:cm id="{FE43FFE9-36EB-4E53-883D-5EEF56E102CA}" authorId="{27DD254F-37CE-B72A-D929-E70B54B0ED62}" created="2025-05-09T17:22:30.802">
    <pc:sldMkLst xmlns:pc="http://schemas.microsoft.com/office/powerpoint/2013/main/command">
      <pc:docMk/>
      <pc:sldMk cId="1988322222" sldId="550"/>
    </pc:sldMkLst>
    <p188:txBody>
      <a:bodyPr/>
      <a:lstStyle/>
      <a:p>
        <a:r>
          <a:rPr lang="en-US"/>
          <a:t>nata</a:t>
        </a:r>
      </a:p>
    </p188:txBody>
  </p188:cm>
</p188:cmLst>
</file>

<file path=ppt/comments/modernComment_227_DDA10033.xml><?xml version="1.0" encoding="utf-8"?>
<p188:cmLst xmlns:a="http://schemas.openxmlformats.org/drawingml/2006/main" xmlns:r="http://schemas.openxmlformats.org/officeDocument/2006/relationships" xmlns:p188="http://schemas.microsoft.com/office/powerpoint/2018/8/main">
  <p188:cm id="{17DD6374-38E3-44F1-8480-188502E96A58}" authorId="{27DD254F-37CE-B72A-D929-E70B54B0ED62}" created="2025-05-09T17:22:58.537">
    <pc:sldMkLst xmlns:pc="http://schemas.microsoft.com/office/powerpoint/2013/main/command">
      <pc:docMk/>
      <pc:sldMk cId="3718316083" sldId="551"/>
    </pc:sldMkLst>
    <p188:txBody>
      <a:bodyPr/>
      <a:lstStyle/>
      <a:p>
        <a:r>
          <a:rPr lang="en-US"/>
          <a:t>nata</a:t>
        </a:r>
      </a:p>
    </p188:txBody>
  </p188:cm>
</p188:cmLst>
</file>

<file path=ppt/comments/modernComment_228_613163C3.xml><?xml version="1.0" encoding="utf-8"?>
<p188:cmLst xmlns:a="http://schemas.openxmlformats.org/drawingml/2006/main" xmlns:r="http://schemas.openxmlformats.org/officeDocument/2006/relationships" xmlns:p188="http://schemas.microsoft.com/office/powerpoint/2018/8/main">
  <p188:cm id="{0FD563B2-54F7-4635-8CC4-79887C0E67AD}" authorId="{27DD254F-37CE-B72A-D929-E70B54B0ED62}" created="2025-05-09T17:22:47.303">
    <pc:sldMkLst xmlns:pc="http://schemas.microsoft.com/office/powerpoint/2013/main/command">
      <pc:docMk/>
      <pc:sldMk cId="1630626755" sldId="552"/>
    </pc:sldMkLst>
    <p188:txBody>
      <a:bodyPr/>
      <a:lstStyle/>
      <a:p>
        <a:r>
          <a:rPr lang="en-US"/>
          <a:t>sebas</a:t>
        </a:r>
      </a:p>
    </p188:txBody>
  </p188:cm>
</p188:cmLst>
</file>

<file path=ppt/comments/modernComment_229_DDB1419.xml><?xml version="1.0" encoding="utf-8"?>
<p188:cmLst xmlns:a="http://schemas.openxmlformats.org/drawingml/2006/main" xmlns:r="http://schemas.openxmlformats.org/officeDocument/2006/relationships" xmlns:p188="http://schemas.microsoft.com/office/powerpoint/2018/8/main">
  <p188:cm id="{9EBFFACB-0D40-469D-A747-BBE84DF64409}" authorId="{27DD254F-37CE-B72A-D929-E70B54B0ED62}" created="2025-05-09T17:20:38.392">
    <pc:sldMkLst xmlns:pc="http://schemas.microsoft.com/office/powerpoint/2013/main/command">
      <pc:docMk/>
      <pc:sldMk cId="232461337" sldId="553"/>
    </pc:sldMkLst>
    <p188:txBody>
      <a:bodyPr/>
      <a:lstStyle/>
      <a:p>
        <a:r>
          <a:rPr lang="en-US"/>
          <a:t>sebas</a:t>
        </a:r>
      </a:p>
    </p188:txBody>
  </p188:cm>
</p188:cmLst>
</file>

<file path=ppt/comments/modernComment_233_9BB658D1.xml><?xml version="1.0" encoding="utf-8"?>
<p188:cmLst xmlns:a="http://schemas.openxmlformats.org/drawingml/2006/main" xmlns:r="http://schemas.openxmlformats.org/officeDocument/2006/relationships" xmlns:p188="http://schemas.microsoft.com/office/powerpoint/2018/8/main">
  <p188:cm id="{28979E4E-E771-4D3F-9FBE-02225C1AC9D2}" authorId="{27DD254F-37CE-B72A-D929-E70B54B0ED62}" created="2025-05-09T17:21:40.691">
    <pc:sldMkLst xmlns:pc="http://schemas.microsoft.com/office/powerpoint/2013/main/command">
      <pc:docMk/>
      <pc:sldMk cId="458058105" sldId="536"/>
    </pc:sldMkLst>
    <p188:txBody>
      <a:bodyPr/>
      <a:lstStyle/>
      <a:p>
        <a:r>
          <a:rPr lang="en-US"/>
          <a:t>nata</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dirty="0"/>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22/04/2026</a:t>
            </a:fld>
            <a:endParaRPr lang="es-CO" dirty="0"/>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dirty="0"/>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dirty="0"/>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22/04/2026</a:t>
            </a:fld>
            <a:endParaRPr lang="es-CO"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dirty="0"/>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dirty="0"/>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dirty="0"/>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dirty="0"/>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dirty="0"/>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dirty="0"/>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dirty="0"/>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22/04/2026</a:t>
            </a:fld>
            <a:endParaRPr lang="es-CO" dirty="0"/>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dirty="0"/>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dirty="0"/>
          </a:p>
        </p:txBody>
      </p:sp>
    </p:spTree>
    <p:extLst>
      <p:ext uri="{BB962C8B-B14F-4D97-AF65-F5344CB8AC3E}">
        <p14:creationId xmlns:p14="http://schemas.microsoft.com/office/powerpoint/2010/main" val="31456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22/04/2026</a:t>
            </a:fld>
            <a:endParaRPr lang="es-CO" dirty="0"/>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dirty="0"/>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microsoft.com/office/2018/10/relationships/comments" Target="../comments/modernComment_21D_434DFD6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microsoft.com/office/2018/10/relationships/comments" Target="../comments/modernComment_22B_1523B2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5.jpeg"/><Relationship Id="rId7" Type="http://schemas.openxmlformats.org/officeDocument/2006/relationships/image" Target="../media/image8.jpeg"/><Relationship Id="rId2" Type="http://schemas.microsoft.com/office/2018/10/relationships/comments" Target="../comments/modernComment_21B_430847FE.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microsoft.com/office/2018/10/relationships/comments" Target="../comments/modernComment_229_DDB14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0.jpeg"/><Relationship Id="rId7" Type="http://schemas.openxmlformats.org/officeDocument/2006/relationships/image" Target="../media/image13.png"/><Relationship Id="rId2" Type="http://schemas.microsoft.com/office/2018/10/relationships/comments" Target="../comments/modernComment_21C_10C0F3C0.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microsoft.com/office/2018/10/relationships/comments" Target="../comments/modernComment_21E_F38A607B.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microsoft.com/office/2018/10/relationships/comments" Target="../comments/modernComment_223_7C8BC08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microsoft.com/office/2018/10/relationships/comments" Target="../comments/modernComment_219_B5143432.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microsoft.com/office/2018/10/relationships/comments" Target="../comments/modernComment_22D_3032A3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microsoft.com/office/2018/10/relationships/comments" Target="../comments/modernComment_218_1B4D697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0.png"/><Relationship Id="rId7" Type="http://schemas.openxmlformats.org/officeDocument/2006/relationships/image" Target="../media/image24.jpeg"/><Relationship Id="rId2" Type="http://schemas.microsoft.com/office/2018/10/relationships/comments" Target="../comments/modernComment_233_9BB658D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microsoft.com/office/2018/10/relationships/comments" Target="../comments/modernComment_22C_2461712B.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hyperlink" Target="https://docs.google.com/spreadsheets/d/1ziGcEJIWWdArYEVR3MpIk33yreig74qm/edit?usp=drive_link&amp;ouid=118160846482597767338&amp;rtpof=true&amp;sd=true" TargetMode="External"/><Relationship Id="rId2" Type="http://schemas.microsoft.com/office/2018/10/relationships/comments" Target="../comments/modernComment_222_EF061CDA.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226_768363AE.xml"/><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hyperlink" Target="https://mermaid.ai/d/a806b4a5-34d9-4425-80bc-ef8613de0ffd" TargetMode="External"/><Relationship Id="rId2" Type="http://schemas.microsoft.com/office/2018/10/relationships/comments" Target="../comments/modernComment_228_613163C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hyperlink" Target="https://mermaid.ai/d/29c2b9ab-3c09-44c8-871e-13636b80d335" TargetMode="External"/><Relationship Id="rId2" Type="http://schemas.microsoft.com/office/2018/10/relationships/comments" Target="../comments/modernComment_227_DDA1003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29.svg"/><Relationship Id="rId2" Type="http://schemas.microsoft.com/office/2018/10/relationships/comments" Target="../comments/modernComment_22E_DB9C041C.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3.png"/><Relationship Id="rId4" Type="http://schemas.openxmlformats.org/officeDocument/2006/relationships/image" Target="../media/image27.sv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36.bin"/><Relationship Id="rId3" Type="http://schemas.openxmlformats.org/officeDocument/2006/relationships/image" Target="../media/image32.svg"/><Relationship Id="rId7" Type="http://schemas.openxmlformats.org/officeDocument/2006/relationships/image" Target="../media/image3.png"/><Relationship Id="rId2" Type="http://schemas.openxmlformats.org/officeDocument/2006/relationships/image" Target="../media/image30.jpe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0.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0.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github.com/SebastianPacheco05/Reservify" TargetMode="Externa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1149976-59ED-86DE-CAFB-F26E38C394F4}"/>
              </a:ext>
            </a:extLst>
          </p:cNvPr>
          <p:cNvSpPr/>
          <p:nvPr/>
        </p:nvSpPr>
        <p:spPr>
          <a:xfrm>
            <a:off x="3421172" y="3786902"/>
            <a:ext cx="5344743" cy="1200329"/>
          </a:xfrm>
          <a:prstGeom prst="rect">
            <a:avLst/>
          </a:prstGeom>
        </p:spPr>
        <p:txBody>
          <a:bodyPr wrap="square" lIns="91440" tIns="45720" rIns="91440" bIns="45720" anchor="t">
            <a:spAutoFit/>
          </a:bodyPr>
          <a:lstStyle/>
          <a:p>
            <a:pPr algn="ctr">
              <a:lnSpc>
                <a:spcPct val="90000"/>
              </a:lnSpc>
              <a:spcBef>
                <a:spcPct val="0"/>
              </a:spcBef>
              <a:defRPr sz="4000"/>
            </a:pPr>
            <a:r>
              <a:rPr lang="es-ES_tradnl" sz="2000" dirty="0">
                <a:solidFill>
                  <a:schemeClr val="bg1"/>
                </a:solidFill>
                <a:latin typeface="Work Sans Medium Roman"/>
                <a:ea typeface="+mj-ea"/>
                <a:cs typeface="+mj-cs"/>
                <a:sym typeface="Calibri"/>
              </a:rPr>
              <a:t>Centro de Servicios Empresarial y Turísticos </a:t>
            </a:r>
            <a:endParaRPr lang="es-ES_tradnl" sz="2000" dirty="0">
              <a:solidFill>
                <a:schemeClr val="bg1"/>
              </a:solidFill>
              <a:latin typeface="Work Sans Medium Roman" pitchFamily="2" charset="77"/>
              <a:ea typeface="+mj-ea"/>
              <a:cs typeface="+mj-cs"/>
            </a:endParaRPr>
          </a:p>
          <a:p>
            <a:pPr algn="ctr">
              <a:lnSpc>
                <a:spcPct val="90000"/>
              </a:lnSpc>
              <a:spcBef>
                <a:spcPct val="0"/>
              </a:spcBef>
              <a:defRPr sz="4000"/>
            </a:pPr>
            <a:r>
              <a:rPr lang="es-ES_tradnl" sz="2000" dirty="0">
                <a:solidFill>
                  <a:schemeClr val="bg1"/>
                </a:solidFill>
                <a:latin typeface="Work Sans Medium Roman"/>
                <a:ea typeface="+mj-ea"/>
                <a:cs typeface="+mj-cs"/>
                <a:sym typeface="Calibri"/>
              </a:rPr>
              <a:t>Einit Natalia Barajas </a:t>
            </a:r>
            <a:endParaRPr lang="es-ES_tradnl" sz="2000" dirty="0">
              <a:solidFill>
                <a:schemeClr val="bg1"/>
              </a:solidFill>
              <a:latin typeface="Work Sans Medium Roman" pitchFamily="2" charset="77"/>
              <a:ea typeface="+mj-ea"/>
              <a:cs typeface="+mj-cs"/>
            </a:endParaRPr>
          </a:p>
          <a:p>
            <a:pPr algn="ctr">
              <a:lnSpc>
                <a:spcPct val="90000"/>
              </a:lnSpc>
              <a:spcBef>
                <a:spcPct val="0"/>
              </a:spcBef>
              <a:defRPr sz="4000"/>
            </a:pPr>
            <a:r>
              <a:rPr lang="es-ES_tradnl" sz="2000" dirty="0">
                <a:solidFill>
                  <a:schemeClr val="bg1"/>
                </a:solidFill>
                <a:latin typeface="Work Sans Medium Roman"/>
                <a:ea typeface="+mj-ea"/>
                <a:cs typeface="+mj-cs"/>
                <a:sym typeface="Calibri"/>
              </a:rPr>
              <a:t>Sebastian Yesid Pacheco Rivera</a:t>
            </a:r>
            <a:br>
              <a:rPr lang="es-ES_tradnl" sz="2000" dirty="0">
                <a:solidFill>
                  <a:schemeClr val="bg1"/>
                </a:solidFill>
                <a:latin typeface="Work Sans Medium Roman"/>
                <a:ea typeface="+mj-ea"/>
                <a:cs typeface="+mj-cs"/>
                <a:sym typeface="Calibri"/>
              </a:rPr>
            </a:br>
            <a:r>
              <a:rPr lang="es-ES_tradnl" sz="2000" dirty="0">
                <a:solidFill>
                  <a:schemeClr val="bg1"/>
                </a:solidFill>
                <a:latin typeface="Work Sans Medium Roman"/>
                <a:ea typeface="+mj-ea"/>
                <a:cs typeface="+mj-cs"/>
                <a:sym typeface="Calibri"/>
              </a:rPr>
              <a:t>juan pacheco pachón</a:t>
            </a:r>
            <a:endParaRPr lang="es-ES_tradnl" sz="2000" dirty="0">
              <a:solidFill>
                <a:schemeClr val="bg1"/>
              </a:solidFill>
              <a:latin typeface="Calibri"/>
              <a:ea typeface="Calibri"/>
              <a:cs typeface="Calibri"/>
            </a:endParaRPr>
          </a:p>
        </p:txBody>
      </p:sp>
      <p:sp>
        <p:nvSpPr>
          <p:cNvPr id="5" name="CuadroTexto 4">
            <a:extLst>
              <a:ext uri="{FF2B5EF4-FFF2-40B4-BE49-F238E27FC236}">
                <a16:creationId xmlns:a16="http://schemas.microsoft.com/office/drawing/2014/main" id="{35BFFB67-C3D4-337D-C327-AB25D270EADA}"/>
              </a:ext>
            </a:extLst>
          </p:cNvPr>
          <p:cNvSpPr txBox="1"/>
          <p:nvPr/>
        </p:nvSpPr>
        <p:spPr>
          <a:xfrm>
            <a:off x="1005612" y="1713252"/>
            <a:ext cx="10175864" cy="1446550"/>
          </a:xfrm>
          <a:prstGeom prst="rect">
            <a:avLst/>
          </a:prstGeom>
          <a:noFill/>
        </p:spPr>
        <p:txBody>
          <a:bodyPr wrap="none" lIns="91440" tIns="45720" rIns="91440" bIns="45720" rtlCol="0" anchor="t">
            <a:spAutoFit/>
          </a:bodyPr>
          <a:lstStyle/>
          <a:p>
            <a:pPr algn="ctr">
              <a:defRPr/>
            </a:pPr>
            <a:r>
              <a:rPr lang="es-ES" sz="4400" dirty="0">
                <a:solidFill>
                  <a:schemeClr val="bg1"/>
                </a:solidFill>
                <a:ea typeface="+mn-lt"/>
                <a:cs typeface="+mn-lt"/>
              </a:rPr>
              <a:t>Implementación del software de reservas </a:t>
            </a:r>
            <a:endParaRPr lang="es-CO" sz="4400" b="1" dirty="0">
              <a:solidFill>
                <a:schemeClr val="bg1"/>
              </a:solidFill>
              <a:latin typeface="WORK SANS BOLD ROMAN" pitchFamily="2" charset="77"/>
              <a:ea typeface="+mn-lt"/>
              <a:cs typeface="+mn-lt"/>
            </a:endParaRPr>
          </a:p>
          <a:p>
            <a:pPr algn="ctr">
              <a:defRPr/>
            </a:pPr>
            <a:r>
              <a:rPr lang="es-ES" sz="4400" dirty="0">
                <a:solidFill>
                  <a:schemeClr val="bg1"/>
                </a:solidFill>
                <a:ea typeface="+mn-lt"/>
                <a:cs typeface="+mn-lt"/>
              </a:rPr>
              <a:t>Enfocados en restaurantes de Bucaramanga</a:t>
            </a:r>
            <a:endParaRPr lang="es-CO" sz="4400" b="1" u="none" strike="noStrike" kern="1200" cap="none" spc="0" normalizeH="0" baseline="0" noProof="0" dirty="0">
              <a:ln>
                <a:noFill/>
              </a:ln>
              <a:solidFill>
                <a:schemeClr val="bg1"/>
              </a:solidFill>
              <a:effectLst/>
              <a:uLnTx/>
              <a:uFillTx/>
              <a:latin typeface="WORK SANS BOLD ROMAN" pitchFamily="2" charset="77"/>
            </a:endParaRP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ángulo 3">
            <a:extLst>
              <a:ext uri="{FF2B5EF4-FFF2-40B4-BE49-F238E27FC236}">
                <a16:creationId xmlns:a16="http://schemas.microsoft.com/office/drawing/2014/main" id="{1E91B7AF-6831-8D97-C796-119F20A22AA7}"/>
              </a:ext>
            </a:extLst>
          </p:cNvPr>
          <p:cNvSpPr/>
          <p:nvPr/>
        </p:nvSpPr>
        <p:spPr>
          <a:xfrm>
            <a:off x="3466760" y="4874200"/>
            <a:ext cx="5344743" cy="369332"/>
          </a:xfrm>
          <a:prstGeom prst="rect">
            <a:avLst/>
          </a:prstGeom>
        </p:spPr>
        <p:txBody>
          <a:bodyPr wrap="square" lIns="91440" tIns="45720" rIns="91440" bIns="45720" anchor="t">
            <a:spAutoFit/>
          </a:bodyPr>
          <a:lstStyle/>
          <a:p>
            <a:pPr algn="ctr">
              <a:lnSpc>
                <a:spcPct val="90000"/>
              </a:lnSpc>
              <a:spcBef>
                <a:spcPct val="0"/>
              </a:spcBef>
              <a:defRPr sz="4000"/>
            </a:pPr>
            <a:r>
              <a:rPr lang="es-ES_tradnl" sz="2000" dirty="0">
                <a:solidFill>
                  <a:schemeClr val="bg1"/>
                </a:solidFill>
                <a:latin typeface="Work Sans Medium Roman"/>
                <a:ea typeface="Calibri"/>
                <a:cs typeface="Calibri"/>
              </a:rPr>
              <a:t>Ficha:2993127</a:t>
            </a:r>
          </a:p>
        </p:txBody>
      </p:sp>
      <p:sp>
        <p:nvSpPr>
          <p:cNvPr id="3" name="TextBox 2">
            <a:extLst>
              <a:ext uri="{FF2B5EF4-FFF2-40B4-BE49-F238E27FC236}">
                <a16:creationId xmlns:a16="http://schemas.microsoft.com/office/drawing/2014/main" id="{4F515A13-7717-78BA-728D-FCE1A1E1089D}"/>
              </a:ext>
            </a:extLst>
          </p:cNvPr>
          <p:cNvSpPr txBox="1"/>
          <p:nvPr/>
        </p:nvSpPr>
        <p:spPr>
          <a:xfrm>
            <a:off x="3841595" y="561279"/>
            <a:ext cx="458315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CO" sz="6000" b="1" dirty="0">
                <a:solidFill>
                  <a:schemeClr val="bg1"/>
                </a:solidFill>
                <a:latin typeface="Calibri"/>
                <a:ea typeface="Calibri"/>
                <a:cs typeface="Calibri"/>
              </a:rPr>
              <a:t>RESERVIFY</a:t>
            </a:r>
            <a:endParaRPr lang="en-US" dirty="0">
              <a:solidFill>
                <a:schemeClr val="bg1"/>
              </a:solidFill>
              <a:latin typeface="Calibri"/>
              <a:ea typeface="Calibri"/>
              <a:cs typeface="Calibri"/>
            </a:endParaRPr>
          </a:p>
        </p:txBody>
      </p:sp>
      <p:pic>
        <p:nvPicPr>
          <p:cNvPr id="7" name="Imagen 6">
            <a:extLst>
              <a:ext uri="{FF2B5EF4-FFF2-40B4-BE49-F238E27FC236}">
                <a16:creationId xmlns:a16="http://schemas.microsoft.com/office/drawing/2014/main" id="{29CE61BB-07C5-F9CF-3E4D-272F097B8955}"/>
              </a:ext>
            </a:extLst>
          </p:cNvPr>
          <p:cNvPicPr>
            <a:picLocks noChangeAspect="1"/>
          </p:cNvPicPr>
          <p:nvPr/>
        </p:nvPicPr>
        <p:blipFill>
          <a:blip r:embed="rId4"/>
          <a:stretch>
            <a:fillRect/>
          </a:stretch>
        </p:blipFill>
        <p:spPr>
          <a:xfrm>
            <a:off x="9641305" y="5678118"/>
            <a:ext cx="1938011" cy="713188"/>
          </a:xfrm>
          <a:prstGeom prst="rect">
            <a:avLst/>
          </a:prstGeom>
        </p:spPr>
      </p:pic>
    </p:spTree>
    <p:extLst>
      <p:ext uri="{BB962C8B-B14F-4D97-AF65-F5344CB8AC3E}">
        <p14:creationId xmlns:p14="http://schemas.microsoft.com/office/powerpoint/2010/main" val="1129184617"/>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A3419F3-A84C-6447-B375-21CAAA8C5CD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6E6265A-A527-1137-F81B-1FE32C1B2D95}"/>
              </a:ext>
            </a:extLst>
          </p:cNvPr>
          <p:cNvSpPr txBox="1"/>
          <p:nvPr/>
        </p:nvSpPr>
        <p:spPr>
          <a:xfrm>
            <a:off x="4201782" y="370217"/>
            <a:ext cx="34627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5400" b="1" dirty="0">
                <a:ea typeface="Calibri"/>
                <a:cs typeface="Calibri"/>
              </a:rPr>
              <a:t>ANALISTAS</a:t>
            </a:r>
          </a:p>
        </p:txBody>
      </p:sp>
      <p:sp>
        <p:nvSpPr>
          <p:cNvPr id="7" name="TextBox 6">
            <a:extLst>
              <a:ext uri="{FF2B5EF4-FFF2-40B4-BE49-F238E27FC236}">
                <a16:creationId xmlns:a16="http://schemas.microsoft.com/office/drawing/2014/main" id="{2D5255C7-D178-80A0-026E-227259370E62}"/>
              </a:ext>
            </a:extLst>
          </p:cNvPr>
          <p:cNvSpPr txBox="1"/>
          <p:nvPr/>
        </p:nvSpPr>
        <p:spPr>
          <a:xfrm>
            <a:off x="1021772" y="1177635"/>
            <a:ext cx="538595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Calibri"/>
                <a:cs typeface="Calibri"/>
              </a:rPr>
              <a:t>Einit Natalia Barajas Figueroa</a:t>
            </a:r>
          </a:p>
          <a:p>
            <a:r>
              <a:rPr lang="en-US" sz="2400" b="1" dirty="0">
                <a:ea typeface="Calibri"/>
                <a:cs typeface="Calibri"/>
              </a:rPr>
              <a:t>Sebastian Yedid Pacheco Rivera</a:t>
            </a:r>
          </a:p>
        </p:txBody>
      </p:sp>
      <p:sp>
        <p:nvSpPr>
          <p:cNvPr id="10" name="TextBox 9">
            <a:extLst>
              <a:ext uri="{FF2B5EF4-FFF2-40B4-BE49-F238E27FC236}">
                <a16:creationId xmlns:a16="http://schemas.microsoft.com/office/drawing/2014/main" id="{9B248C25-403C-F73C-C90C-DDE75F8A2DD9}"/>
              </a:ext>
            </a:extLst>
          </p:cNvPr>
          <p:cNvSpPr txBox="1"/>
          <p:nvPr/>
        </p:nvSpPr>
        <p:spPr>
          <a:xfrm>
            <a:off x="3372796" y="2010215"/>
            <a:ext cx="5455226"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300" b="1" dirty="0">
                <a:solidFill>
                  <a:srgbClr val="002060"/>
                </a:solidFill>
                <a:latin typeface="Source Sans Pro"/>
                <a:ea typeface="Source Sans Pro"/>
              </a:rPr>
              <a:t>PERFIL PROFESIONAL </a:t>
            </a:r>
            <a:endParaRPr lang="en-US" dirty="0"/>
          </a:p>
          <a:p>
            <a:pPr algn="l"/>
            <a:endParaRPr lang="en-US" dirty="0">
              <a:ea typeface="Calibri"/>
              <a:cs typeface="Calibri"/>
            </a:endParaRPr>
          </a:p>
        </p:txBody>
      </p:sp>
      <p:sp>
        <p:nvSpPr>
          <p:cNvPr id="11" name="TextBox 10">
            <a:extLst>
              <a:ext uri="{FF2B5EF4-FFF2-40B4-BE49-F238E27FC236}">
                <a16:creationId xmlns:a16="http://schemas.microsoft.com/office/drawing/2014/main" id="{09028142-EFBC-86B8-DB28-9FD052EA4C96}"/>
              </a:ext>
            </a:extLst>
          </p:cNvPr>
          <p:cNvSpPr txBox="1"/>
          <p:nvPr/>
        </p:nvSpPr>
        <p:spPr>
          <a:xfrm>
            <a:off x="847610" y="2786266"/>
            <a:ext cx="10490568"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mn-lt"/>
                <a:cs typeface="+mn-lt"/>
              </a:rPr>
              <a:t>El tecnólogo ADSO se desempeñará Desarrollo soluciones de tipo software en el que prestará servicios personales como analista, diseñador y programador de software independiente o, en proyectos específicos de acuerdo con la necesidad del servicio, adquiriendo la capacidad de autoaprendizaje y actualización de las nuevas tendencias de desarrollo de software en el mercado, al tiempo que mejora la dinámica y Economía del País. </a:t>
            </a:r>
            <a:endParaRPr lang="en-US" dirty="0">
              <a:ea typeface="+mn-lt"/>
              <a:cs typeface="+mn-lt"/>
            </a:endParaRPr>
          </a:p>
          <a:p>
            <a:endParaRPr lang="en-US" sz="2000" b="1" dirty="0">
              <a:latin typeface="Arial"/>
              <a:cs typeface="Arial"/>
            </a:endParaRPr>
          </a:p>
          <a:p>
            <a:pPr algn="l"/>
            <a:endParaRPr lang="en-US" dirty="0">
              <a:ea typeface="Calibri"/>
              <a:cs typeface="Calibri"/>
            </a:endParaRPr>
          </a:p>
        </p:txBody>
      </p:sp>
      <p:sp>
        <p:nvSpPr>
          <p:cNvPr id="12" name="TextBox 11">
            <a:extLst>
              <a:ext uri="{FF2B5EF4-FFF2-40B4-BE49-F238E27FC236}">
                <a16:creationId xmlns:a16="http://schemas.microsoft.com/office/drawing/2014/main" id="{47A59CAD-B976-10C4-5DA7-614C28AA2FB3}"/>
              </a:ext>
            </a:extLst>
          </p:cNvPr>
          <p:cNvSpPr txBox="1"/>
          <p:nvPr/>
        </p:nvSpPr>
        <p:spPr>
          <a:xfrm>
            <a:off x="3372928" y="4666891"/>
            <a:ext cx="5719313"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CO" sz="3300" b="1" dirty="0">
                <a:solidFill>
                  <a:srgbClr val="002060"/>
                </a:solidFill>
                <a:latin typeface="Source Sans Pro"/>
              </a:rPr>
              <a:t>VINCULACIÓN INSTITUCIONAL </a:t>
            </a:r>
          </a:p>
        </p:txBody>
      </p:sp>
      <p:sp>
        <p:nvSpPr>
          <p:cNvPr id="13" name="TextBox 12">
            <a:extLst>
              <a:ext uri="{FF2B5EF4-FFF2-40B4-BE49-F238E27FC236}">
                <a16:creationId xmlns:a16="http://schemas.microsoft.com/office/drawing/2014/main" id="{E86E8CD0-9AD6-33D2-1B99-3816BC879BBE}"/>
              </a:ext>
            </a:extLst>
          </p:cNvPr>
          <p:cNvSpPr txBox="1"/>
          <p:nvPr/>
        </p:nvSpPr>
        <p:spPr>
          <a:xfrm>
            <a:off x="4724400" y="5227608"/>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419" sz="2000" b="1" dirty="0">
                <a:latin typeface="Arial"/>
              </a:rPr>
              <a:t>Aprendiz 08/07/ 2024</a:t>
            </a:r>
          </a:p>
        </p:txBody>
      </p:sp>
      <p:pic>
        <p:nvPicPr>
          <p:cNvPr id="2" name="Imagen 1">
            <a:extLst>
              <a:ext uri="{FF2B5EF4-FFF2-40B4-BE49-F238E27FC236}">
                <a16:creationId xmlns:a16="http://schemas.microsoft.com/office/drawing/2014/main" id="{9A12EBFB-4CF0-6B7C-5CB5-3E7DB5F03A98}"/>
              </a:ext>
            </a:extLst>
          </p:cNvPr>
          <p:cNvPicPr>
            <a:picLocks noChangeAspect="1"/>
          </p:cNvPicPr>
          <p:nvPr/>
        </p:nvPicPr>
        <p:blipFill>
          <a:blip r:embed="rId4"/>
          <a:stretch>
            <a:fillRect/>
          </a:stretch>
        </p:blipFill>
        <p:spPr>
          <a:xfrm>
            <a:off x="9641305" y="5678118"/>
            <a:ext cx="1938011" cy="713188"/>
          </a:xfrm>
          <a:prstGeom prst="rect">
            <a:avLst/>
          </a:prstGeom>
        </p:spPr>
      </p:pic>
    </p:spTree>
    <p:extLst>
      <p:ext uri="{BB962C8B-B14F-4D97-AF65-F5344CB8AC3E}">
        <p14:creationId xmlns:p14="http://schemas.microsoft.com/office/powerpoint/2010/main" val="354660886"/>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34A4208-7DDE-681C-B3CE-D7CE52BA4A83}"/>
              </a:ext>
            </a:extLst>
          </p:cNvPr>
          <p:cNvSpPr txBox="1"/>
          <p:nvPr/>
        </p:nvSpPr>
        <p:spPr>
          <a:xfrm>
            <a:off x="1468229" y="1874367"/>
            <a:ext cx="645367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rPr>
              <a:t>Introducción</a:t>
            </a:r>
            <a:endParaRPr kumimoji="0" lang="es-ES" sz="40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endParaRPr>
          </a:p>
        </p:txBody>
      </p:sp>
      <p:pic>
        <p:nvPicPr>
          <p:cNvPr id="3" name="Imagen 2">
            <a:extLst>
              <a:ext uri="{FF2B5EF4-FFF2-40B4-BE49-F238E27FC236}">
                <a16:creationId xmlns:a16="http://schemas.microsoft.com/office/drawing/2014/main" id="{EF833615-C722-C866-0B24-F4AF60064505}"/>
              </a:ext>
            </a:extLst>
          </p:cNvPr>
          <p:cNvPicPr>
            <a:picLocks noChangeAspect="1"/>
          </p:cNvPicPr>
          <p:nvPr/>
        </p:nvPicPr>
        <p:blipFill>
          <a:blip r:embed="rId4"/>
          <a:stretch>
            <a:fillRect/>
          </a:stretch>
        </p:blipFill>
        <p:spPr>
          <a:xfrm>
            <a:off x="7372889" y="1068668"/>
            <a:ext cx="1938011" cy="713188"/>
          </a:xfrm>
          <a:prstGeom prst="rect">
            <a:avLst/>
          </a:prstGeom>
        </p:spPr>
      </p:pic>
      <p:pic>
        <p:nvPicPr>
          <p:cNvPr id="5" name="Picture 2" descr="Cola de café. La gente espera comida, restaurante de comida callejera.  Barra de ensaladas, hombres y">
            <a:extLst>
              <a:ext uri="{FF2B5EF4-FFF2-40B4-BE49-F238E27FC236}">
                <a16:creationId xmlns:a16="http://schemas.microsoft.com/office/drawing/2014/main" id="{EC00C1B5-2D11-F882-F9E3-445E96A7E9FB}"/>
              </a:ext>
            </a:extLst>
          </p:cNvPr>
          <p:cNvPicPr>
            <a:picLocks noChangeAspect="1"/>
          </p:cNvPicPr>
          <p:nvPr/>
        </p:nvPicPr>
        <p:blipFill>
          <a:blip r:embed="rId5"/>
          <a:stretch>
            <a:fillRect/>
          </a:stretch>
        </p:blipFill>
        <p:spPr>
          <a:xfrm>
            <a:off x="1140717" y="2794044"/>
            <a:ext cx="3124259" cy="1508691"/>
          </a:xfrm>
          <a:prstGeom prst="rect">
            <a:avLst/>
          </a:prstGeom>
        </p:spPr>
      </p:pic>
      <p:pic>
        <p:nvPicPr>
          <p:cNvPr id="6" name="Picture 10" descr="▷ 10 Apps de Encontrar Restaurantes Cerca de Mi Ubicación">
            <a:extLst>
              <a:ext uri="{FF2B5EF4-FFF2-40B4-BE49-F238E27FC236}">
                <a16:creationId xmlns:a16="http://schemas.microsoft.com/office/drawing/2014/main" id="{5454D78C-B481-A9F2-42F1-D4C918B0EAB1}"/>
              </a:ext>
            </a:extLst>
          </p:cNvPr>
          <p:cNvPicPr>
            <a:picLocks noChangeAspect="1"/>
          </p:cNvPicPr>
          <p:nvPr/>
        </p:nvPicPr>
        <p:blipFill>
          <a:blip r:embed="rId6"/>
          <a:srcRect l="66609" t="47032" r="9405" b="5678"/>
          <a:stretch>
            <a:fillRect/>
          </a:stretch>
        </p:blipFill>
        <p:spPr>
          <a:xfrm>
            <a:off x="4701690" y="2631924"/>
            <a:ext cx="1160219" cy="1225205"/>
          </a:xfrm>
          <a:prstGeom prst="rect">
            <a:avLst/>
          </a:prstGeom>
        </p:spPr>
      </p:pic>
      <p:pic>
        <p:nvPicPr>
          <p:cNvPr id="7" name="Picture 5" descr="hombre preguntando pregunta semi plano color vector personaje avatar.  editable icono para usuario perfil. redondo Insignia con persona en blanco.  sencillo dibujos animados estilo Mancha ilustración para web gráfico  diseño, animación 22054892">
            <a:extLst>
              <a:ext uri="{FF2B5EF4-FFF2-40B4-BE49-F238E27FC236}">
                <a16:creationId xmlns:a16="http://schemas.microsoft.com/office/drawing/2014/main" id="{C4A9B2BD-DAFA-59C0-308C-1D2B80C4B6F4}"/>
              </a:ext>
            </a:extLst>
          </p:cNvPr>
          <p:cNvPicPr>
            <a:picLocks noChangeAspect="1"/>
          </p:cNvPicPr>
          <p:nvPr/>
        </p:nvPicPr>
        <p:blipFill>
          <a:blip r:embed="rId7"/>
          <a:stretch>
            <a:fillRect/>
          </a:stretch>
        </p:blipFill>
        <p:spPr>
          <a:xfrm>
            <a:off x="5930212" y="3708910"/>
            <a:ext cx="1395503" cy="1481767"/>
          </a:xfrm>
          <a:prstGeom prst="rect">
            <a:avLst/>
          </a:prstGeom>
        </p:spPr>
      </p:pic>
      <p:pic>
        <p:nvPicPr>
          <p:cNvPr id="8" name="Picture 9" descr="Página 4 | Imágenes de Restaurante Animado - Descarga gratuita en Freepik">
            <a:extLst>
              <a:ext uri="{FF2B5EF4-FFF2-40B4-BE49-F238E27FC236}">
                <a16:creationId xmlns:a16="http://schemas.microsoft.com/office/drawing/2014/main" id="{A5C11AD8-8288-D7B8-471D-3922A6953AEA}"/>
              </a:ext>
            </a:extLst>
          </p:cNvPr>
          <p:cNvPicPr>
            <a:picLocks noChangeAspect="1"/>
          </p:cNvPicPr>
          <p:nvPr/>
        </p:nvPicPr>
        <p:blipFill>
          <a:blip r:embed="rId8"/>
          <a:srcRect l="9919" t="10298" r="9948" b="17811"/>
          <a:stretch>
            <a:fillRect/>
          </a:stretch>
        </p:blipFill>
        <p:spPr>
          <a:xfrm>
            <a:off x="4694861" y="3977728"/>
            <a:ext cx="1163050" cy="1210107"/>
          </a:xfrm>
          <a:prstGeom prst="rect">
            <a:avLst/>
          </a:prstGeom>
        </p:spPr>
      </p:pic>
      <p:sp>
        <p:nvSpPr>
          <p:cNvPr id="9" name="Thought Bubble: Cloud 14">
            <a:extLst>
              <a:ext uri="{FF2B5EF4-FFF2-40B4-BE49-F238E27FC236}">
                <a16:creationId xmlns:a16="http://schemas.microsoft.com/office/drawing/2014/main" id="{F3479BD1-D383-E65E-C1EF-1E4978FA2830}"/>
              </a:ext>
            </a:extLst>
          </p:cNvPr>
          <p:cNvSpPr/>
          <p:nvPr/>
        </p:nvSpPr>
        <p:spPr>
          <a:xfrm>
            <a:off x="6091207" y="2393990"/>
            <a:ext cx="1993019" cy="1233577"/>
          </a:xfrm>
          <a:prstGeom prst="cloud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a typeface="+mn-lt"/>
              <a:cs typeface="+mn-lt"/>
            </a:endParaRPr>
          </a:p>
          <a:p>
            <a:pPr algn="ctr"/>
            <a:r>
              <a:rPr lang="en-US" sz="1400">
                <a:solidFill>
                  <a:schemeClr val="tx1"/>
                </a:solidFill>
                <a:ea typeface="+mn-lt"/>
                <a:cs typeface="+mn-lt"/>
              </a:rPr>
              <a:t>¿</a:t>
            </a:r>
            <a:r>
              <a:rPr lang="en-US" sz="1400" err="1">
                <a:solidFill>
                  <a:schemeClr val="tx1"/>
                </a:solidFill>
                <a:ea typeface="+mn-lt"/>
                <a:cs typeface="+mn-lt"/>
              </a:rPr>
              <a:t>Dónde</a:t>
            </a:r>
            <a:r>
              <a:rPr lang="en-US" sz="1400">
                <a:solidFill>
                  <a:schemeClr val="tx1"/>
                </a:solidFill>
                <a:ea typeface="+mn-lt"/>
                <a:cs typeface="+mn-lt"/>
              </a:rPr>
              <a:t> </a:t>
            </a:r>
            <a:r>
              <a:rPr lang="en-US" sz="1400" err="1">
                <a:solidFill>
                  <a:schemeClr val="tx1"/>
                </a:solidFill>
                <a:ea typeface="+mn-lt"/>
                <a:cs typeface="+mn-lt"/>
              </a:rPr>
              <a:t>puedo</a:t>
            </a:r>
            <a:r>
              <a:rPr lang="en-US" sz="1400">
                <a:solidFill>
                  <a:schemeClr val="tx1"/>
                </a:solidFill>
                <a:ea typeface="+mn-lt"/>
                <a:cs typeface="+mn-lt"/>
              </a:rPr>
              <a:t> </a:t>
            </a:r>
            <a:r>
              <a:rPr lang="en-US" sz="1400" err="1">
                <a:solidFill>
                  <a:schemeClr val="tx1"/>
                </a:solidFill>
                <a:ea typeface="+mn-lt"/>
                <a:cs typeface="+mn-lt"/>
              </a:rPr>
              <a:t>reservar</a:t>
            </a:r>
            <a:r>
              <a:rPr lang="en-US" sz="1400">
                <a:solidFill>
                  <a:schemeClr val="tx1"/>
                </a:solidFill>
                <a:ea typeface="+mn-lt"/>
                <a:cs typeface="+mn-lt"/>
              </a:rPr>
              <a:t> </a:t>
            </a:r>
            <a:r>
              <a:rPr lang="en-US" sz="1400" err="1">
                <a:solidFill>
                  <a:schemeClr val="tx1"/>
                </a:solidFill>
                <a:ea typeface="+mn-lt"/>
                <a:cs typeface="+mn-lt"/>
              </a:rPr>
              <a:t>cerca</a:t>
            </a:r>
            <a:r>
              <a:rPr lang="en-US" sz="1400">
                <a:solidFill>
                  <a:schemeClr val="tx1"/>
                </a:solidFill>
                <a:ea typeface="+mn-lt"/>
                <a:cs typeface="+mn-lt"/>
              </a:rPr>
              <a:t> de mi casa?</a:t>
            </a:r>
            <a:endParaRPr lang="en-US">
              <a:solidFill>
                <a:schemeClr val="tx1"/>
              </a:solidFill>
              <a:ea typeface="Calibri"/>
              <a:cs typeface="Calibri"/>
            </a:endParaRPr>
          </a:p>
          <a:p>
            <a:pPr algn="ctr"/>
            <a:endParaRPr lang="en-US" sz="1400">
              <a:ea typeface="Calibri"/>
              <a:cs typeface="Calibri"/>
            </a:endParaRPr>
          </a:p>
        </p:txBody>
      </p:sp>
      <p:sp>
        <p:nvSpPr>
          <p:cNvPr id="10" name="TextBox 15">
            <a:extLst>
              <a:ext uri="{FF2B5EF4-FFF2-40B4-BE49-F238E27FC236}">
                <a16:creationId xmlns:a16="http://schemas.microsoft.com/office/drawing/2014/main" id="{00119DAF-E926-9417-8C6D-7F91010D87EE}"/>
              </a:ext>
            </a:extLst>
          </p:cNvPr>
          <p:cNvSpPr txBox="1"/>
          <p:nvPr/>
        </p:nvSpPr>
        <p:spPr>
          <a:xfrm>
            <a:off x="1374475" y="4307458"/>
            <a:ext cx="268569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1400">
                <a:ea typeface="Calibri"/>
                <a:cs typeface="Calibri"/>
              </a:rPr>
              <a:t>aplicaciones para realizar reservas en restaurantes es limitada</a:t>
            </a:r>
          </a:p>
        </p:txBody>
      </p:sp>
      <p:sp>
        <p:nvSpPr>
          <p:cNvPr id="11" name="Cloud 17">
            <a:extLst>
              <a:ext uri="{FF2B5EF4-FFF2-40B4-BE49-F238E27FC236}">
                <a16:creationId xmlns:a16="http://schemas.microsoft.com/office/drawing/2014/main" id="{A9286C84-1493-E51E-47E4-DFBC1F4B5DF8}"/>
              </a:ext>
            </a:extLst>
          </p:cNvPr>
          <p:cNvSpPr/>
          <p:nvPr/>
        </p:nvSpPr>
        <p:spPr>
          <a:xfrm>
            <a:off x="7669007" y="3241553"/>
            <a:ext cx="2012674" cy="1051555"/>
          </a:xfrm>
          <a:prstGeom prst="clou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ea typeface="Calibri"/>
                <a:cs typeface="Calibri"/>
              </a:rPr>
              <a:t>¿</a:t>
            </a:r>
            <a:r>
              <a:rPr lang="en-US" sz="1200" err="1">
                <a:solidFill>
                  <a:schemeClr val="tx1"/>
                </a:solidFill>
                <a:ea typeface="Calibri"/>
                <a:cs typeface="Calibri"/>
              </a:rPr>
              <a:t>Puedo</a:t>
            </a:r>
            <a:r>
              <a:rPr lang="en-US" sz="1200">
                <a:solidFill>
                  <a:schemeClr val="tx1"/>
                </a:solidFill>
                <a:ea typeface="Calibri"/>
                <a:cs typeface="Calibri"/>
              </a:rPr>
              <a:t> </a:t>
            </a:r>
            <a:r>
              <a:rPr lang="en-US" sz="1200" err="1">
                <a:solidFill>
                  <a:schemeClr val="tx1"/>
                </a:solidFill>
                <a:ea typeface="Calibri"/>
                <a:cs typeface="Calibri"/>
              </a:rPr>
              <a:t>reservar</a:t>
            </a:r>
            <a:r>
              <a:rPr lang="en-US" sz="1200">
                <a:solidFill>
                  <a:schemeClr val="tx1"/>
                </a:solidFill>
                <a:ea typeface="Calibri"/>
                <a:cs typeface="Calibri"/>
              </a:rPr>
              <a:t> </a:t>
            </a:r>
            <a:r>
              <a:rPr lang="en-US" sz="1200" err="1">
                <a:solidFill>
                  <a:schemeClr val="tx1"/>
                </a:solidFill>
                <a:ea typeface="Calibri"/>
                <a:cs typeface="Calibri"/>
              </a:rPr>
              <a:t>cerca</a:t>
            </a:r>
            <a:r>
              <a:rPr lang="en-US" sz="1200">
                <a:solidFill>
                  <a:schemeClr val="tx1"/>
                </a:solidFill>
                <a:ea typeface="Calibri"/>
                <a:cs typeface="Calibri"/>
              </a:rPr>
              <a:t> de la </a:t>
            </a:r>
            <a:r>
              <a:rPr lang="en-US" sz="1200" err="1">
                <a:solidFill>
                  <a:schemeClr val="tx1"/>
                </a:solidFill>
                <a:ea typeface="Calibri"/>
                <a:cs typeface="Calibri"/>
              </a:rPr>
              <a:t>ubicacion</a:t>
            </a:r>
            <a:r>
              <a:rPr lang="en-US" sz="1200">
                <a:solidFill>
                  <a:schemeClr val="tx1"/>
                </a:solidFill>
                <a:ea typeface="Calibri"/>
                <a:cs typeface="Calibri"/>
              </a:rPr>
              <a:t> que </a:t>
            </a:r>
            <a:r>
              <a:rPr lang="en-US" sz="1200" err="1">
                <a:solidFill>
                  <a:schemeClr val="tx1"/>
                </a:solidFill>
                <a:ea typeface="Calibri"/>
                <a:cs typeface="Calibri"/>
              </a:rPr>
              <a:t>necesite</a:t>
            </a:r>
            <a:r>
              <a:rPr lang="en-US" sz="1200">
                <a:solidFill>
                  <a:schemeClr val="tx1"/>
                </a:solidFill>
                <a:ea typeface="Calibri"/>
                <a:cs typeface="Calibri"/>
              </a:rPr>
              <a:t>?</a:t>
            </a:r>
          </a:p>
        </p:txBody>
      </p:sp>
    </p:spTree>
    <p:extLst>
      <p:ext uri="{BB962C8B-B14F-4D97-AF65-F5344CB8AC3E}">
        <p14:creationId xmlns:p14="http://schemas.microsoft.com/office/powerpoint/2010/main" val="1124616190"/>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6CD774-2A78-7EE5-AB05-2AC8883CB6A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FF3BD05-BFAB-A6DB-3421-35B91A0FB1E4}"/>
              </a:ext>
            </a:extLst>
          </p:cNvPr>
          <p:cNvSpPr txBox="1"/>
          <p:nvPr/>
        </p:nvSpPr>
        <p:spPr>
          <a:xfrm>
            <a:off x="1468229" y="1874367"/>
            <a:ext cx="6453678" cy="92333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5400" b="1" dirty="0">
                <a:solidFill>
                  <a:prstClr val="black">
                    <a:lumMod val="75000"/>
                    <a:lumOff val="25000"/>
                  </a:prstClr>
                </a:solidFill>
                <a:latin typeface="Work Sans Bold Roman"/>
              </a:rPr>
              <a:t>Problemática</a:t>
            </a:r>
            <a:endParaRPr kumimoji="0" lang="es-ES" sz="40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endParaRPr>
          </a:p>
        </p:txBody>
      </p:sp>
      <p:sp>
        <p:nvSpPr>
          <p:cNvPr id="4" name="CuadroTexto 3">
            <a:extLst>
              <a:ext uri="{FF2B5EF4-FFF2-40B4-BE49-F238E27FC236}">
                <a16:creationId xmlns:a16="http://schemas.microsoft.com/office/drawing/2014/main" id="{E97599AE-DF5D-6C3D-9CCA-5EAF7142A041}"/>
              </a:ext>
            </a:extLst>
          </p:cNvPr>
          <p:cNvSpPr txBox="1"/>
          <p:nvPr/>
        </p:nvSpPr>
        <p:spPr>
          <a:xfrm>
            <a:off x="1467968" y="2865455"/>
            <a:ext cx="8968029" cy="2308324"/>
          </a:xfrm>
          <a:prstGeom prst="rect">
            <a:avLst/>
          </a:prstGeom>
          <a:noFill/>
        </p:spPr>
        <p:txBody>
          <a:bodyPr wrap="square" lIns="91440" tIns="45720" rIns="91440" bIns="45720" rtlCol="0" anchor="t">
            <a:spAutoFit/>
          </a:bodyPr>
          <a:lstStyle/>
          <a:p>
            <a:r>
              <a:rPr lang="es-CO" sz="2400" dirty="0">
                <a:ea typeface="+mn-lt"/>
                <a:cs typeface="+mn-lt"/>
              </a:rPr>
              <a:t>La escasa demanda de aplicaciones de reservas, junto con la limitada disponibilidad de información sobre los establecimientos que las utilizan, creando una escasa información al usuario obstaculiza una gestión eficiente y oportuna de las reservas. Asimismo, numerosos restaurantes requieren estrategias de visibilidad y promoción que les permitan posicionarse adecuadamente en el mercado.</a:t>
            </a:r>
            <a:endParaRPr lang="en-US" dirty="0">
              <a:ea typeface="+mn-lt"/>
              <a:cs typeface="+mn-lt"/>
            </a:endParaRPr>
          </a:p>
        </p:txBody>
      </p:sp>
      <p:pic>
        <p:nvPicPr>
          <p:cNvPr id="3" name="Imagen 2">
            <a:extLst>
              <a:ext uri="{FF2B5EF4-FFF2-40B4-BE49-F238E27FC236}">
                <a16:creationId xmlns:a16="http://schemas.microsoft.com/office/drawing/2014/main" id="{106AD529-3E0C-A646-590F-E5C05ABC397B}"/>
              </a:ext>
            </a:extLst>
          </p:cNvPr>
          <p:cNvPicPr>
            <a:picLocks noChangeAspect="1"/>
          </p:cNvPicPr>
          <p:nvPr/>
        </p:nvPicPr>
        <p:blipFill>
          <a:blip r:embed="rId4"/>
          <a:stretch>
            <a:fillRect/>
          </a:stretch>
        </p:blipFill>
        <p:spPr>
          <a:xfrm>
            <a:off x="7320136" y="1161179"/>
            <a:ext cx="1938011" cy="713188"/>
          </a:xfrm>
          <a:prstGeom prst="rect">
            <a:avLst/>
          </a:prstGeom>
        </p:spPr>
      </p:pic>
    </p:spTree>
    <p:extLst>
      <p:ext uri="{BB962C8B-B14F-4D97-AF65-F5344CB8AC3E}">
        <p14:creationId xmlns:p14="http://schemas.microsoft.com/office/powerpoint/2010/main" val="23246133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15D167A-EE62-EA02-E6F4-53710691F485}"/>
              </a:ext>
            </a:extLst>
          </p:cNvPr>
          <p:cNvSpPr txBox="1"/>
          <p:nvPr/>
        </p:nvSpPr>
        <p:spPr>
          <a:xfrm>
            <a:off x="1776007" y="1892057"/>
            <a:ext cx="7550214" cy="923330"/>
          </a:xfrm>
          <a:prstGeom prst="rect">
            <a:avLst/>
          </a:prstGeom>
          <a:noFill/>
        </p:spPr>
        <p:txBody>
          <a:bodyPr wrap="square" lIns="91440" tIns="45720" rIns="91440" bIns="45720" rtlCol="0" anchor="t">
            <a:spAutoFit/>
          </a:bodyPr>
          <a:lstStyle/>
          <a:p>
            <a:pPr>
              <a:defRPr/>
            </a:pPr>
            <a:r>
              <a:rPr kumimoji="0" lang="es-ES" sz="5400" b="1" i="0" u="none" strike="noStrike" kern="1200" cap="none" spc="0" normalizeH="0" baseline="0" noProof="0" dirty="0">
                <a:ln>
                  <a:noFill/>
                </a:ln>
                <a:solidFill>
                  <a:prstClr val="black">
                    <a:lumMod val="75000"/>
                    <a:lumOff val="25000"/>
                  </a:prstClr>
                </a:solidFill>
                <a:effectLst/>
                <a:uLnTx/>
                <a:uFillTx/>
                <a:latin typeface="Work Sans Bold Roman"/>
              </a:rPr>
              <a:t>Justificación</a:t>
            </a:r>
            <a:r>
              <a:rPr lang="es-ES" sz="5400" b="1" dirty="0">
                <a:solidFill>
                  <a:prstClr val="black">
                    <a:lumMod val="75000"/>
                    <a:lumOff val="25000"/>
                  </a:prstClr>
                </a:solidFill>
                <a:latin typeface="Work Sans Bold Roman"/>
              </a:rPr>
              <a:t> </a:t>
            </a:r>
            <a:endParaRPr lang="es-ES" sz="5400" dirty="0">
              <a:solidFill>
                <a:prstClr val="black">
                  <a:lumMod val="75000"/>
                  <a:lumOff val="25000"/>
                </a:prstClr>
              </a:solidFill>
              <a:ea typeface="Calibri"/>
              <a:cs typeface="Calibri"/>
            </a:endParaRPr>
          </a:p>
        </p:txBody>
      </p:sp>
      <p:pic>
        <p:nvPicPr>
          <p:cNvPr id="2" name="Imagen 1">
            <a:extLst>
              <a:ext uri="{FF2B5EF4-FFF2-40B4-BE49-F238E27FC236}">
                <a16:creationId xmlns:a16="http://schemas.microsoft.com/office/drawing/2014/main" id="{F41AE2BA-ACFC-565B-F492-17A8E7E16ADD}"/>
              </a:ext>
            </a:extLst>
          </p:cNvPr>
          <p:cNvPicPr>
            <a:picLocks noChangeAspect="1"/>
          </p:cNvPicPr>
          <p:nvPr/>
        </p:nvPicPr>
        <p:blipFill>
          <a:blip r:embed="rId4"/>
          <a:stretch>
            <a:fillRect/>
          </a:stretch>
        </p:blipFill>
        <p:spPr>
          <a:xfrm>
            <a:off x="9201690" y="5171474"/>
            <a:ext cx="1938011" cy="713188"/>
          </a:xfrm>
          <a:prstGeom prst="rect">
            <a:avLst/>
          </a:prstGeom>
        </p:spPr>
      </p:pic>
      <p:pic>
        <p:nvPicPr>
          <p:cNvPr id="3" name="Picture 1" descr="Reparar Errores Molestos de Outlook: Guía 2025 | Mailbird">
            <a:extLst>
              <a:ext uri="{FF2B5EF4-FFF2-40B4-BE49-F238E27FC236}">
                <a16:creationId xmlns:a16="http://schemas.microsoft.com/office/drawing/2014/main" id="{03138705-9776-78B7-0747-6ACCFEA255E9}"/>
              </a:ext>
            </a:extLst>
          </p:cNvPr>
          <p:cNvPicPr>
            <a:picLocks noChangeAspect="1"/>
          </p:cNvPicPr>
          <p:nvPr/>
        </p:nvPicPr>
        <p:blipFill>
          <a:blip r:embed="rId5"/>
          <a:srcRect l="29316" t="-5802" r="27225" b="-1316"/>
          <a:stretch>
            <a:fillRect/>
          </a:stretch>
        </p:blipFill>
        <p:spPr>
          <a:xfrm>
            <a:off x="1791419" y="2822851"/>
            <a:ext cx="2371100" cy="2296815"/>
          </a:xfrm>
          <a:prstGeom prst="rect">
            <a:avLst/>
          </a:prstGeom>
        </p:spPr>
      </p:pic>
      <p:pic>
        <p:nvPicPr>
          <p:cNvPr id="4" name="Picture 5" descr="Reparar Errores Molestos de Outlook: Guía 2025 | Mailbird">
            <a:extLst>
              <a:ext uri="{FF2B5EF4-FFF2-40B4-BE49-F238E27FC236}">
                <a16:creationId xmlns:a16="http://schemas.microsoft.com/office/drawing/2014/main" id="{D24673DD-F885-1751-1823-418F2EC9FEEA}"/>
              </a:ext>
            </a:extLst>
          </p:cNvPr>
          <p:cNvPicPr>
            <a:picLocks noChangeAspect="1"/>
          </p:cNvPicPr>
          <p:nvPr/>
        </p:nvPicPr>
        <p:blipFill>
          <a:blip r:embed="rId5"/>
          <a:srcRect l="44327" t="8725" r="44855" b="59060"/>
          <a:stretch>
            <a:fillRect/>
          </a:stretch>
        </p:blipFill>
        <p:spPr>
          <a:xfrm>
            <a:off x="3243531" y="3279382"/>
            <a:ext cx="532709" cy="690738"/>
          </a:xfrm>
          <a:prstGeom prst="rect">
            <a:avLst/>
          </a:prstGeom>
        </p:spPr>
      </p:pic>
      <p:pic>
        <p:nvPicPr>
          <p:cNvPr id="6" name="Picture 9" descr="Buffet libre - Pizza Libre Inca">
            <a:extLst>
              <a:ext uri="{FF2B5EF4-FFF2-40B4-BE49-F238E27FC236}">
                <a16:creationId xmlns:a16="http://schemas.microsoft.com/office/drawing/2014/main" id="{B859CD3E-5C2B-DC43-2BAA-F31376834A7E}"/>
              </a:ext>
            </a:extLst>
          </p:cNvPr>
          <p:cNvPicPr>
            <a:picLocks noChangeAspect="1"/>
          </p:cNvPicPr>
          <p:nvPr/>
        </p:nvPicPr>
        <p:blipFill>
          <a:blip r:embed="rId6"/>
          <a:stretch>
            <a:fillRect/>
          </a:stretch>
        </p:blipFill>
        <p:spPr>
          <a:xfrm>
            <a:off x="1948133" y="3019244"/>
            <a:ext cx="690110" cy="646980"/>
          </a:xfrm>
          <a:prstGeom prst="rect">
            <a:avLst/>
          </a:prstGeom>
        </p:spPr>
      </p:pic>
      <p:pic>
        <p:nvPicPr>
          <p:cNvPr id="8" name="Picture 10" descr="Dónde dormir - Polifonik Sound">
            <a:extLst>
              <a:ext uri="{FF2B5EF4-FFF2-40B4-BE49-F238E27FC236}">
                <a16:creationId xmlns:a16="http://schemas.microsoft.com/office/drawing/2014/main" id="{4344487F-DD00-8D83-7965-A65D04477998}"/>
              </a:ext>
            </a:extLst>
          </p:cNvPr>
          <p:cNvPicPr>
            <a:picLocks noChangeAspect="1"/>
          </p:cNvPicPr>
          <p:nvPr/>
        </p:nvPicPr>
        <p:blipFill>
          <a:blip r:embed="rId7"/>
          <a:stretch>
            <a:fillRect/>
          </a:stretch>
        </p:blipFill>
        <p:spPr>
          <a:xfrm>
            <a:off x="2639683" y="3157053"/>
            <a:ext cx="615351" cy="558272"/>
          </a:xfrm>
          <a:prstGeom prst="rect">
            <a:avLst/>
          </a:prstGeom>
        </p:spPr>
      </p:pic>
      <p:pic>
        <p:nvPicPr>
          <p:cNvPr id="9" name="Picture 11" descr="Calendario Ocupado Ilustraciones Stock, Vectores, Y Clipart – (4,323  Ilustraciones Stock)">
            <a:extLst>
              <a:ext uri="{FF2B5EF4-FFF2-40B4-BE49-F238E27FC236}">
                <a16:creationId xmlns:a16="http://schemas.microsoft.com/office/drawing/2014/main" id="{830813ED-37AA-FB4F-6F63-7F342565A7A1}"/>
              </a:ext>
            </a:extLst>
          </p:cNvPr>
          <p:cNvPicPr>
            <a:picLocks noChangeAspect="1"/>
          </p:cNvPicPr>
          <p:nvPr/>
        </p:nvPicPr>
        <p:blipFill>
          <a:blip r:embed="rId8"/>
          <a:stretch>
            <a:fillRect/>
          </a:stretch>
        </p:blipFill>
        <p:spPr>
          <a:xfrm>
            <a:off x="5114746" y="2692161"/>
            <a:ext cx="2091905" cy="2106283"/>
          </a:xfrm>
          <a:prstGeom prst="rect">
            <a:avLst/>
          </a:prstGeom>
        </p:spPr>
      </p:pic>
      <p:sp>
        <p:nvSpPr>
          <p:cNvPr id="10" name="TextBox 13">
            <a:extLst>
              <a:ext uri="{FF2B5EF4-FFF2-40B4-BE49-F238E27FC236}">
                <a16:creationId xmlns:a16="http://schemas.microsoft.com/office/drawing/2014/main" id="{F7152F46-7216-A795-E1B0-684C95DA1464}"/>
              </a:ext>
            </a:extLst>
          </p:cNvPr>
          <p:cNvSpPr txBox="1"/>
          <p:nvPr/>
        </p:nvSpPr>
        <p:spPr>
          <a:xfrm>
            <a:off x="4673316" y="4899982"/>
            <a:ext cx="28303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Agenda </a:t>
            </a:r>
            <a:r>
              <a:rPr lang="en-US" sz="1200" err="1">
                <a:ea typeface="+mn-lt"/>
                <a:cs typeface="+mn-lt"/>
              </a:rPr>
              <a:t>desorganizada</a:t>
            </a:r>
            <a:r>
              <a:rPr lang="en-US" sz="1200">
                <a:ea typeface="+mn-lt"/>
                <a:cs typeface="+mn-lt"/>
              </a:rPr>
              <a:t>, doble </a:t>
            </a:r>
            <a:r>
              <a:rPr lang="en-US" sz="1200" err="1">
                <a:ea typeface="+mn-lt"/>
                <a:cs typeface="+mn-lt"/>
              </a:rPr>
              <a:t>reservas</a:t>
            </a:r>
            <a:r>
              <a:rPr lang="en-US" sz="1200">
                <a:ea typeface="+mn-lt"/>
                <a:cs typeface="+mn-lt"/>
              </a:rPr>
              <a:t>, </a:t>
            </a:r>
            <a:r>
              <a:rPr lang="en-US" sz="1200" err="1">
                <a:ea typeface="+mn-lt"/>
                <a:cs typeface="+mn-lt"/>
              </a:rPr>
              <a:t>falta</a:t>
            </a:r>
            <a:r>
              <a:rPr lang="en-US" sz="1200">
                <a:ea typeface="+mn-lt"/>
                <a:cs typeface="+mn-lt"/>
              </a:rPr>
              <a:t> de control, </a:t>
            </a:r>
            <a:r>
              <a:rPr lang="en-US" sz="1200" err="1">
                <a:ea typeface="+mn-lt"/>
                <a:cs typeface="+mn-lt"/>
              </a:rPr>
              <a:t>simbolizando</a:t>
            </a:r>
            <a:r>
              <a:rPr lang="en-US" sz="1200">
                <a:ea typeface="+mn-lt"/>
                <a:cs typeface="+mn-lt"/>
              </a:rPr>
              <a:t> que </a:t>
            </a:r>
            <a:r>
              <a:rPr lang="en-US" sz="1200" err="1">
                <a:ea typeface="+mn-lt"/>
                <a:cs typeface="+mn-lt"/>
              </a:rPr>
              <a:t>el</a:t>
            </a:r>
            <a:r>
              <a:rPr lang="en-US" sz="1200">
                <a:ea typeface="+mn-lt"/>
                <a:cs typeface="+mn-lt"/>
              </a:rPr>
              <a:t> </a:t>
            </a:r>
            <a:r>
              <a:rPr lang="en-US" sz="1200" err="1">
                <a:ea typeface="+mn-lt"/>
                <a:cs typeface="+mn-lt"/>
              </a:rPr>
              <a:t>sistema</a:t>
            </a:r>
            <a:r>
              <a:rPr lang="en-US" sz="1200">
                <a:ea typeface="+mn-lt"/>
                <a:cs typeface="+mn-lt"/>
              </a:rPr>
              <a:t> no es </a:t>
            </a:r>
            <a:r>
              <a:rPr lang="en-US" sz="1200" err="1">
                <a:ea typeface="+mn-lt"/>
                <a:cs typeface="+mn-lt"/>
              </a:rPr>
              <a:t>eficiente</a:t>
            </a:r>
            <a:r>
              <a:rPr lang="en-US" sz="1200">
                <a:ea typeface="+mn-lt"/>
                <a:cs typeface="+mn-lt"/>
              </a:rPr>
              <a:t>.</a:t>
            </a:r>
            <a:endParaRPr lang="en-US" sz="1200"/>
          </a:p>
        </p:txBody>
      </p:sp>
      <p:pic>
        <p:nvPicPr>
          <p:cNvPr id="11" name="Picture 14" descr="1.200+ Ordenador Portátil Con Sistema De Mensaje De Error Ilustraciones de  Stock, gráficos vectoriales libres de derechos y clip art - iStock">
            <a:extLst>
              <a:ext uri="{FF2B5EF4-FFF2-40B4-BE49-F238E27FC236}">
                <a16:creationId xmlns:a16="http://schemas.microsoft.com/office/drawing/2014/main" id="{FA020E1A-1F89-3600-8193-E576F7C687A4}"/>
              </a:ext>
            </a:extLst>
          </p:cNvPr>
          <p:cNvPicPr>
            <a:picLocks noChangeAspect="1"/>
          </p:cNvPicPr>
          <p:nvPr/>
        </p:nvPicPr>
        <p:blipFill>
          <a:blip r:embed="rId9"/>
          <a:srcRect l="14722" t="1430" r="11140" b="-2743"/>
          <a:stretch>
            <a:fillRect/>
          </a:stretch>
        </p:blipFill>
        <p:spPr>
          <a:xfrm>
            <a:off x="8195095" y="2615871"/>
            <a:ext cx="2387634" cy="2171980"/>
          </a:xfrm>
          <a:prstGeom prst="rect">
            <a:avLst/>
          </a:prstGeom>
        </p:spPr>
      </p:pic>
    </p:spTree>
    <p:extLst>
      <p:ext uri="{BB962C8B-B14F-4D97-AF65-F5344CB8AC3E}">
        <p14:creationId xmlns:p14="http://schemas.microsoft.com/office/powerpoint/2010/main" val="281080768"/>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15D167A-EE62-EA02-E6F4-53710691F485}"/>
              </a:ext>
            </a:extLst>
          </p:cNvPr>
          <p:cNvSpPr txBox="1"/>
          <p:nvPr/>
        </p:nvSpPr>
        <p:spPr>
          <a:xfrm>
            <a:off x="605128" y="423813"/>
            <a:ext cx="3669714" cy="830997"/>
          </a:xfrm>
          <a:prstGeom prst="rect">
            <a:avLst/>
          </a:prstGeom>
          <a:noFill/>
        </p:spPr>
        <p:txBody>
          <a:bodyPr wrap="square" lIns="91440" tIns="45720" rIns="91440" bIns="45720" rtlCol="0" anchor="t">
            <a:spAutoFit/>
          </a:bodyPr>
          <a:lstStyle/>
          <a:p>
            <a:pPr>
              <a:defRPr/>
            </a:pPr>
            <a:r>
              <a:rPr lang="es-ES" sz="2400" b="1" dirty="0">
                <a:solidFill>
                  <a:prstClr val="black">
                    <a:lumMod val="75000"/>
                    <a:lumOff val="25000"/>
                  </a:prstClr>
                </a:solidFill>
                <a:ea typeface="+mn-lt"/>
                <a:cs typeface="+mn-lt"/>
              </a:rPr>
              <a:t>Árbol </a:t>
            </a:r>
            <a:r>
              <a:rPr lang="es-ES" sz="2400" b="1" dirty="0">
                <a:solidFill>
                  <a:prstClr val="black">
                    <a:lumMod val="75000"/>
                    <a:lumOff val="25000"/>
                  </a:prstClr>
                </a:solidFill>
                <a:latin typeface="Calibri"/>
                <a:ea typeface="Calibri"/>
                <a:cs typeface="Calibri"/>
              </a:rPr>
              <a:t>de </a:t>
            </a:r>
            <a:r>
              <a:rPr lang="es-ES" sz="2400" b="1" dirty="0">
                <a:solidFill>
                  <a:prstClr val="black">
                    <a:lumMod val="75000"/>
                    <a:lumOff val="25000"/>
                  </a:prstClr>
                </a:solidFill>
                <a:latin typeface="Work Sans Bold Roman"/>
              </a:rPr>
              <a:t>Problemas</a:t>
            </a:r>
            <a:endParaRPr lang="es-ES" sz="2400" b="1" i="0" u="none" strike="noStrike" kern="1200" cap="none" spc="0" normalizeH="0" baseline="0" noProof="0" dirty="0">
              <a:ln>
                <a:noFill/>
              </a:ln>
              <a:solidFill>
                <a:prstClr val="black">
                  <a:lumMod val="75000"/>
                  <a:lumOff val="25000"/>
                </a:prstClr>
              </a:solidFill>
              <a:effectLst/>
              <a:uLnTx/>
              <a:uFillTx/>
              <a:latin typeface="Work Sans Bold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2400" b="1" i="0" u="none" strike="noStrike" kern="1200" cap="none" spc="0" normalizeH="0" baseline="0" noProof="0" dirty="0">
              <a:ln>
                <a:noFill/>
              </a:ln>
              <a:solidFill>
                <a:prstClr val="black">
                  <a:lumMod val="75000"/>
                  <a:lumOff val="25000"/>
                </a:prstClr>
              </a:solidFill>
              <a:effectLst/>
              <a:uLnTx/>
              <a:uFillTx/>
              <a:latin typeface="Work Sans Bold Roman"/>
            </a:endParaRPr>
          </a:p>
        </p:txBody>
      </p:sp>
      <p:pic>
        <p:nvPicPr>
          <p:cNvPr id="3" name="Picture 2">
            <a:extLst>
              <a:ext uri="{FF2B5EF4-FFF2-40B4-BE49-F238E27FC236}">
                <a16:creationId xmlns:a16="http://schemas.microsoft.com/office/drawing/2014/main" id="{6358C1E2-4B46-D591-8A84-9176CCCF726A}"/>
              </a:ext>
            </a:extLst>
          </p:cNvPr>
          <p:cNvPicPr>
            <a:picLocks noChangeAspect="1"/>
          </p:cNvPicPr>
          <p:nvPr/>
        </p:nvPicPr>
        <p:blipFill>
          <a:blip r:embed="rId3"/>
          <a:stretch>
            <a:fillRect/>
          </a:stretch>
        </p:blipFill>
        <p:spPr>
          <a:xfrm>
            <a:off x="612742" y="0"/>
            <a:ext cx="10966515" cy="6858000"/>
          </a:xfrm>
          <a:prstGeom prst="rect">
            <a:avLst/>
          </a:prstGeom>
        </p:spPr>
      </p:pic>
      <p:pic>
        <p:nvPicPr>
          <p:cNvPr id="2" name="Imagen 1">
            <a:extLst>
              <a:ext uri="{FF2B5EF4-FFF2-40B4-BE49-F238E27FC236}">
                <a16:creationId xmlns:a16="http://schemas.microsoft.com/office/drawing/2014/main" id="{DE617FD4-3964-617F-50A5-777E387404DB}"/>
              </a:ext>
            </a:extLst>
          </p:cNvPr>
          <p:cNvPicPr>
            <a:picLocks noChangeAspect="1"/>
          </p:cNvPicPr>
          <p:nvPr/>
        </p:nvPicPr>
        <p:blipFill>
          <a:blip r:embed="rId4"/>
          <a:stretch>
            <a:fillRect/>
          </a:stretch>
        </p:blipFill>
        <p:spPr>
          <a:xfrm>
            <a:off x="9641305" y="5678118"/>
            <a:ext cx="1938011" cy="713188"/>
          </a:xfrm>
          <a:prstGeom prst="rect">
            <a:avLst/>
          </a:prstGeom>
        </p:spPr>
      </p:pic>
    </p:spTree>
    <p:extLst>
      <p:ext uri="{BB962C8B-B14F-4D97-AF65-F5344CB8AC3E}">
        <p14:creationId xmlns:p14="http://schemas.microsoft.com/office/powerpoint/2010/main" val="408593215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8F619-5F25-AA9D-A4D4-84BB740FA007}"/>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E32AA6DD-A5B4-A57D-6965-8F7879DB4EF6}"/>
              </a:ext>
            </a:extLst>
          </p:cNvPr>
          <p:cNvSpPr txBox="1"/>
          <p:nvPr/>
        </p:nvSpPr>
        <p:spPr>
          <a:xfrm>
            <a:off x="605128" y="423813"/>
            <a:ext cx="3669714" cy="830997"/>
          </a:xfrm>
          <a:prstGeom prst="rect">
            <a:avLst/>
          </a:prstGeom>
          <a:noFill/>
        </p:spPr>
        <p:txBody>
          <a:bodyPr wrap="square" lIns="91440" tIns="45720" rIns="91440" bIns="45720" rtlCol="0" anchor="t">
            <a:spAutoFit/>
          </a:bodyPr>
          <a:lstStyle/>
          <a:p>
            <a:pPr>
              <a:defRPr/>
            </a:pPr>
            <a:r>
              <a:rPr lang="es-ES" sz="2400" b="1" dirty="0">
                <a:solidFill>
                  <a:prstClr val="black">
                    <a:lumMod val="75000"/>
                    <a:lumOff val="25000"/>
                  </a:prstClr>
                </a:solidFill>
                <a:latin typeface="Work Sans Bold Roman"/>
              </a:rPr>
              <a:t>Árbol de Objetivo </a:t>
            </a:r>
            <a:endParaRPr lang="es-ES" dirty="0">
              <a:solidFill>
                <a:prstClr val="black">
                  <a:lumMod val="75000"/>
                  <a:lumOff val="25000"/>
                </a:prst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2400" b="1" i="0" u="none" strike="noStrike" kern="1200" cap="none" spc="0" normalizeH="0" baseline="0" noProof="0" dirty="0">
              <a:ln>
                <a:noFill/>
              </a:ln>
              <a:solidFill>
                <a:prstClr val="black">
                  <a:lumMod val="75000"/>
                  <a:lumOff val="25000"/>
                </a:prstClr>
              </a:solidFill>
              <a:effectLst/>
              <a:uLnTx/>
              <a:uFillTx/>
              <a:latin typeface="Work Sans Bold Roman"/>
            </a:endParaRPr>
          </a:p>
        </p:txBody>
      </p:sp>
      <p:pic>
        <p:nvPicPr>
          <p:cNvPr id="3" name="Picture 2">
            <a:extLst>
              <a:ext uri="{FF2B5EF4-FFF2-40B4-BE49-F238E27FC236}">
                <a16:creationId xmlns:a16="http://schemas.microsoft.com/office/drawing/2014/main" id="{EFACB039-960D-6984-2807-9A5B19B0FD80}"/>
              </a:ext>
            </a:extLst>
          </p:cNvPr>
          <p:cNvPicPr>
            <a:picLocks noChangeAspect="1"/>
          </p:cNvPicPr>
          <p:nvPr/>
        </p:nvPicPr>
        <p:blipFill>
          <a:blip r:embed="rId3"/>
          <a:stretch>
            <a:fillRect/>
          </a:stretch>
        </p:blipFill>
        <p:spPr>
          <a:xfrm>
            <a:off x="794910" y="0"/>
            <a:ext cx="10602179" cy="6858000"/>
          </a:xfrm>
          <a:prstGeom prst="rect">
            <a:avLst/>
          </a:prstGeom>
        </p:spPr>
      </p:pic>
      <p:pic>
        <p:nvPicPr>
          <p:cNvPr id="2" name="Imagen 1">
            <a:extLst>
              <a:ext uri="{FF2B5EF4-FFF2-40B4-BE49-F238E27FC236}">
                <a16:creationId xmlns:a16="http://schemas.microsoft.com/office/drawing/2014/main" id="{CEFC1DBF-50A2-3C0E-C83A-3425BE940B72}"/>
              </a:ext>
            </a:extLst>
          </p:cNvPr>
          <p:cNvPicPr>
            <a:picLocks noChangeAspect="1"/>
          </p:cNvPicPr>
          <p:nvPr/>
        </p:nvPicPr>
        <p:blipFill>
          <a:blip r:embed="rId4"/>
          <a:stretch>
            <a:fillRect/>
          </a:stretch>
        </p:blipFill>
        <p:spPr>
          <a:xfrm>
            <a:off x="9641305" y="5678118"/>
            <a:ext cx="1938011" cy="713188"/>
          </a:xfrm>
          <a:prstGeom prst="rect">
            <a:avLst/>
          </a:prstGeom>
        </p:spPr>
      </p:pic>
    </p:spTree>
    <p:extLst>
      <p:ext uri="{BB962C8B-B14F-4D97-AF65-F5344CB8AC3E}">
        <p14:creationId xmlns:p14="http://schemas.microsoft.com/office/powerpoint/2010/main" val="208953357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951D1C-ACAB-30A9-933A-FC96DF28A2F0}"/>
              </a:ext>
            </a:extLst>
          </p:cNvPr>
          <p:cNvSpPr txBox="1">
            <a:spLocks/>
          </p:cNvSpPr>
          <p:nvPr/>
        </p:nvSpPr>
        <p:spPr>
          <a:xfrm>
            <a:off x="1520925" y="1199808"/>
            <a:ext cx="3058086" cy="1550749"/>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800" b="1" dirty="0">
                <a:solidFill>
                  <a:srgbClr val="38AA00"/>
                </a:solidFill>
                <a:latin typeface="WORK SANS BOLD ROMAN"/>
              </a:rPr>
              <a:t>Objetivo General </a:t>
            </a:r>
          </a:p>
        </p:txBody>
      </p:sp>
      <p:sp>
        <p:nvSpPr>
          <p:cNvPr id="3" name="CuadroTexto 2">
            <a:extLst>
              <a:ext uri="{FF2B5EF4-FFF2-40B4-BE49-F238E27FC236}">
                <a16:creationId xmlns:a16="http://schemas.microsoft.com/office/drawing/2014/main" id="{CF6697F3-B1A3-FADB-1243-D89866428CB1}"/>
              </a:ext>
            </a:extLst>
          </p:cNvPr>
          <p:cNvSpPr txBox="1"/>
          <p:nvPr/>
        </p:nvSpPr>
        <p:spPr>
          <a:xfrm>
            <a:off x="1046998" y="3155208"/>
            <a:ext cx="4010676" cy="1815882"/>
          </a:xfrm>
          <a:prstGeom prst="rect">
            <a:avLst/>
          </a:prstGeom>
          <a:noFill/>
        </p:spPr>
        <p:txBody>
          <a:bodyPr wrap="square" lIns="91440" tIns="45720" rIns="91440" bIns="45720" rtlCol="0" anchor="t">
            <a:spAutoFit/>
          </a:bodyPr>
          <a:lstStyle/>
          <a:p>
            <a:r>
              <a:rPr lang="es-CO" sz="2800" dirty="0">
                <a:latin typeface="Work Sans Light Roman"/>
              </a:rPr>
              <a:t>Innovar con un software enfocado a las reservas de restaurantes de gran flujo de personas</a:t>
            </a:r>
            <a:endParaRPr lang="es-CO" sz="3200" dirty="0">
              <a:ea typeface="Calibri" panose="020F0502020204030204"/>
              <a:cs typeface="Calibri" panose="020F0502020204030204"/>
            </a:endParaRPr>
          </a:p>
        </p:txBody>
      </p:sp>
      <p:cxnSp>
        <p:nvCxnSpPr>
          <p:cNvPr id="4" name="Conector recto 3">
            <a:extLst>
              <a:ext uri="{FF2B5EF4-FFF2-40B4-BE49-F238E27FC236}">
                <a16:creationId xmlns:a16="http://schemas.microsoft.com/office/drawing/2014/main" id="{669DD18A-AB54-34AC-A662-0BDC60B050FF}"/>
              </a:ext>
            </a:extLst>
          </p:cNvPr>
          <p:cNvCxnSpPr>
            <a:cxnSpLocks/>
          </p:cNvCxnSpPr>
          <p:nvPr/>
        </p:nvCxnSpPr>
        <p:spPr>
          <a:xfrm>
            <a:off x="1157468" y="2704095"/>
            <a:ext cx="1425934"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pic>
        <p:nvPicPr>
          <p:cNvPr id="9" name="Imagen 8">
            <a:extLst>
              <a:ext uri="{FF2B5EF4-FFF2-40B4-BE49-F238E27FC236}">
                <a16:creationId xmlns:a16="http://schemas.microsoft.com/office/drawing/2014/main" id="{CBB8E863-134C-047E-564D-20E4D7521C87}"/>
              </a:ext>
            </a:extLst>
          </p:cNvPr>
          <p:cNvPicPr>
            <a:picLocks noChangeAspect="1"/>
          </p:cNvPicPr>
          <p:nvPr/>
        </p:nvPicPr>
        <p:blipFill rotWithShape="1">
          <a:blip r:embed="rId4"/>
          <a:srcRect l="13166" r="239"/>
          <a:stretch/>
        </p:blipFill>
        <p:spPr>
          <a:xfrm>
            <a:off x="6096000" y="0"/>
            <a:ext cx="6096000" cy="6858000"/>
          </a:xfrm>
          <a:prstGeom prst="rect">
            <a:avLst/>
          </a:prstGeom>
        </p:spPr>
      </p:pic>
    </p:spTree>
    <p:extLst>
      <p:ext uri="{BB962C8B-B14F-4D97-AF65-F5344CB8AC3E}">
        <p14:creationId xmlns:p14="http://schemas.microsoft.com/office/powerpoint/2010/main" val="3038000178"/>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9F34D7F-7092-FA25-DC24-6AA5ACC7D9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0A093F-98E4-BFBC-709C-9C138BDE59E3}"/>
              </a:ext>
            </a:extLst>
          </p:cNvPr>
          <p:cNvSpPr txBox="1">
            <a:spLocks/>
          </p:cNvSpPr>
          <p:nvPr/>
        </p:nvSpPr>
        <p:spPr>
          <a:xfrm>
            <a:off x="553928" y="270150"/>
            <a:ext cx="9815809" cy="741563"/>
          </a:xfrm>
          <a:prstGeom prst="rect">
            <a:avLst/>
          </a:prstGeom>
          <a:ln>
            <a:noFill/>
          </a:ln>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CO" sz="3600" b="1" u="none" strike="noStrike" kern="1200" cap="none" spc="0" normalizeH="0" baseline="0" noProof="0" dirty="0">
                <a:ln>
                  <a:noFill/>
                </a:ln>
                <a:solidFill>
                  <a:srgbClr val="4D4D4C"/>
                </a:solidFill>
                <a:effectLst/>
                <a:uLnTx/>
                <a:uFillTx/>
                <a:latin typeface="WORK SANS BOLD ROMAN"/>
              </a:rPr>
              <a:t>Objetivos Específicos </a:t>
            </a:r>
            <a:endParaRPr lang="es-CO" sz="3600" b="1" u="none" strike="noStrike" kern="1200" cap="none" spc="0" normalizeH="0" baseline="0" noProof="0" dirty="0">
              <a:ln>
                <a:noFill/>
              </a:ln>
              <a:solidFill>
                <a:srgbClr val="4D4D4C"/>
              </a:solidFill>
              <a:effectLst/>
              <a:uLnTx/>
              <a:uFillTx/>
              <a:latin typeface="WORK SANS BOLD ROMAN"/>
            </a:endParaRPr>
          </a:p>
        </p:txBody>
      </p:sp>
      <p:sp>
        <p:nvSpPr>
          <p:cNvPr id="3" name="CuadroTexto 2">
            <a:extLst>
              <a:ext uri="{FF2B5EF4-FFF2-40B4-BE49-F238E27FC236}">
                <a16:creationId xmlns:a16="http://schemas.microsoft.com/office/drawing/2014/main" id="{389C1D34-0AF1-87FD-82FE-58570D1504D0}"/>
              </a:ext>
            </a:extLst>
          </p:cNvPr>
          <p:cNvSpPr txBox="1"/>
          <p:nvPr/>
        </p:nvSpPr>
        <p:spPr>
          <a:xfrm>
            <a:off x="290983" y="2534626"/>
            <a:ext cx="5518437" cy="1077218"/>
          </a:xfrm>
          <a:prstGeom prst="rect">
            <a:avLst/>
          </a:prstGeom>
          <a:noFill/>
        </p:spPr>
        <p:txBody>
          <a:bodyPr wrap="square" lIns="91440" tIns="45720" rIns="91440" bIns="45720" rtlCol="0" anchor="t">
            <a:spAutoFit/>
          </a:bodyPr>
          <a:lstStyle/>
          <a:p>
            <a:pPr marL="342900" indent="-342900">
              <a:buClr>
                <a:srgbClr val="38AA00"/>
              </a:buClr>
              <a:buAutoNum type="arabicPeriod"/>
            </a:pPr>
            <a:r>
              <a:rPr lang="es-CO" sz="1600" dirty="0">
                <a:ea typeface="Calibri"/>
                <a:cs typeface="Calibri"/>
              </a:rPr>
              <a:t>Mayor visibilidad de los restaurantes, por medio de la aplicación o página web</a:t>
            </a:r>
          </a:p>
          <a:p>
            <a:pPr marL="342900" indent="-342900">
              <a:buClr>
                <a:srgbClr val="38AA00"/>
              </a:buClr>
              <a:buAutoNum type="arabicPeriod"/>
            </a:pPr>
            <a:r>
              <a:rPr lang="es-CO" sz="1600" dirty="0">
                <a:ea typeface="+mn-lt"/>
                <a:cs typeface="+mn-lt"/>
              </a:rPr>
              <a:t>Aumentar el flujo de personas por restaurantes</a:t>
            </a:r>
            <a:endParaRPr lang="es-CO" dirty="0"/>
          </a:p>
          <a:p>
            <a:pPr marL="342900" indent="-342900">
              <a:buClr>
                <a:srgbClr val="38AA00"/>
              </a:buClr>
              <a:buAutoNum type="arabicPeriod"/>
            </a:pPr>
            <a:r>
              <a:rPr lang="es-CO" sz="1600" dirty="0">
                <a:ea typeface="+mn-lt"/>
                <a:cs typeface="+mn-lt"/>
              </a:rPr>
              <a:t>Plataforma intuitiva </a:t>
            </a:r>
          </a:p>
        </p:txBody>
      </p:sp>
      <p:sp>
        <p:nvSpPr>
          <p:cNvPr id="4" name="CuadroTexto 3">
            <a:extLst>
              <a:ext uri="{FF2B5EF4-FFF2-40B4-BE49-F238E27FC236}">
                <a16:creationId xmlns:a16="http://schemas.microsoft.com/office/drawing/2014/main" id="{338D43FB-EAAC-2340-3E18-2C43908CA24F}"/>
              </a:ext>
            </a:extLst>
          </p:cNvPr>
          <p:cNvSpPr txBox="1"/>
          <p:nvPr/>
        </p:nvSpPr>
        <p:spPr>
          <a:xfrm>
            <a:off x="6380743" y="2534625"/>
            <a:ext cx="5518437" cy="3046988"/>
          </a:xfrm>
          <a:prstGeom prst="rect">
            <a:avLst/>
          </a:prstGeom>
          <a:noFill/>
        </p:spPr>
        <p:txBody>
          <a:bodyPr wrap="square" lIns="91440" tIns="45720" rIns="91440" bIns="45720" rtlCol="0" anchor="t">
            <a:spAutoFit/>
          </a:bodyPr>
          <a:lstStyle/>
          <a:p>
            <a:pPr marL="342900" indent="-342900">
              <a:buClr>
                <a:srgbClr val="38AA00"/>
              </a:buClr>
              <a:buFont typeface="Calibri Light" panose="020F0302020204030204"/>
              <a:buAutoNum type="arabicPeriod"/>
            </a:pPr>
            <a:r>
              <a:rPr lang="es-ES" sz="1600" dirty="0">
                <a:latin typeface="Work Sans Light Roman"/>
              </a:rPr>
              <a:t>Recolectar información suficiente a través de la ingeniería de requerimientos</a:t>
            </a:r>
          </a:p>
          <a:p>
            <a:pPr marL="342900" indent="-342900">
              <a:buClr>
                <a:srgbClr val="38AA00"/>
              </a:buClr>
              <a:buFont typeface="Calibri Light" panose="020F0302020204030204"/>
              <a:buAutoNum type="arabicPeriod"/>
            </a:pPr>
            <a:r>
              <a:rPr lang="es-ES" sz="1600" dirty="0">
                <a:latin typeface="Work Sans Light Roman"/>
              </a:rPr>
              <a:t>Modelar la información recolectada a través de una base de datos relacional de acuerdo con las necesidades identificadas</a:t>
            </a:r>
          </a:p>
          <a:p>
            <a:pPr marL="342900" indent="-342900">
              <a:buClr>
                <a:srgbClr val="38AA00"/>
              </a:buClr>
              <a:buFont typeface="Calibri Light" panose="020F0302020204030204"/>
              <a:buAutoNum type="arabicPeriod"/>
            </a:pPr>
            <a:r>
              <a:rPr lang="es-ES" sz="1600" dirty="0">
                <a:latin typeface="Work Sans Light Roman"/>
              </a:rPr>
              <a:t>Desarrollar la solución a través de una herramienta FRONT y BACK desde el modelo obtenido</a:t>
            </a:r>
          </a:p>
          <a:p>
            <a:pPr marL="342900" indent="-342900">
              <a:buClr>
                <a:srgbClr val="38AA00"/>
              </a:buClr>
              <a:buFont typeface="Calibri Light" panose="020F0302020204030204"/>
              <a:buAutoNum type="arabicPeriod"/>
            </a:pPr>
            <a:r>
              <a:rPr lang="es-ES" sz="1600" dirty="0">
                <a:latin typeface="Work Sans Light Roman"/>
              </a:rPr>
              <a:t>Realizar las pruebas de integridad, funcionalidad, seguridad y de estrés suficientes del sistema desarrollado.</a:t>
            </a:r>
          </a:p>
          <a:p>
            <a:pPr marL="342900" indent="-342900">
              <a:buClr>
                <a:srgbClr val="38AA00"/>
              </a:buClr>
              <a:buFont typeface="Calibri Light" panose="020F0302020204030204"/>
              <a:buAutoNum type="arabicPeriod"/>
            </a:pPr>
            <a:r>
              <a:rPr lang="es-ES" sz="1600" dirty="0">
                <a:latin typeface="Work Sans Light Roman"/>
              </a:rPr>
              <a:t>Documentar el sistema probado y desarrollado.</a:t>
            </a:r>
          </a:p>
          <a:p>
            <a:pPr marL="342900" indent="-342900">
              <a:buClr>
                <a:srgbClr val="38AA00"/>
              </a:buClr>
              <a:buFont typeface="Calibri Light" panose="020F0302020204030204"/>
              <a:buAutoNum type="arabicPeriod"/>
            </a:pPr>
            <a:r>
              <a:rPr lang="es-ES" sz="1600" dirty="0">
                <a:latin typeface="Work Sans Light Roman"/>
              </a:rPr>
              <a:t>Recibir la aceptación final del usuario a través de un acta entrega y aprobación </a:t>
            </a:r>
            <a:endParaRPr lang="es-CO" sz="1600" dirty="0">
              <a:latin typeface="Work Sans Light Roman"/>
            </a:endParaRPr>
          </a:p>
        </p:txBody>
      </p:sp>
      <p:cxnSp>
        <p:nvCxnSpPr>
          <p:cNvPr id="5" name="Conector recto de flecha 4">
            <a:extLst>
              <a:ext uri="{FF2B5EF4-FFF2-40B4-BE49-F238E27FC236}">
                <a16:creationId xmlns:a16="http://schemas.microsoft.com/office/drawing/2014/main" id="{DC944BE0-A189-57EB-F174-EF90CD6D4892}"/>
              </a:ext>
            </a:extLst>
          </p:cNvPr>
          <p:cNvCxnSpPr/>
          <p:nvPr/>
        </p:nvCxnSpPr>
        <p:spPr>
          <a:xfrm>
            <a:off x="6089838" y="1157254"/>
            <a:ext cx="10026" cy="5283868"/>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89395501-E3CE-4CF9-3D3B-E40FE07C8AD8}"/>
              </a:ext>
            </a:extLst>
          </p:cNvPr>
          <p:cNvCxnSpPr>
            <a:cxnSpLocks/>
          </p:cNvCxnSpPr>
          <p:nvPr/>
        </p:nvCxnSpPr>
        <p:spPr>
          <a:xfrm flipV="1">
            <a:off x="435100" y="2239529"/>
            <a:ext cx="11339038" cy="422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4EC42F-B3A8-5F93-0BDB-13A73FAE832A}"/>
              </a:ext>
            </a:extLst>
          </p:cNvPr>
          <p:cNvSpPr txBox="1"/>
          <p:nvPr/>
        </p:nvSpPr>
        <p:spPr>
          <a:xfrm>
            <a:off x="437874" y="1717541"/>
            <a:ext cx="5518437" cy="338554"/>
          </a:xfrm>
          <a:prstGeom prst="rect">
            <a:avLst/>
          </a:prstGeom>
          <a:noFill/>
        </p:spPr>
        <p:txBody>
          <a:bodyPr wrap="square" lIns="91440" tIns="45720" rIns="91440" bIns="45720" rtlCol="0" anchor="t">
            <a:spAutoFit/>
          </a:bodyPr>
          <a:lstStyle/>
          <a:p>
            <a:pPr algn="ctr"/>
            <a:r>
              <a:rPr lang="es-CO" sz="1600" b="1" dirty="0">
                <a:latin typeface="Work Sans Light Roman"/>
              </a:rPr>
              <a:t>UX</a:t>
            </a:r>
            <a:endParaRPr lang="es-ES" b="1" dirty="0">
              <a:ea typeface="Calibri"/>
              <a:cs typeface="Calibri"/>
            </a:endParaRPr>
          </a:p>
        </p:txBody>
      </p:sp>
      <p:sp>
        <p:nvSpPr>
          <p:cNvPr id="11" name="CuadroTexto 10">
            <a:extLst>
              <a:ext uri="{FF2B5EF4-FFF2-40B4-BE49-F238E27FC236}">
                <a16:creationId xmlns:a16="http://schemas.microsoft.com/office/drawing/2014/main" id="{805056A5-EAF8-4D26-F764-5EA0059D4D8F}"/>
              </a:ext>
            </a:extLst>
          </p:cNvPr>
          <p:cNvSpPr txBox="1"/>
          <p:nvPr/>
        </p:nvSpPr>
        <p:spPr>
          <a:xfrm>
            <a:off x="6377801" y="1717540"/>
            <a:ext cx="5518437" cy="338554"/>
          </a:xfrm>
          <a:prstGeom prst="rect">
            <a:avLst/>
          </a:prstGeom>
          <a:noFill/>
        </p:spPr>
        <p:txBody>
          <a:bodyPr wrap="square" lIns="91440" tIns="45720" rIns="91440" bIns="45720" rtlCol="0" anchor="t">
            <a:spAutoFit/>
          </a:bodyPr>
          <a:lstStyle/>
          <a:p>
            <a:pPr algn="ctr"/>
            <a:r>
              <a:rPr lang="es-CO" sz="1600" b="1" dirty="0">
                <a:latin typeface="Work Sans Light Roman"/>
                <a:ea typeface="+mn-lt"/>
                <a:cs typeface="+mn-lt"/>
              </a:rPr>
              <a:t>Analista</a:t>
            </a:r>
            <a:endParaRPr lang="es-ES" dirty="0">
              <a:latin typeface="Work Sans Light Roman"/>
            </a:endParaRPr>
          </a:p>
        </p:txBody>
      </p:sp>
      <p:pic>
        <p:nvPicPr>
          <p:cNvPr id="7" name="Imagen 6">
            <a:extLst>
              <a:ext uri="{FF2B5EF4-FFF2-40B4-BE49-F238E27FC236}">
                <a16:creationId xmlns:a16="http://schemas.microsoft.com/office/drawing/2014/main" id="{90E01C09-C26F-F953-2BF6-5133628D0877}"/>
              </a:ext>
            </a:extLst>
          </p:cNvPr>
          <p:cNvPicPr>
            <a:picLocks noChangeAspect="1"/>
          </p:cNvPicPr>
          <p:nvPr/>
        </p:nvPicPr>
        <p:blipFill>
          <a:blip r:embed="rId4"/>
          <a:stretch>
            <a:fillRect/>
          </a:stretch>
        </p:blipFill>
        <p:spPr>
          <a:xfrm>
            <a:off x="9137019" y="294845"/>
            <a:ext cx="1938011" cy="713188"/>
          </a:xfrm>
          <a:prstGeom prst="rect">
            <a:avLst/>
          </a:prstGeom>
        </p:spPr>
      </p:pic>
    </p:spTree>
    <p:extLst>
      <p:ext uri="{BB962C8B-B14F-4D97-AF65-F5344CB8AC3E}">
        <p14:creationId xmlns:p14="http://schemas.microsoft.com/office/powerpoint/2010/main" val="50539056"/>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EF2AD1B-3B60-98A2-08B3-69B1415F51BE}"/>
              </a:ext>
            </a:extLst>
          </p:cNvPr>
          <p:cNvSpPr txBox="1"/>
          <p:nvPr/>
        </p:nvSpPr>
        <p:spPr>
          <a:xfrm>
            <a:off x="2819400" y="291791"/>
            <a:ext cx="6543907"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CO" sz="3300" b="1" dirty="0">
                <a:latin typeface="time"/>
              </a:rPr>
              <a:t>METODOLOGÍA UTILIZADA</a:t>
            </a:r>
          </a:p>
        </p:txBody>
      </p:sp>
      <p:sp>
        <p:nvSpPr>
          <p:cNvPr id="10" name="TextBox 9">
            <a:extLst>
              <a:ext uri="{FF2B5EF4-FFF2-40B4-BE49-F238E27FC236}">
                <a16:creationId xmlns:a16="http://schemas.microsoft.com/office/drawing/2014/main" id="{EDC41854-7E21-44AC-F62B-2F6A7E7D8DE1}"/>
              </a:ext>
            </a:extLst>
          </p:cNvPr>
          <p:cNvSpPr txBox="1"/>
          <p:nvPr/>
        </p:nvSpPr>
        <p:spPr>
          <a:xfrm>
            <a:off x="366132" y="1880839"/>
            <a:ext cx="1108802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400" dirty="0">
                <a:latin typeface="time"/>
              </a:rPr>
              <a:t>Implementaremos el  modelo en  cascada ya que nos permite </a:t>
            </a:r>
            <a:r>
              <a:rPr lang="es-419" sz="2400" dirty="0">
                <a:latin typeface="time"/>
              </a:rPr>
              <a:t> relacionar cada una de las etapas  con la anterior, para considerar los elementos que debes quitar o añadir en la siguiente fase, teniendo en cuenta que cada fase del proyecto se debe completar antes de avanzar a la siguiente.</a:t>
            </a:r>
            <a:endParaRPr lang="es-419" sz="2400" dirty="0">
              <a:latin typeface="time"/>
              <a:cs typeface="Arial"/>
            </a:endParaRPr>
          </a:p>
        </p:txBody>
      </p:sp>
      <p:pic>
        <p:nvPicPr>
          <p:cNvPr id="12" name="Picture 11" descr="Metodología de Cascada – Mtro. Fernando Arciniega">
            <a:extLst>
              <a:ext uri="{FF2B5EF4-FFF2-40B4-BE49-F238E27FC236}">
                <a16:creationId xmlns:a16="http://schemas.microsoft.com/office/drawing/2014/main" id="{7EE715B5-31F4-C1EE-2099-E3BF04C1C09E}"/>
              </a:ext>
            </a:extLst>
          </p:cNvPr>
          <p:cNvPicPr>
            <a:picLocks noChangeAspect="1"/>
          </p:cNvPicPr>
          <p:nvPr/>
        </p:nvPicPr>
        <p:blipFill>
          <a:blip r:embed="rId4"/>
          <a:stretch>
            <a:fillRect/>
          </a:stretch>
        </p:blipFill>
        <p:spPr>
          <a:xfrm>
            <a:off x="1639230" y="3427410"/>
            <a:ext cx="8430320" cy="3134815"/>
          </a:xfrm>
          <a:prstGeom prst="rect">
            <a:avLst/>
          </a:prstGeom>
        </p:spPr>
      </p:pic>
      <p:pic>
        <p:nvPicPr>
          <p:cNvPr id="2" name="Imagen 1">
            <a:extLst>
              <a:ext uri="{FF2B5EF4-FFF2-40B4-BE49-F238E27FC236}">
                <a16:creationId xmlns:a16="http://schemas.microsoft.com/office/drawing/2014/main" id="{B56A63F7-9E39-DEB6-C9E7-7CF6411C99E4}"/>
              </a:ext>
            </a:extLst>
          </p:cNvPr>
          <p:cNvPicPr>
            <a:picLocks noChangeAspect="1"/>
          </p:cNvPicPr>
          <p:nvPr/>
        </p:nvPicPr>
        <p:blipFill>
          <a:blip r:embed="rId5"/>
          <a:stretch>
            <a:fillRect/>
          </a:stretch>
        </p:blipFill>
        <p:spPr>
          <a:xfrm>
            <a:off x="366132" y="316615"/>
            <a:ext cx="1938011" cy="713188"/>
          </a:xfrm>
          <a:prstGeom prst="rect">
            <a:avLst/>
          </a:prstGeom>
        </p:spPr>
      </p:pic>
    </p:spTree>
    <p:extLst>
      <p:ext uri="{BB962C8B-B14F-4D97-AF65-F5344CB8AC3E}">
        <p14:creationId xmlns:p14="http://schemas.microsoft.com/office/powerpoint/2010/main" val="458058105"/>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6A9AD-1FB2-B4CD-B173-A809C7EA4851}"/>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2ACE75F1-F343-8856-BC69-4BB6B82BF3E4}"/>
              </a:ext>
            </a:extLst>
          </p:cNvPr>
          <p:cNvSpPr txBox="1">
            <a:spLocks/>
          </p:cNvSpPr>
          <p:nvPr/>
        </p:nvSpPr>
        <p:spPr>
          <a:xfrm>
            <a:off x="456236" y="416689"/>
            <a:ext cx="9815809" cy="741563"/>
          </a:xfrm>
          <a:prstGeom prst="rect">
            <a:avLst/>
          </a:prstGeom>
          <a:ln>
            <a:noFill/>
          </a:ln>
        </p:spPr>
        <p:txBody>
          <a:bodyPr lIns="91440" tIns="45720" rIns="91440" bIns="45720" anchor="t"/>
          <a:lstStyle>
            <a:defPPr>
              <a:defRPr lang="es-CO"/>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6000" b="1" u="none" strike="noStrike" kern="1200" cap="none" spc="0" normalizeH="0" baseline="0" noProof="0">
                <a:ln>
                  <a:noFill/>
                </a:ln>
                <a:effectLst/>
                <a:uLnTx/>
                <a:uFillTx/>
                <a:latin typeface="WORK SANS BOLD ROMAN"/>
              </a:rPr>
              <a:t>Alternativa</a:t>
            </a:r>
            <a:endParaRPr lang="es-ES" sz="6000" b="1" u="none" strike="noStrike" kern="1200" cap="none" spc="0" normalizeH="0" baseline="0" noProof="0">
              <a:ln>
                <a:noFill/>
              </a:ln>
              <a:effectLst/>
              <a:uLnTx/>
              <a:uFillTx/>
              <a:latin typeface="WORK SANS BOLD ROMAN"/>
            </a:endParaRPr>
          </a:p>
        </p:txBody>
      </p:sp>
      <p:pic>
        <p:nvPicPr>
          <p:cNvPr id="12" name="Picture 11" descr="3d hombre de negocios carácter comprobar teléfono celular 11421836 PNG">
            <a:extLst>
              <a:ext uri="{FF2B5EF4-FFF2-40B4-BE49-F238E27FC236}">
                <a16:creationId xmlns:a16="http://schemas.microsoft.com/office/drawing/2014/main" id="{7C9F16DF-1027-F329-8868-87831C314FF6}"/>
              </a:ext>
            </a:extLst>
          </p:cNvPr>
          <p:cNvPicPr>
            <a:picLocks noChangeAspect="1"/>
          </p:cNvPicPr>
          <p:nvPr/>
        </p:nvPicPr>
        <p:blipFill>
          <a:blip r:embed="rId3"/>
          <a:stretch>
            <a:fillRect/>
          </a:stretch>
        </p:blipFill>
        <p:spPr>
          <a:xfrm>
            <a:off x="553" y="1156939"/>
            <a:ext cx="2797097" cy="2797097"/>
          </a:xfrm>
          <a:prstGeom prst="rect">
            <a:avLst/>
          </a:prstGeom>
        </p:spPr>
      </p:pic>
      <p:pic>
        <p:nvPicPr>
          <p:cNvPr id="13" name="Picture 12" descr="Componentes- Panel de Administración | BeepQuest">
            <a:extLst>
              <a:ext uri="{FF2B5EF4-FFF2-40B4-BE49-F238E27FC236}">
                <a16:creationId xmlns:a16="http://schemas.microsoft.com/office/drawing/2014/main" id="{18071336-38DE-9A18-BBA1-DA494D8C2085}"/>
              </a:ext>
            </a:extLst>
          </p:cNvPr>
          <p:cNvPicPr>
            <a:picLocks noChangeAspect="1"/>
          </p:cNvPicPr>
          <p:nvPr/>
        </p:nvPicPr>
        <p:blipFill>
          <a:blip r:embed="rId4"/>
          <a:stretch>
            <a:fillRect/>
          </a:stretch>
        </p:blipFill>
        <p:spPr>
          <a:xfrm>
            <a:off x="3414132" y="1160697"/>
            <a:ext cx="4787590" cy="2891802"/>
          </a:xfrm>
          <a:prstGeom prst="rect">
            <a:avLst/>
          </a:prstGeom>
        </p:spPr>
      </p:pic>
      <p:pic>
        <p:nvPicPr>
          <p:cNvPr id="15" name="Picture 14" descr="Flujo de Clientes en Sucursal. Cómo Gestionarlo Efectivamente">
            <a:extLst>
              <a:ext uri="{FF2B5EF4-FFF2-40B4-BE49-F238E27FC236}">
                <a16:creationId xmlns:a16="http://schemas.microsoft.com/office/drawing/2014/main" id="{25560E15-5F02-95B2-15E4-7630096BD890}"/>
              </a:ext>
            </a:extLst>
          </p:cNvPr>
          <p:cNvPicPr>
            <a:picLocks noChangeAspect="1"/>
          </p:cNvPicPr>
          <p:nvPr/>
        </p:nvPicPr>
        <p:blipFill>
          <a:blip r:embed="rId5">
            <a:alphaModFix amt="78000"/>
          </a:blip>
          <a:srcRect r="1865" b="472"/>
          <a:stretch>
            <a:fillRect/>
          </a:stretch>
        </p:blipFill>
        <p:spPr>
          <a:xfrm>
            <a:off x="8914111" y="1575732"/>
            <a:ext cx="3014686" cy="1959520"/>
          </a:xfrm>
          <a:prstGeom prst="rect">
            <a:avLst/>
          </a:prstGeom>
        </p:spPr>
      </p:pic>
      <p:pic>
        <p:nvPicPr>
          <p:cNvPr id="16" name="Picture 15" descr="Crea tu propio mapa interactivo con MapMe * TYS Magazine">
            <a:extLst>
              <a:ext uri="{FF2B5EF4-FFF2-40B4-BE49-F238E27FC236}">
                <a16:creationId xmlns:a16="http://schemas.microsoft.com/office/drawing/2014/main" id="{ED2B800A-3F02-5C0A-87C8-7743902F0DB4}"/>
              </a:ext>
            </a:extLst>
          </p:cNvPr>
          <p:cNvPicPr>
            <a:picLocks noChangeAspect="1"/>
          </p:cNvPicPr>
          <p:nvPr/>
        </p:nvPicPr>
        <p:blipFill>
          <a:blip r:embed="rId6"/>
          <a:stretch>
            <a:fillRect/>
          </a:stretch>
        </p:blipFill>
        <p:spPr>
          <a:xfrm>
            <a:off x="6428317" y="4434945"/>
            <a:ext cx="3526366" cy="2062691"/>
          </a:xfrm>
          <a:prstGeom prst="rect">
            <a:avLst/>
          </a:prstGeom>
        </p:spPr>
      </p:pic>
      <p:sp>
        <p:nvSpPr>
          <p:cNvPr id="20" name="Arrow: Right 19">
            <a:extLst>
              <a:ext uri="{FF2B5EF4-FFF2-40B4-BE49-F238E27FC236}">
                <a16:creationId xmlns:a16="http://schemas.microsoft.com/office/drawing/2014/main" id="{911D2D84-AC42-E83E-FB3F-1D3DCB9D8CB3}"/>
              </a:ext>
            </a:extLst>
          </p:cNvPr>
          <p:cNvSpPr/>
          <p:nvPr/>
        </p:nvSpPr>
        <p:spPr>
          <a:xfrm>
            <a:off x="2614083" y="2328333"/>
            <a:ext cx="613833" cy="455083"/>
          </a:xfrm>
          <a:prstGeom prst="rightArrow">
            <a:avLst/>
          </a:prstGeom>
          <a:solidFill>
            <a:schemeClr val="tx1">
              <a:lumMod val="95000"/>
              <a:lumOff val="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A1483C53-DD89-8CC4-0F88-B42B16DD1E94}"/>
              </a:ext>
            </a:extLst>
          </p:cNvPr>
          <p:cNvSpPr/>
          <p:nvPr/>
        </p:nvSpPr>
        <p:spPr>
          <a:xfrm>
            <a:off x="8202083" y="2328333"/>
            <a:ext cx="613833" cy="455083"/>
          </a:xfrm>
          <a:prstGeom prst="rightArrow">
            <a:avLst/>
          </a:prstGeom>
          <a:solidFill>
            <a:schemeClr val="tx1">
              <a:lumMod val="95000"/>
              <a:lumOff val="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6F3516DE-10F6-1667-C72D-E2F98813A527}"/>
              </a:ext>
            </a:extLst>
          </p:cNvPr>
          <p:cNvSpPr/>
          <p:nvPr/>
        </p:nvSpPr>
        <p:spPr>
          <a:xfrm rot="7620000">
            <a:off x="8191499" y="3735916"/>
            <a:ext cx="613833" cy="455083"/>
          </a:xfrm>
          <a:prstGeom prst="rightArrow">
            <a:avLst/>
          </a:prstGeom>
          <a:solidFill>
            <a:schemeClr val="tx1">
              <a:lumMod val="95000"/>
              <a:lumOff val="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41385486-82FD-0A4B-B2E7-64A292A16C4A}"/>
              </a:ext>
            </a:extLst>
          </p:cNvPr>
          <p:cNvSpPr/>
          <p:nvPr/>
        </p:nvSpPr>
        <p:spPr>
          <a:xfrm rot="10800000">
            <a:off x="4868331" y="5132915"/>
            <a:ext cx="1068916" cy="391583"/>
          </a:xfrm>
          <a:prstGeom prst="rightArrow">
            <a:avLst/>
          </a:prstGeom>
          <a:solidFill>
            <a:schemeClr val="tx1">
              <a:lumMod val="95000"/>
              <a:lumOff val="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10 ideas de Emojis 💛 | emojis, emoticonos divertidos, emojis emoticonos">
            <a:extLst>
              <a:ext uri="{FF2B5EF4-FFF2-40B4-BE49-F238E27FC236}">
                <a16:creationId xmlns:a16="http://schemas.microsoft.com/office/drawing/2014/main" id="{61CAE943-8AF4-A5E1-B39A-1D532DC20548}"/>
              </a:ext>
            </a:extLst>
          </p:cNvPr>
          <p:cNvPicPr>
            <a:picLocks noChangeAspect="1"/>
          </p:cNvPicPr>
          <p:nvPr/>
        </p:nvPicPr>
        <p:blipFill>
          <a:blip r:embed="rId7"/>
          <a:stretch>
            <a:fillRect/>
          </a:stretch>
        </p:blipFill>
        <p:spPr>
          <a:xfrm>
            <a:off x="2103967" y="4210050"/>
            <a:ext cx="2247900" cy="2247900"/>
          </a:xfrm>
          <a:prstGeom prst="rect">
            <a:avLst/>
          </a:prstGeom>
        </p:spPr>
      </p:pic>
      <p:pic>
        <p:nvPicPr>
          <p:cNvPr id="2" name="Imagen 1">
            <a:extLst>
              <a:ext uri="{FF2B5EF4-FFF2-40B4-BE49-F238E27FC236}">
                <a16:creationId xmlns:a16="http://schemas.microsoft.com/office/drawing/2014/main" id="{BAAFCD7D-919D-2637-8346-88791470AA68}"/>
              </a:ext>
            </a:extLst>
          </p:cNvPr>
          <p:cNvPicPr>
            <a:picLocks noChangeAspect="1"/>
          </p:cNvPicPr>
          <p:nvPr/>
        </p:nvPicPr>
        <p:blipFill>
          <a:blip r:embed="rId8"/>
          <a:stretch>
            <a:fillRect/>
          </a:stretch>
        </p:blipFill>
        <p:spPr>
          <a:xfrm>
            <a:off x="10093122" y="5728123"/>
            <a:ext cx="1938011" cy="713188"/>
          </a:xfrm>
          <a:prstGeom prst="rect">
            <a:avLst/>
          </a:prstGeom>
        </p:spPr>
      </p:pic>
    </p:spTree>
    <p:extLst>
      <p:ext uri="{BB962C8B-B14F-4D97-AF65-F5344CB8AC3E}">
        <p14:creationId xmlns:p14="http://schemas.microsoft.com/office/powerpoint/2010/main" val="2612418769"/>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95BB55E-A0AF-120D-3F1C-74CBA3C04F3C}"/>
            </a:ext>
          </a:extLst>
        </p:cNvPr>
        <p:cNvGrpSpPr/>
        <p:nvPr/>
      </p:nvGrpSpPr>
      <p:grpSpPr>
        <a:xfrm>
          <a:off x="0" y="0"/>
          <a:ext cx="0" cy="0"/>
          <a:chOff x="0" y="0"/>
          <a:chExt cx="0" cy="0"/>
        </a:xfrm>
      </p:grpSpPr>
      <p:sp>
        <p:nvSpPr>
          <p:cNvPr id="8" name="CuadroTexto 4">
            <a:extLst>
              <a:ext uri="{FF2B5EF4-FFF2-40B4-BE49-F238E27FC236}">
                <a16:creationId xmlns:a16="http://schemas.microsoft.com/office/drawing/2014/main" id="{026FB49B-4FA2-5E79-0CA6-756242526103}"/>
              </a:ext>
            </a:extLst>
          </p:cNvPr>
          <p:cNvSpPr txBox="1"/>
          <p:nvPr/>
        </p:nvSpPr>
        <p:spPr>
          <a:xfrm>
            <a:off x="995422" y="2551837"/>
            <a:ext cx="6453678" cy="923330"/>
          </a:xfrm>
          <a:prstGeom prst="rect">
            <a:avLst/>
          </a:prstGeom>
          <a:noFill/>
        </p:spPr>
        <p:txBody>
          <a:bodyPr wrap="square" lIns="91440" tIns="45720" rIns="91440" bIns="45720" rtlCol="0" anchor="t">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5400" b="1" dirty="0">
                <a:solidFill>
                  <a:prstClr val="black">
                    <a:lumMod val="75000"/>
                    <a:lumOff val="25000"/>
                  </a:prstClr>
                </a:solidFill>
                <a:latin typeface="Work Sans Bold Roman"/>
              </a:rPr>
              <a:t>Metodología</a:t>
            </a:r>
          </a:p>
        </p:txBody>
      </p:sp>
      <p:sp>
        <p:nvSpPr>
          <p:cNvPr id="9" name="CuadroTexto 7">
            <a:extLst>
              <a:ext uri="{FF2B5EF4-FFF2-40B4-BE49-F238E27FC236}">
                <a16:creationId xmlns:a16="http://schemas.microsoft.com/office/drawing/2014/main" id="{2A5B7BAF-923C-71D0-8EC3-E1FF9DD03EE7}"/>
              </a:ext>
            </a:extLst>
          </p:cNvPr>
          <p:cNvSpPr txBox="1"/>
          <p:nvPr/>
        </p:nvSpPr>
        <p:spPr>
          <a:xfrm>
            <a:off x="991243" y="3469376"/>
            <a:ext cx="10093711" cy="101566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2000" dirty="0">
                <a:ea typeface="+mn-lt"/>
                <a:cs typeface="+mn-lt"/>
              </a:rPr>
              <a:t>1- Listado de requisitos</a:t>
            </a:r>
            <a:endParaRPr lang="en-US" sz="2000" dirty="0">
              <a:ea typeface="+mn-lt"/>
              <a:cs typeface="+mn-lt"/>
            </a:endParaRPr>
          </a:p>
          <a:p>
            <a:r>
              <a:rPr lang="es-CO" sz="2000" dirty="0">
                <a:ea typeface="+mn-lt"/>
                <a:cs typeface="+mn-lt"/>
              </a:rPr>
              <a:t>2- Diagramas estructurales de datos (casos de uso, MER, MR)</a:t>
            </a:r>
            <a:endParaRPr lang="en-US" sz="2000" dirty="0">
              <a:ea typeface="+mn-lt"/>
              <a:cs typeface="+mn-lt"/>
            </a:endParaRPr>
          </a:p>
          <a:p>
            <a:r>
              <a:rPr lang="es-CO" sz="2000" dirty="0">
                <a:ea typeface="+mn-lt"/>
                <a:cs typeface="+mn-lt"/>
              </a:rPr>
              <a:t>3- Nuevo esquema de procesos con la solución implementada</a:t>
            </a:r>
            <a:endParaRPr lang="es-ES" dirty="0">
              <a:ea typeface="+mn-lt"/>
              <a:cs typeface="+mn-lt"/>
            </a:endParaRPr>
          </a:p>
        </p:txBody>
      </p:sp>
      <p:pic>
        <p:nvPicPr>
          <p:cNvPr id="3" name="Imagen 2">
            <a:extLst>
              <a:ext uri="{FF2B5EF4-FFF2-40B4-BE49-F238E27FC236}">
                <a16:creationId xmlns:a16="http://schemas.microsoft.com/office/drawing/2014/main" id="{58E25729-C646-043C-0AFB-CB6F5ABD06D0}"/>
              </a:ext>
            </a:extLst>
          </p:cNvPr>
          <p:cNvPicPr>
            <a:picLocks noChangeAspect="1"/>
          </p:cNvPicPr>
          <p:nvPr/>
        </p:nvPicPr>
        <p:blipFill>
          <a:blip r:embed="rId4"/>
          <a:stretch>
            <a:fillRect/>
          </a:stretch>
        </p:blipFill>
        <p:spPr>
          <a:xfrm>
            <a:off x="9289612" y="5045984"/>
            <a:ext cx="1938011" cy="713188"/>
          </a:xfrm>
          <a:prstGeom prst="rect">
            <a:avLst/>
          </a:prstGeom>
        </p:spPr>
      </p:pic>
    </p:spTree>
    <p:extLst>
      <p:ext uri="{BB962C8B-B14F-4D97-AF65-F5344CB8AC3E}">
        <p14:creationId xmlns:p14="http://schemas.microsoft.com/office/powerpoint/2010/main" val="610365739"/>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CE75F1-F343-8856-BC69-4BB6B82BF3E4}"/>
              </a:ext>
            </a:extLst>
          </p:cNvPr>
          <p:cNvSpPr txBox="1">
            <a:spLocks/>
          </p:cNvSpPr>
          <p:nvPr/>
        </p:nvSpPr>
        <p:spPr>
          <a:xfrm>
            <a:off x="456236" y="416689"/>
            <a:ext cx="9815809" cy="741563"/>
          </a:xfrm>
          <a:prstGeom prst="rect">
            <a:avLst/>
          </a:prstGeom>
          <a:ln>
            <a:no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1" u="none" strike="noStrike" kern="1200" cap="none" spc="0" normalizeH="0" baseline="0" noProof="0" dirty="0">
                <a:ln>
                  <a:noFill/>
                </a:ln>
                <a:effectLst/>
                <a:uLnTx/>
                <a:uFillTx/>
                <a:latin typeface="WORK SANS BOLD ROMAN" pitchFamily="2" charset="77"/>
              </a:rPr>
              <a:t>Metodología</a:t>
            </a:r>
            <a:endParaRPr kumimoji="0" lang="es-CO" sz="3600" b="1" u="none" strike="noStrike" kern="1200" cap="none" spc="0" normalizeH="0" baseline="0" noProof="0" dirty="0">
              <a:ln>
                <a:noFill/>
              </a:ln>
              <a:effectLst/>
              <a:uLnTx/>
              <a:uFillTx/>
              <a:latin typeface="WORK SANS BOLD ROMAN" pitchFamily="2" charset="77"/>
            </a:endParaRPr>
          </a:p>
        </p:txBody>
      </p:sp>
      <p:sp>
        <p:nvSpPr>
          <p:cNvPr id="3" name="CuadroTexto 2">
            <a:extLst>
              <a:ext uri="{FF2B5EF4-FFF2-40B4-BE49-F238E27FC236}">
                <a16:creationId xmlns:a16="http://schemas.microsoft.com/office/drawing/2014/main" id="{A6C31FC2-6C63-0CB9-C78D-1723D5E9DD66}"/>
              </a:ext>
            </a:extLst>
          </p:cNvPr>
          <p:cNvSpPr txBox="1"/>
          <p:nvPr/>
        </p:nvSpPr>
        <p:spPr>
          <a:xfrm>
            <a:off x="456236" y="955346"/>
            <a:ext cx="3053318" cy="584775"/>
          </a:xfrm>
          <a:prstGeom prst="rect">
            <a:avLst/>
          </a:prstGeom>
          <a:noFill/>
        </p:spPr>
        <p:txBody>
          <a:bodyPr wrap="square" lIns="91440" tIns="45720" rIns="91440" bIns="45720" rtlCol="0" anchor="t">
            <a:spAutoFit/>
          </a:bodyPr>
          <a:lstStyle/>
          <a:p>
            <a:r>
              <a:rPr lang="es-CO" sz="1600" dirty="0">
                <a:latin typeface="Times New Roman"/>
                <a:cs typeface="Times New Roman"/>
              </a:rPr>
              <a:t>1- Listado de requerimientos</a:t>
            </a:r>
            <a:endParaRPr lang="en-US" dirty="0">
              <a:latin typeface="Times New Roman"/>
              <a:cs typeface="Times New Roman"/>
            </a:endParaRPr>
          </a:p>
          <a:p>
            <a:endParaRPr lang="es-CO" sz="1600" dirty="0">
              <a:latin typeface="Times New Roman"/>
              <a:cs typeface="Times New Roman"/>
            </a:endParaRPr>
          </a:p>
        </p:txBody>
      </p:sp>
      <p:sp>
        <p:nvSpPr>
          <p:cNvPr id="8" name="CuadroTexto 7">
            <a:extLst>
              <a:ext uri="{FF2B5EF4-FFF2-40B4-BE49-F238E27FC236}">
                <a16:creationId xmlns:a16="http://schemas.microsoft.com/office/drawing/2014/main" id="{63C1BC28-1A3C-95B9-ED9D-DE94B74B8590}"/>
              </a:ext>
            </a:extLst>
          </p:cNvPr>
          <p:cNvSpPr txBox="1"/>
          <p:nvPr/>
        </p:nvSpPr>
        <p:spPr>
          <a:xfrm>
            <a:off x="3048000" y="2971345"/>
            <a:ext cx="6096000" cy="646331"/>
          </a:xfrm>
          <a:prstGeom prst="rect">
            <a:avLst/>
          </a:prstGeom>
          <a:noFill/>
        </p:spPr>
        <p:txBody>
          <a:bodyPr wrap="square">
            <a:spAutoFit/>
          </a:bodyPr>
          <a:lstStyle/>
          <a:p>
            <a:r>
              <a:rPr lang="es-CO" sz="3600" dirty="0">
                <a:hlinkClick r:id="rId3"/>
              </a:rPr>
              <a:t>REQUERIMIENTOS</a:t>
            </a:r>
            <a:endParaRPr lang="es-CO" sz="3600" dirty="0"/>
          </a:p>
        </p:txBody>
      </p:sp>
      <p:pic>
        <p:nvPicPr>
          <p:cNvPr id="9" name="Imagen 8">
            <a:extLst>
              <a:ext uri="{FF2B5EF4-FFF2-40B4-BE49-F238E27FC236}">
                <a16:creationId xmlns:a16="http://schemas.microsoft.com/office/drawing/2014/main" id="{CE215B05-DE34-5284-4469-2F508180F32C}"/>
              </a:ext>
            </a:extLst>
          </p:cNvPr>
          <p:cNvPicPr>
            <a:picLocks noChangeAspect="1"/>
          </p:cNvPicPr>
          <p:nvPr/>
        </p:nvPicPr>
        <p:blipFill>
          <a:blip r:embed="rId4"/>
          <a:stretch>
            <a:fillRect/>
          </a:stretch>
        </p:blipFill>
        <p:spPr>
          <a:xfrm>
            <a:off x="9641305" y="5678118"/>
            <a:ext cx="1938011" cy="713188"/>
          </a:xfrm>
          <a:prstGeom prst="rect">
            <a:avLst/>
          </a:prstGeom>
        </p:spPr>
      </p:pic>
    </p:spTree>
    <p:extLst>
      <p:ext uri="{BB962C8B-B14F-4D97-AF65-F5344CB8AC3E}">
        <p14:creationId xmlns:p14="http://schemas.microsoft.com/office/powerpoint/2010/main" val="4010155226"/>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6395-384E-C7A3-2AFA-936A71EBD2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6AAF15-62AE-D158-4821-37D11116594A}"/>
              </a:ext>
            </a:extLst>
          </p:cNvPr>
          <p:cNvSpPr txBox="1">
            <a:spLocks/>
          </p:cNvSpPr>
          <p:nvPr/>
        </p:nvSpPr>
        <p:spPr>
          <a:xfrm>
            <a:off x="456236" y="416689"/>
            <a:ext cx="9815809" cy="741563"/>
          </a:xfrm>
          <a:prstGeom prst="rect">
            <a:avLst/>
          </a:prstGeom>
          <a:ln>
            <a:no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1" u="none" strike="noStrike" kern="1200" cap="none" spc="0" normalizeH="0" baseline="0" noProof="0" dirty="0">
                <a:ln>
                  <a:noFill/>
                </a:ln>
                <a:effectLst/>
                <a:uLnTx/>
                <a:uFillTx/>
                <a:latin typeface="WORK SANS BOLD ROMAN" pitchFamily="2" charset="77"/>
              </a:rPr>
              <a:t>Metodología</a:t>
            </a:r>
            <a:endParaRPr kumimoji="0" lang="es-CO" sz="3600" b="1" u="none" strike="noStrike" kern="1200" cap="none" spc="0" normalizeH="0" baseline="0" noProof="0" dirty="0">
              <a:ln>
                <a:noFill/>
              </a:ln>
              <a:effectLst/>
              <a:uLnTx/>
              <a:uFillTx/>
              <a:latin typeface="WORK SANS BOLD ROMAN" pitchFamily="2" charset="77"/>
            </a:endParaRPr>
          </a:p>
        </p:txBody>
      </p:sp>
      <p:sp>
        <p:nvSpPr>
          <p:cNvPr id="3" name="CuadroTexto 2">
            <a:extLst>
              <a:ext uri="{FF2B5EF4-FFF2-40B4-BE49-F238E27FC236}">
                <a16:creationId xmlns:a16="http://schemas.microsoft.com/office/drawing/2014/main" id="{211785BB-89BE-758F-F7EE-06B2FCBD1B23}"/>
              </a:ext>
            </a:extLst>
          </p:cNvPr>
          <p:cNvSpPr txBox="1"/>
          <p:nvPr/>
        </p:nvSpPr>
        <p:spPr>
          <a:xfrm>
            <a:off x="456236" y="946054"/>
            <a:ext cx="5518437" cy="584775"/>
          </a:xfrm>
          <a:prstGeom prst="rect">
            <a:avLst/>
          </a:prstGeom>
          <a:noFill/>
        </p:spPr>
        <p:txBody>
          <a:bodyPr wrap="square" lIns="91440" tIns="45720" rIns="91440" bIns="45720" rtlCol="0" anchor="t">
            <a:spAutoFit/>
          </a:bodyPr>
          <a:lstStyle/>
          <a:p>
            <a:r>
              <a:rPr lang="es-CO" sz="1600" dirty="0">
                <a:latin typeface="Work Sans Light Roman"/>
              </a:rPr>
              <a:t>Especificar:</a:t>
            </a:r>
          </a:p>
          <a:p>
            <a:r>
              <a:rPr lang="es-CO" sz="1600" dirty="0">
                <a:latin typeface="Work Sans Light Roman"/>
              </a:rPr>
              <a:t>2- Diagramas estructurales de datos (casos de uso, MER, MR)</a:t>
            </a:r>
          </a:p>
        </p:txBody>
      </p:sp>
      <p:sp>
        <p:nvSpPr>
          <p:cNvPr id="10" name="CuadroTexto 2">
            <a:extLst>
              <a:ext uri="{FF2B5EF4-FFF2-40B4-BE49-F238E27FC236}">
                <a16:creationId xmlns:a16="http://schemas.microsoft.com/office/drawing/2014/main" id="{2DB21563-97FF-4FFF-7229-9B0B253D58BE}"/>
              </a:ext>
            </a:extLst>
          </p:cNvPr>
          <p:cNvSpPr txBox="1"/>
          <p:nvPr/>
        </p:nvSpPr>
        <p:spPr>
          <a:xfrm>
            <a:off x="2349647" y="573477"/>
            <a:ext cx="5518437" cy="461665"/>
          </a:xfrm>
          <a:prstGeom prst="rect">
            <a:avLst/>
          </a:prstGeom>
          <a:noFill/>
        </p:spPr>
        <p:txBody>
          <a:bodyPr wrap="square" lIns="91440" tIns="45720" rIns="91440" bIns="45720" rtlCol="0" anchor="t">
            <a:spAutoFit/>
          </a:bodyPr>
          <a:lstStyle/>
          <a:p>
            <a:pPr algn="ctr"/>
            <a:r>
              <a:rPr lang="es-CO" sz="2400" dirty="0">
                <a:latin typeface="Work Sans Light Roman"/>
              </a:rPr>
              <a:t>Casos de uso</a:t>
            </a:r>
          </a:p>
        </p:txBody>
      </p:sp>
      <p:pic>
        <p:nvPicPr>
          <p:cNvPr id="4" name="Imagen 3">
            <a:extLst>
              <a:ext uri="{FF2B5EF4-FFF2-40B4-BE49-F238E27FC236}">
                <a16:creationId xmlns:a16="http://schemas.microsoft.com/office/drawing/2014/main" id="{89E88B8A-2333-BDFD-BCC9-13630E8E598A}"/>
              </a:ext>
            </a:extLst>
          </p:cNvPr>
          <p:cNvPicPr>
            <a:picLocks noChangeAspect="1"/>
          </p:cNvPicPr>
          <p:nvPr/>
        </p:nvPicPr>
        <p:blipFill>
          <a:blip r:embed="rId3"/>
          <a:stretch>
            <a:fillRect/>
          </a:stretch>
        </p:blipFill>
        <p:spPr>
          <a:xfrm>
            <a:off x="9583448" y="451651"/>
            <a:ext cx="1938011" cy="713188"/>
          </a:xfrm>
          <a:prstGeom prst="rect">
            <a:avLst/>
          </a:prstGeom>
        </p:spPr>
      </p:pic>
      <p:pic>
        <p:nvPicPr>
          <p:cNvPr id="7" name="Imagen 6">
            <a:extLst>
              <a:ext uri="{FF2B5EF4-FFF2-40B4-BE49-F238E27FC236}">
                <a16:creationId xmlns:a16="http://schemas.microsoft.com/office/drawing/2014/main" id="{3F421EDF-881F-CB9F-BE63-906D88C0702C}"/>
              </a:ext>
            </a:extLst>
          </p:cNvPr>
          <p:cNvPicPr>
            <a:picLocks noChangeAspect="1"/>
          </p:cNvPicPr>
          <p:nvPr/>
        </p:nvPicPr>
        <p:blipFill>
          <a:blip r:embed="rId4"/>
          <a:stretch>
            <a:fillRect/>
          </a:stretch>
        </p:blipFill>
        <p:spPr>
          <a:xfrm>
            <a:off x="2498312" y="1687617"/>
            <a:ext cx="7195375" cy="4802913"/>
          </a:xfrm>
          <a:prstGeom prst="rect">
            <a:avLst/>
          </a:prstGeom>
        </p:spPr>
      </p:pic>
    </p:spTree>
    <p:extLst>
      <p:ext uri="{BB962C8B-B14F-4D97-AF65-F5344CB8AC3E}">
        <p14:creationId xmlns:p14="http://schemas.microsoft.com/office/powerpoint/2010/main" val="1988322222"/>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DC6B-0728-CD23-439C-5B80DAD30F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606BC9-E40C-9F09-C9AC-23FA39819ED6}"/>
              </a:ext>
            </a:extLst>
          </p:cNvPr>
          <p:cNvSpPr txBox="1">
            <a:spLocks/>
          </p:cNvSpPr>
          <p:nvPr/>
        </p:nvSpPr>
        <p:spPr>
          <a:xfrm>
            <a:off x="456236" y="416689"/>
            <a:ext cx="9815809" cy="741563"/>
          </a:xfrm>
          <a:prstGeom prst="rect">
            <a:avLst/>
          </a:prstGeom>
          <a:ln>
            <a:no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1" u="none" strike="noStrike" kern="1200" cap="none" spc="0" normalizeH="0" baseline="0" noProof="0" dirty="0">
                <a:ln>
                  <a:noFill/>
                </a:ln>
                <a:effectLst/>
                <a:uLnTx/>
                <a:uFillTx/>
                <a:latin typeface="WORK SANS BOLD ROMAN" pitchFamily="2" charset="77"/>
              </a:rPr>
              <a:t>Metodología</a:t>
            </a:r>
            <a:endParaRPr kumimoji="0" lang="es-CO" sz="3600" b="1" u="none" strike="noStrike" kern="1200" cap="none" spc="0" normalizeH="0" baseline="0" noProof="0" dirty="0">
              <a:ln>
                <a:noFill/>
              </a:ln>
              <a:effectLst/>
              <a:uLnTx/>
              <a:uFillTx/>
              <a:latin typeface="WORK SANS BOLD ROMAN" pitchFamily="2" charset="77"/>
            </a:endParaRPr>
          </a:p>
        </p:txBody>
      </p:sp>
      <p:sp>
        <p:nvSpPr>
          <p:cNvPr id="3" name="CuadroTexto 2">
            <a:extLst>
              <a:ext uri="{FF2B5EF4-FFF2-40B4-BE49-F238E27FC236}">
                <a16:creationId xmlns:a16="http://schemas.microsoft.com/office/drawing/2014/main" id="{F36B6709-B359-A376-B6FF-DF0C60024BA9}"/>
              </a:ext>
            </a:extLst>
          </p:cNvPr>
          <p:cNvSpPr txBox="1"/>
          <p:nvPr/>
        </p:nvSpPr>
        <p:spPr>
          <a:xfrm>
            <a:off x="456236" y="946054"/>
            <a:ext cx="9189891" cy="584775"/>
          </a:xfrm>
          <a:prstGeom prst="rect">
            <a:avLst/>
          </a:prstGeom>
          <a:noFill/>
        </p:spPr>
        <p:txBody>
          <a:bodyPr wrap="square" lIns="91440" tIns="45720" rIns="91440" bIns="45720" rtlCol="0" anchor="t">
            <a:spAutoFit/>
          </a:bodyPr>
          <a:lstStyle/>
          <a:p>
            <a:r>
              <a:rPr lang="es-CO" sz="1600" dirty="0">
                <a:latin typeface="Work Sans Light Roman"/>
              </a:rPr>
              <a:t>Especificar:</a:t>
            </a:r>
          </a:p>
          <a:p>
            <a:r>
              <a:rPr lang="es-CO" sz="1600" dirty="0">
                <a:latin typeface="Work Sans Light Roman"/>
              </a:rPr>
              <a:t>2- Diagramas estructurales de datos (casos de uso, MER, MR)</a:t>
            </a:r>
            <a:endParaRPr lang="es-CO" dirty="0">
              <a:latin typeface="Calibri"/>
              <a:ea typeface="Calibri"/>
              <a:cs typeface="Calibri"/>
            </a:endParaRPr>
          </a:p>
        </p:txBody>
      </p:sp>
      <p:sp>
        <p:nvSpPr>
          <p:cNvPr id="8" name="CuadroTexto 2">
            <a:extLst>
              <a:ext uri="{FF2B5EF4-FFF2-40B4-BE49-F238E27FC236}">
                <a16:creationId xmlns:a16="http://schemas.microsoft.com/office/drawing/2014/main" id="{7C7548EA-3198-EC57-7D54-9939E0907792}"/>
              </a:ext>
            </a:extLst>
          </p:cNvPr>
          <p:cNvSpPr txBox="1"/>
          <p:nvPr/>
        </p:nvSpPr>
        <p:spPr>
          <a:xfrm>
            <a:off x="2724884" y="2551837"/>
            <a:ext cx="7172151" cy="1754326"/>
          </a:xfrm>
          <a:prstGeom prst="rect">
            <a:avLst/>
          </a:prstGeom>
          <a:noFill/>
        </p:spPr>
        <p:txBody>
          <a:bodyPr wrap="square" lIns="91440" tIns="45720" rIns="91440" bIns="45720" rtlCol="0" anchor="t">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CO" sz="3600" dirty="0">
                <a:latin typeface="Work Sans Light Roman"/>
              </a:rPr>
              <a:t>MER  </a:t>
            </a:r>
            <a:r>
              <a:rPr lang="es-CO" sz="3600" dirty="0">
                <a:latin typeface="Work Sans Light Roman"/>
                <a:hlinkClick r:id="rId3"/>
              </a:rPr>
              <a:t>https://mermaid.ai/d/a806b4a5-34d9-4425-80bc-ef8613de0ffd</a:t>
            </a:r>
            <a:endParaRPr lang="es-CO" sz="3600" dirty="0">
              <a:latin typeface="Work Sans Light Roman"/>
            </a:endParaRPr>
          </a:p>
        </p:txBody>
      </p:sp>
      <p:pic>
        <p:nvPicPr>
          <p:cNvPr id="4" name="Imagen 3">
            <a:extLst>
              <a:ext uri="{FF2B5EF4-FFF2-40B4-BE49-F238E27FC236}">
                <a16:creationId xmlns:a16="http://schemas.microsoft.com/office/drawing/2014/main" id="{3ACC07D0-BF94-C7B3-623F-A1AC765C94AC}"/>
              </a:ext>
            </a:extLst>
          </p:cNvPr>
          <p:cNvPicPr>
            <a:picLocks noChangeAspect="1"/>
          </p:cNvPicPr>
          <p:nvPr/>
        </p:nvPicPr>
        <p:blipFill>
          <a:blip r:embed="rId4"/>
          <a:stretch>
            <a:fillRect/>
          </a:stretch>
        </p:blipFill>
        <p:spPr>
          <a:xfrm>
            <a:off x="9303039" y="493029"/>
            <a:ext cx="1938011" cy="713188"/>
          </a:xfrm>
          <a:prstGeom prst="rect">
            <a:avLst/>
          </a:prstGeom>
        </p:spPr>
      </p:pic>
    </p:spTree>
    <p:extLst>
      <p:ext uri="{BB962C8B-B14F-4D97-AF65-F5344CB8AC3E}">
        <p14:creationId xmlns:p14="http://schemas.microsoft.com/office/powerpoint/2010/main" val="1630626755"/>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2BCD5-A00E-48FB-D0A8-9E2D6F6CFF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7844E8-D7DB-2A1E-825C-97EE78DEB577}"/>
              </a:ext>
            </a:extLst>
          </p:cNvPr>
          <p:cNvSpPr txBox="1">
            <a:spLocks/>
          </p:cNvSpPr>
          <p:nvPr/>
        </p:nvSpPr>
        <p:spPr>
          <a:xfrm>
            <a:off x="456236" y="416689"/>
            <a:ext cx="9815809" cy="741563"/>
          </a:xfrm>
          <a:prstGeom prst="rect">
            <a:avLst/>
          </a:prstGeom>
          <a:ln>
            <a:no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1" u="none" strike="noStrike" kern="1200" cap="none" spc="0" normalizeH="0" baseline="0" noProof="0" dirty="0">
                <a:ln>
                  <a:noFill/>
                </a:ln>
                <a:effectLst/>
                <a:uLnTx/>
                <a:uFillTx/>
                <a:latin typeface="WORK SANS BOLD ROMAN" pitchFamily="2" charset="77"/>
              </a:rPr>
              <a:t>Metodología</a:t>
            </a:r>
            <a:endParaRPr kumimoji="0" lang="es-CO" sz="3600" b="1" u="none" strike="noStrike" kern="1200" cap="none" spc="0" normalizeH="0" baseline="0" noProof="0" dirty="0">
              <a:ln>
                <a:noFill/>
              </a:ln>
              <a:effectLst/>
              <a:uLnTx/>
              <a:uFillTx/>
              <a:latin typeface="WORK SANS BOLD ROMAN" pitchFamily="2" charset="77"/>
            </a:endParaRPr>
          </a:p>
        </p:txBody>
      </p:sp>
      <p:sp>
        <p:nvSpPr>
          <p:cNvPr id="3" name="CuadroTexto 2">
            <a:extLst>
              <a:ext uri="{FF2B5EF4-FFF2-40B4-BE49-F238E27FC236}">
                <a16:creationId xmlns:a16="http://schemas.microsoft.com/office/drawing/2014/main" id="{6B743D65-7718-8820-343A-AA1A2DC493DA}"/>
              </a:ext>
            </a:extLst>
          </p:cNvPr>
          <p:cNvSpPr txBox="1"/>
          <p:nvPr/>
        </p:nvSpPr>
        <p:spPr>
          <a:xfrm>
            <a:off x="456236" y="946054"/>
            <a:ext cx="10630764" cy="584775"/>
          </a:xfrm>
          <a:prstGeom prst="rect">
            <a:avLst/>
          </a:prstGeom>
          <a:noFill/>
        </p:spPr>
        <p:txBody>
          <a:bodyPr wrap="square" lIns="91440" tIns="45720" rIns="91440" bIns="45720" rtlCol="0" anchor="t">
            <a:spAutoFit/>
          </a:bodyPr>
          <a:lstStyle/>
          <a:p>
            <a:r>
              <a:rPr lang="es-CO" sz="1600" dirty="0">
                <a:latin typeface="Work Sans Light Roman"/>
              </a:rPr>
              <a:t>Especificar:</a:t>
            </a:r>
          </a:p>
          <a:p>
            <a:r>
              <a:rPr lang="es-CO" sz="1600" dirty="0">
                <a:latin typeface="Work Sans Light Roman"/>
              </a:rPr>
              <a:t>2- Diagramas estructurales de datos (casos de uso, MER, MR) </a:t>
            </a:r>
            <a:endParaRPr lang="es-CO" dirty="0"/>
          </a:p>
        </p:txBody>
      </p:sp>
      <p:sp>
        <p:nvSpPr>
          <p:cNvPr id="6" name="CuadroTexto 2">
            <a:extLst>
              <a:ext uri="{FF2B5EF4-FFF2-40B4-BE49-F238E27FC236}">
                <a16:creationId xmlns:a16="http://schemas.microsoft.com/office/drawing/2014/main" id="{D79C24E2-89C7-3A00-3A10-23D1B7A890A2}"/>
              </a:ext>
            </a:extLst>
          </p:cNvPr>
          <p:cNvSpPr txBox="1"/>
          <p:nvPr/>
        </p:nvSpPr>
        <p:spPr>
          <a:xfrm>
            <a:off x="290597" y="3006435"/>
            <a:ext cx="10962042" cy="1323439"/>
          </a:xfrm>
          <a:prstGeom prst="rect">
            <a:avLst/>
          </a:prstGeom>
          <a:noFill/>
        </p:spPr>
        <p:txBody>
          <a:bodyPr wrap="square" lIns="91440" tIns="45720" rIns="91440" bIns="45720" rtlCol="0" anchor="t">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CO" sz="4000" dirty="0">
                <a:latin typeface="Work Sans Light Roman"/>
              </a:rPr>
              <a:t>MR   </a:t>
            </a:r>
            <a:r>
              <a:rPr lang="es-CO" sz="4000" dirty="0">
                <a:latin typeface="Work Sans Light Roman"/>
                <a:hlinkClick r:id="rId3"/>
              </a:rPr>
              <a:t>https://mermaid.ai/d/29c2b9ab-3c09-44c8-871e-13636b80d335</a:t>
            </a:r>
            <a:endParaRPr lang="es-CO" sz="4000" dirty="0">
              <a:latin typeface="Work Sans Light Roman"/>
            </a:endParaRPr>
          </a:p>
        </p:txBody>
      </p:sp>
      <p:pic>
        <p:nvPicPr>
          <p:cNvPr id="5" name="Imagen 4">
            <a:extLst>
              <a:ext uri="{FF2B5EF4-FFF2-40B4-BE49-F238E27FC236}">
                <a16:creationId xmlns:a16="http://schemas.microsoft.com/office/drawing/2014/main" id="{20A810AE-4247-C8C9-06EF-01EC5E27B0A0}"/>
              </a:ext>
            </a:extLst>
          </p:cNvPr>
          <p:cNvPicPr>
            <a:picLocks noChangeAspect="1"/>
          </p:cNvPicPr>
          <p:nvPr/>
        </p:nvPicPr>
        <p:blipFill>
          <a:blip r:embed="rId4"/>
          <a:stretch>
            <a:fillRect/>
          </a:stretch>
        </p:blipFill>
        <p:spPr>
          <a:xfrm>
            <a:off x="9491646" y="631353"/>
            <a:ext cx="1938011" cy="713188"/>
          </a:xfrm>
          <a:prstGeom prst="rect">
            <a:avLst/>
          </a:prstGeom>
        </p:spPr>
      </p:pic>
    </p:spTree>
    <p:extLst>
      <p:ext uri="{BB962C8B-B14F-4D97-AF65-F5344CB8AC3E}">
        <p14:creationId xmlns:p14="http://schemas.microsoft.com/office/powerpoint/2010/main" val="3718316083"/>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921C9-3507-11C5-F13A-58320ECA57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3804DA-B92F-713C-5A25-89277F00ED45}"/>
              </a:ext>
            </a:extLst>
          </p:cNvPr>
          <p:cNvSpPr txBox="1">
            <a:spLocks/>
          </p:cNvSpPr>
          <p:nvPr/>
        </p:nvSpPr>
        <p:spPr>
          <a:xfrm>
            <a:off x="456236" y="416689"/>
            <a:ext cx="9815809" cy="741563"/>
          </a:xfrm>
          <a:prstGeom prst="rect">
            <a:avLst/>
          </a:prstGeom>
          <a:ln>
            <a:no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1" u="none" strike="noStrike" kern="1200" cap="none" spc="0" normalizeH="0" baseline="0" noProof="0" dirty="0">
                <a:ln>
                  <a:noFill/>
                </a:ln>
                <a:effectLst/>
                <a:uLnTx/>
                <a:uFillTx/>
                <a:latin typeface="WORK SANS BOLD ROMAN" pitchFamily="2" charset="77"/>
              </a:rPr>
              <a:t>Metodología</a:t>
            </a:r>
            <a:endParaRPr kumimoji="0" lang="es-CO" sz="3600" b="1" u="none" strike="noStrike" kern="1200" cap="none" spc="0" normalizeH="0" baseline="0" noProof="0" dirty="0">
              <a:ln>
                <a:noFill/>
              </a:ln>
              <a:effectLst/>
              <a:uLnTx/>
              <a:uFillTx/>
              <a:latin typeface="WORK SANS BOLD ROMAN" pitchFamily="2" charset="77"/>
            </a:endParaRPr>
          </a:p>
        </p:txBody>
      </p:sp>
      <p:sp>
        <p:nvSpPr>
          <p:cNvPr id="3" name="CuadroTexto 2">
            <a:extLst>
              <a:ext uri="{FF2B5EF4-FFF2-40B4-BE49-F238E27FC236}">
                <a16:creationId xmlns:a16="http://schemas.microsoft.com/office/drawing/2014/main" id="{5324DA40-1ABE-073F-6C9F-5CD14F82F50E}"/>
              </a:ext>
            </a:extLst>
          </p:cNvPr>
          <p:cNvSpPr txBox="1"/>
          <p:nvPr/>
        </p:nvSpPr>
        <p:spPr>
          <a:xfrm>
            <a:off x="456236" y="946054"/>
            <a:ext cx="5013457" cy="553998"/>
          </a:xfrm>
          <a:prstGeom prst="rect">
            <a:avLst/>
          </a:prstGeom>
          <a:noFill/>
        </p:spPr>
        <p:txBody>
          <a:bodyPr wrap="square" lIns="91440" tIns="45720" rIns="91440" bIns="45720" rtlCol="0" anchor="t">
            <a:spAutoFit/>
          </a:bodyPr>
          <a:lstStyle/>
          <a:p>
            <a:r>
              <a:rPr lang="es-CO" sz="1600" dirty="0">
                <a:latin typeface="Work Sans Light Roman"/>
              </a:rPr>
              <a:t>Especificar:</a:t>
            </a:r>
            <a:endParaRPr lang="es-CO" sz="1100" dirty="0">
              <a:latin typeface="Work Sans Light Roman"/>
            </a:endParaRPr>
          </a:p>
          <a:p>
            <a:r>
              <a:rPr lang="en-US" sz="1400" dirty="0">
                <a:latin typeface="Calibri"/>
                <a:ea typeface="Calibri"/>
                <a:cs typeface="Calibri"/>
              </a:rPr>
              <a:t>3 - Nuevo esquema de procesos con la solución implementada</a:t>
            </a:r>
            <a:endParaRPr lang="es-CO" sz="1400" dirty="0">
              <a:ea typeface="Calibri" panose="020F0502020204030204"/>
              <a:cs typeface="Calibri" panose="020F0502020204030204"/>
            </a:endParaRPr>
          </a:p>
        </p:txBody>
      </p:sp>
      <p:pic>
        <p:nvPicPr>
          <p:cNvPr id="8" name="Graphic 7">
            <a:extLst>
              <a:ext uri="{FF2B5EF4-FFF2-40B4-BE49-F238E27FC236}">
                <a16:creationId xmlns:a16="http://schemas.microsoft.com/office/drawing/2014/main" id="{A5A38BA6-D251-92F7-3780-48E0980745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677" y="1500052"/>
            <a:ext cx="4174573" cy="2603008"/>
          </a:xfrm>
          <a:prstGeom prst="rect">
            <a:avLst/>
          </a:prstGeom>
        </p:spPr>
      </p:pic>
      <p:pic>
        <p:nvPicPr>
          <p:cNvPr id="10" name="Graphic 9">
            <a:extLst>
              <a:ext uri="{FF2B5EF4-FFF2-40B4-BE49-F238E27FC236}">
                <a16:creationId xmlns:a16="http://schemas.microsoft.com/office/drawing/2014/main" id="{598B1D5F-5A9F-7CC8-789A-F371ABE102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76064" y="3809725"/>
            <a:ext cx="4174573" cy="2098568"/>
          </a:xfrm>
          <a:prstGeom prst="rect">
            <a:avLst/>
          </a:prstGeom>
        </p:spPr>
      </p:pic>
      <p:pic>
        <p:nvPicPr>
          <p:cNvPr id="4" name="Imagen 3">
            <a:extLst>
              <a:ext uri="{FF2B5EF4-FFF2-40B4-BE49-F238E27FC236}">
                <a16:creationId xmlns:a16="http://schemas.microsoft.com/office/drawing/2014/main" id="{FB330113-E0D5-8989-7A66-700B92BDAE65}"/>
              </a:ext>
            </a:extLst>
          </p:cNvPr>
          <p:cNvPicPr>
            <a:picLocks noChangeAspect="1"/>
          </p:cNvPicPr>
          <p:nvPr/>
        </p:nvPicPr>
        <p:blipFill>
          <a:blip r:embed="rId5"/>
          <a:stretch>
            <a:fillRect/>
          </a:stretch>
        </p:blipFill>
        <p:spPr>
          <a:xfrm>
            <a:off x="3285177" y="425709"/>
            <a:ext cx="1938011" cy="713188"/>
          </a:xfrm>
          <a:prstGeom prst="rect">
            <a:avLst/>
          </a:prstGeom>
        </p:spPr>
      </p:pic>
      <p:pic>
        <p:nvPicPr>
          <p:cNvPr id="9" name="Gráfico 8">
            <a:extLst>
              <a:ext uri="{FF2B5EF4-FFF2-40B4-BE49-F238E27FC236}">
                <a16:creationId xmlns:a16="http://schemas.microsoft.com/office/drawing/2014/main" id="{F9AAB9EC-5618-8D8E-90D2-8E871FFA10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0378" y="3809725"/>
            <a:ext cx="4443762" cy="2702796"/>
          </a:xfrm>
          <a:prstGeom prst="rect">
            <a:avLst/>
          </a:prstGeom>
        </p:spPr>
      </p:pic>
      <p:pic>
        <p:nvPicPr>
          <p:cNvPr id="13" name="Gráfico 12">
            <a:extLst>
              <a:ext uri="{FF2B5EF4-FFF2-40B4-BE49-F238E27FC236}">
                <a16:creationId xmlns:a16="http://schemas.microsoft.com/office/drawing/2014/main" id="{7CF0E539-2338-6915-4FEA-E6E4F06E313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05184" y="1540877"/>
            <a:ext cx="4145453" cy="2521358"/>
          </a:xfrm>
          <a:prstGeom prst="rect">
            <a:avLst/>
          </a:prstGeom>
        </p:spPr>
      </p:pic>
    </p:spTree>
    <p:extLst>
      <p:ext uri="{BB962C8B-B14F-4D97-AF65-F5344CB8AC3E}">
        <p14:creationId xmlns:p14="http://schemas.microsoft.com/office/powerpoint/2010/main" val="3684434972"/>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416690"/>
            <a:ext cx="9815809"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CO" sz="3600" b="1" u="none" strike="noStrike" kern="1200" cap="none" spc="0" normalizeH="0" baseline="0" noProof="0" dirty="0">
                <a:ln>
                  <a:noFill/>
                </a:ln>
                <a:solidFill>
                  <a:prstClr val="white"/>
                </a:solidFill>
                <a:effectLst/>
                <a:uLnTx/>
                <a:uFillTx/>
                <a:latin typeface="WORK SANS BOLD ROMAN" pitchFamily="2" charset="77"/>
              </a:rPr>
              <a:t>Cronograma</a:t>
            </a:r>
          </a:p>
        </p:txBody>
      </p:sp>
      <p:pic>
        <p:nvPicPr>
          <p:cNvPr id="2" name="Picture 1" descr="A white and black box with black text&#10;&#10;AI-generated content may be incorrect.">
            <a:extLst>
              <a:ext uri="{FF2B5EF4-FFF2-40B4-BE49-F238E27FC236}">
                <a16:creationId xmlns:a16="http://schemas.microsoft.com/office/drawing/2014/main" id="{6F7079A7-0924-504D-AC9E-700C66EF43B8}"/>
              </a:ext>
            </a:extLst>
          </p:cNvPr>
          <p:cNvPicPr>
            <a:picLocks noChangeAspect="1"/>
          </p:cNvPicPr>
          <p:nvPr/>
        </p:nvPicPr>
        <p:blipFill>
          <a:blip r:embed="rId3"/>
          <a:srcRect r="354" b="4469"/>
          <a:stretch>
            <a:fillRect/>
          </a:stretch>
        </p:blipFill>
        <p:spPr>
          <a:xfrm>
            <a:off x="330679" y="1527233"/>
            <a:ext cx="11717558" cy="4752092"/>
          </a:xfrm>
          <a:prstGeom prst="rect">
            <a:avLst/>
          </a:prstGeom>
        </p:spPr>
      </p:pic>
      <p:pic>
        <p:nvPicPr>
          <p:cNvPr id="5" name="Imagen 4">
            <a:extLst>
              <a:ext uri="{FF2B5EF4-FFF2-40B4-BE49-F238E27FC236}">
                <a16:creationId xmlns:a16="http://schemas.microsoft.com/office/drawing/2014/main" id="{834D104A-507E-E208-1C7B-35C0E6D1CA07}"/>
              </a:ext>
            </a:extLst>
          </p:cNvPr>
          <p:cNvPicPr>
            <a:picLocks noChangeAspect="1"/>
          </p:cNvPicPr>
          <p:nvPr/>
        </p:nvPicPr>
        <p:blipFill>
          <a:blip r:embed="rId4"/>
          <a:stretch>
            <a:fillRect/>
          </a:stretch>
        </p:blipFill>
        <p:spPr>
          <a:xfrm>
            <a:off x="9113766" y="335595"/>
            <a:ext cx="1938011" cy="713188"/>
          </a:xfrm>
          <a:prstGeom prst="rect">
            <a:avLst/>
          </a:prstGeom>
        </p:spPr>
      </p:pic>
    </p:spTree>
    <p:extLst>
      <p:ext uri="{BB962C8B-B14F-4D97-AF65-F5344CB8AC3E}">
        <p14:creationId xmlns:p14="http://schemas.microsoft.com/office/powerpoint/2010/main" val="2269292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7">
            <a:extLst>
              <a:ext uri="{FF2B5EF4-FFF2-40B4-BE49-F238E27FC236}">
                <a16:creationId xmlns:a16="http://schemas.microsoft.com/office/drawing/2014/main" id="{F12A8F68-C159-460C-8382-57BE0B005779}"/>
              </a:ext>
            </a:extLst>
          </p:cNvPr>
          <p:cNvSpPr txBox="1">
            <a:spLocks noChangeArrowheads="1"/>
          </p:cNvSpPr>
          <p:nvPr/>
        </p:nvSpPr>
        <p:spPr bwMode="auto">
          <a:xfrm>
            <a:off x="8700954" y="3858682"/>
            <a:ext cx="23383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CO" altLang="es-419" sz="1800" dirty="0">
                <a:latin typeface="Arial"/>
                <a:cs typeface="Arial"/>
              </a:rPr>
              <a:t>Vite</a:t>
            </a:r>
            <a:endParaRPr lang="en-US" dirty="0"/>
          </a:p>
        </p:txBody>
      </p:sp>
      <p:sp>
        <p:nvSpPr>
          <p:cNvPr id="7" name="CuadroTexto 6">
            <a:extLst>
              <a:ext uri="{FF2B5EF4-FFF2-40B4-BE49-F238E27FC236}">
                <a16:creationId xmlns:a16="http://schemas.microsoft.com/office/drawing/2014/main" id="{0E1BC8CC-86BB-AC3D-D21C-CCFBA4472A9D}"/>
              </a:ext>
            </a:extLst>
          </p:cNvPr>
          <p:cNvSpPr txBox="1">
            <a:spLocks noChangeArrowheads="1"/>
          </p:cNvSpPr>
          <p:nvPr/>
        </p:nvSpPr>
        <p:spPr bwMode="auto">
          <a:xfrm>
            <a:off x="8869641" y="1503865"/>
            <a:ext cx="15525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FontTx/>
              <a:buNone/>
            </a:pPr>
            <a:r>
              <a:rPr lang="es-ES" altLang="es-419" sz="1800" dirty="0">
                <a:latin typeface="Arial" panose="020B0604020202020204" pitchFamily="34" charset="0"/>
              </a:rPr>
              <a:t>T</a:t>
            </a:r>
            <a:r>
              <a:rPr lang="es-CO" altLang="es-419" sz="1800" dirty="0">
                <a:latin typeface="Arial" panose="020B0604020202020204" pitchFamily="34" charset="0"/>
              </a:rPr>
              <a:t>ypescript</a:t>
            </a:r>
            <a:endParaRPr lang="es-MX" altLang="es-419" sz="1800" dirty="0">
              <a:latin typeface="Arial" panose="020B0604020202020204" pitchFamily="34" charset="0"/>
            </a:endParaRPr>
          </a:p>
        </p:txBody>
      </p:sp>
      <p:sp>
        <p:nvSpPr>
          <p:cNvPr id="8" name="CuadroTexto 6">
            <a:extLst>
              <a:ext uri="{FF2B5EF4-FFF2-40B4-BE49-F238E27FC236}">
                <a16:creationId xmlns:a16="http://schemas.microsoft.com/office/drawing/2014/main" id="{39C6073F-65D2-28A8-46A1-2A946C1ECDC5}"/>
              </a:ext>
            </a:extLst>
          </p:cNvPr>
          <p:cNvSpPr txBox="1">
            <a:spLocks noChangeArrowheads="1"/>
          </p:cNvSpPr>
          <p:nvPr/>
        </p:nvSpPr>
        <p:spPr bwMode="auto">
          <a:xfrm>
            <a:off x="1426709" y="4228569"/>
            <a:ext cx="1593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FontTx/>
              <a:buNone/>
            </a:pPr>
            <a:r>
              <a:rPr lang="es-CO" altLang="es-419" sz="1800" dirty="0">
                <a:latin typeface="Arial"/>
                <a:cs typeface="Arial"/>
              </a:rPr>
              <a:t>TailwindCSS</a:t>
            </a:r>
            <a:endParaRPr lang="es-MX" altLang="es-419" sz="1800" dirty="0">
              <a:latin typeface="Arial" panose="020B0604020202020204" pitchFamily="34" charset="0"/>
            </a:endParaRPr>
          </a:p>
        </p:txBody>
      </p:sp>
      <p:pic>
        <p:nvPicPr>
          <p:cNvPr id="11" name="Graphic 10" descr="Tailwind CSS Logo PNG Vector SVG, EPS, Ai formats (2.30 KB) Free Download">
            <a:extLst>
              <a:ext uri="{FF2B5EF4-FFF2-40B4-BE49-F238E27FC236}">
                <a16:creationId xmlns:a16="http://schemas.microsoft.com/office/drawing/2014/main" id="{9AD7F5EE-0C79-B4FA-2EF7-80FCB173D8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4996" y="4754770"/>
            <a:ext cx="3198540" cy="1089634"/>
          </a:xfrm>
          <a:prstGeom prst="rect">
            <a:avLst/>
          </a:prstGeom>
        </p:spPr>
      </p:pic>
      <p:sp>
        <p:nvSpPr>
          <p:cNvPr id="13" name="Título 1">
            <a:extLst>
              <a:ext uri="{FF2B5EF4-FFF2-40B4-BE49-F238E27FC236}">
                <a16:creationId xmlns:a16="http://schemas.microsoft.com/office/drawing/2014/main" id="{BF50B7DD-3A3A-A19E-D294-8777D618DC98}"/>
              </a:ext>
            </a:extLst>
          </p:cNvPr>
          <p:cNvSpPr txBox="1">
            <a:spLocks/>
          </p:cNvSpPr>
          <p:nvPr/>
        </p:nvSpPr>
        <p:spPr>
          <a:xfrm>
            <a:off x="456236" y="416690"/>
            <a:ext cx="9815809" cy="527874"/>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s-CO" sz="3600" b="1" dirty="0">
                <a:solidFill>
                  <a:prstClr val="white"/>
                </a:solidFill>
                <a:latin typeface="WORK SANS BOLD ROMAN"/>
              </a:rPr>
              <a:t>Herramientas FRONTEND</a:t>
            </a:r>
            <a:endParaRPr lang="es-CO" sz="3600" b="1" u="none" strike="noStrike" kern="1200" cap="none" spc="0" normalizeH="0" baseline="0" noProof="0" dirty="0">
              <a:ln>
                <a:noFill/>
              </a:ln>
              <a:solidFill>
                <a:prstClr val="white"/>
              </a:solidFill>
              <a:effectLst/>
              <a:uLnTx/>
              <a:uFillTx/>
              <a:latin typeface="WORK SANS BOLD ROMAN" pitchFamily="2" charset="77"/>
            </a:endParaRPr>
          </a:p>
        </p:txBody>
      </p:sp>
      <p:pic>
        <p:nvPicPr>
          <p:cNvPr id="2" name="Picture 1" descr="File:Vitejs-logo.svg - Wikipedia">
            <a:extLst>
              <a:ext uri="{FF2B5EF4-FFF2-40B4-BE49-F238E27FC236}">
                <a16:creationId xmlns:a16="http://schemas.microsoft.com/office/drawing/2014/main" id="{5E2B832C-8F32-550E-077B-FDA69B399339}"/>
              </a:ext>
            </a:extLst>
          </p:cNvPr>
          <p:cNvPicPr>
            <a:picLocks noChangeAspect="1"/>
          </p:cNvPicPr>
          <p:nvPr/>
        </p:nvPicPr>
        <p:blipFill>
          <a:blip r:embed="rId4"/>
          <a:stretch>
            <a:fillRect/>
          </a:stretch>
        </p:blipFill>
        <p:spPr>
          <a:xfrm>
            <a:off x="8722014" y="4322096"/>
            <a:ext cx="2111793" cy="2052585"/>
          </a:xfrm>
          <a:prstGeom prst="rect">
            <a:avLst/>
          </a:prstGeom>
        </p:spPr>
      </p:pic>
      <p:sp>
        <p:nvSpPr>
          <p:cNvPr id="5" name="CuadroTexto 7">
            <a:extLst>
              <a:ext uri="{FF2B5EF4-FFF2-40B4-BE49-F238E27FC236}">
                <a16:creationId xmlns:a16="http://schemas.microsoft.com/office/drawing/2014/main" id="{1C053E9F-987A-3150-F516-B5332B26E8F0}"/>
              </a:ext>
            </a:extLst>
          </p:cNvPr>
          <p:cNvSpPr txBox="1">
            <a:spLocks noChangeArrowheads="1"/>
          </p:cNvSpPr>
          <p:nvPr/>
        </p:nvSpPr>
        <p:spPr bwMode="auto">
          <a:xfrm>
            <a:off x="1525909" y="1850675"/>
            <a:ext cx="232765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CO" altLang="es-419" sz="1800" dirty="0">
                <a:latin typeface="Arial"/>
                <a:cs typeface="Arial"/>
              </a:rPr>
              <a:t>React</a:t>
            </a:r>
            <a:endParaRPr lang="en-US" dirty="0"/>
          </a:p>
        </p:txBody>
      </p:sp>
      <p:pic>
        <p:nvPicPr>
          <p:cNvPr id="9" name="Graphic 7" descr="React Mono SVG Logo | Free SVG logos &amp; icons download | SVGmix">
            <a:extLst>
              <a:ext uri="{FF2B5EF4-FFF2-40B4-BE49-F238E27FC236}">
                <a16:creationId xmlns:a16="http://schemas.microsoft.com/office/drawing/2014/main" id="{07DF8691-D4ED-FE7F-050B-6863516C816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4059" y="2316629"/>
            <a:ext cx="2743198" cy="896470"/>
          </a:xfrm>
          <a:prstGeom prst="rect">
            <a:avLst/>
          </a:prstGeom>
        </p:spPr>
      </p:pic>
      <p:pic>
        <p:nvPicPr>
          <p:cNvPr id="1026" name="Picture 2" descr="TypeScript Tutorial: A Guide to Using the Programming Language - The New  Stack">
            <a:extLst>
              <a:ext uri="{FF2B5EF4-FFF2-40B4-BE49-F238E27FC236}">
                <a16:creationId xmlns:a16="http://schemas.microsoft.com/office/drawing/2014/main" id="{0A4E263A-ACD4-9F11-D8BC-7038E9080C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65357" y="1873197"/>
            <a:ext cx="3262584" cy="1339902"/>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00E91DE1-D98D-2CED-A2DB-ED1076395E4D}"/>
              </a:ext>
            </a:extLst>
          </p:cNvPr>
          <p:cNvPicPr>
            <a:picLocks noChangeAspect="1"/>
          </p:cNvPicPr>
          <p:nvPr/>
        </p:nvPicPr>
        <p:blipFill>
          <a:blip r:embed="rId7"/>
          <a:stretch>
            <a:fillRect/>
          </a:stretch>
        </p:blipFill>
        <p:spPr>
          <a:xfrm>
            <a:off x="9113766" y="335595"/>
            <a:ext cx="1938011" cy="713188"/>
          </a:xfrm>
          <a:prstGeom prst="rect">
            <a:avLst/>
          </a:prstGeom>
        </p:spPr>
      </p:pic>
      <p:pic>
        <p:nvPicPr>
          <p:cNvPr id="4" name="Imagen 3">
            <a:extLst>
              <a:ext uri="{FF2B5EF4-FFF2-40B4-BE49-F238E27FC236}">
                <a16:creationId xmlns:a16="http://schemas.microsoft.com/office/drawing/2014/main" id="{84427671-52B8-FF4F-0D3B-84B2D9767D08}"/>
              </a:ext>
            </a:extLst>
          </p:cNvPr>
          <p:cNvPicPr>
            <a:picLocks noChangeAspect="1"/>
          </p:cNvPicPr>
          <p:nvPr/>
        </p:nvPicPr>
        <p:blipFill>
          <a:blip r:embed="rId8"/>
          <a:stretch>
            <a:fillRect/>
          </a:stretch>
        </p:blipFill>
        <p:spPr>
          <a:xfrm>
            <a:off x="3906681" y="2180330"/>
            <a:ext cx="3686224" cy="3686224"/>
          </a:xfrm>
          <a:prstGeom prst="rect">
            <a:avLst/>
          </a:prstGeom>
        </p:spPr>
      </p:pic>
      <p:sp>
        <p:nvSpPr>
          <p:cNvPr id="12" name="CuadroTexto 7">
            <a:extLst>
              <a:ext uri="{FF2B5EF4-FFF2-40B4-BE49-F238E27FC236}">
                <a16:creationId xmlns:a16="http://schemas.microsoft.com/office/drawing/2014/main" id="{6A7233D3-89B4-C3BC-ECEE-0561F0D340E8}"/>
              </a:ext>
            </a:extLst>
          </p:cNvPr>
          <p:cNvSpPr txBox="1">
            <a:spLocks noChangeArrowheads="1"/>
          </p:cNvSpPr>
          <p:nvPr/>
        </p:nvSpPr>
        <p:spPr bwMode="auto">
          <a:xfrm>
            <a:off x="4494071" y="2242724"/>
            <a:ext cx="232765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CO" altLang="es-419" sz="1800" dirty="0">
                <a:latin typeface="Arial"/>
                <a:cs typeface="Arial"/>
              </a:rPr>
              <a:t>Node JS</a:t>
            </a:r>
            <a:endParaRPr lang="en-US" dirty="0"/>
          </a:p>
        </p:txBody>
      </p:sp>
    </p:spTree>
    <p:extLst>
      <p:ext uri="{BB962C8B-B14F-4D97-AF65-F5344CB8AC3E}">
        <p14:creationId xmlns:p14="http://schemas.microsoft.com/office/powerpoint/2010/main" val="4269885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ED955CD-CB72-A91E-FFA9-CD73CF8D7A33}"/>
            </a:ext>
          </a:extLst>
        </p:cNvPr>
        <p:cNvGrpSpPr/>
        <p:nvPr/>
      </p:nvGrpSpPr>
      <p:grpSpPr>
        <a:xfrm>
          <a:off x="0" y="0"/>
          <a:ext cx="0" cy="0"/>
          <a:chOff x="0" y="0"/>
          <a:chExt cx="0" cy="0"/>
        </a:xfrm>
      </p:grpSpPr>
      <p:sp>
        <p:nvSpPr>
          <p:cNvPr id="6" name="CuadroTexto 7">
            <a:extLst>
              <a:ext uri="{FF2B5EF4-FFF2-40B4-BE49-F238E27FC236}">
                <a16:creationId xmlns:a16="http://schemas.microsoft.com/office/drawing/2014/main" id="{CF6E60CE-A3A8-5DD3-02DA-E5559D328BDD}"/>
              </a:ext>
            </a:extLst>
          </p:cNvPr>
          <p:cNvSpPr txBox="1">
            <a:spLocks noChangeArrowheads="1"/>
          </p:cNvSpPr>
          <p:nvPr/>
        </p:nvSpPr>
        <p:spPr bwMode="auto">
          <a:xfrm>
            <a:off x="0" y="2204402"/>
            <a:ext cx="3676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ES" altLang="es-419" sz="1200" dirty="0">
                <a:latin typeface="Arial" panose="020B0604020202020204" pitchFamily="34" charset="0"/>
                <a:cs typeface="Arial"/>
              </a:rPr>
              <a:t> </a:t>
            </a:r>
            <a:r>
              <a:rPr lang="es-ES" altLang="es-419" sz="1200" dirty="0" err="1">
                <a:latin typeface="Arial" panose="020B0604020202020204" pitchFamily="34" charset="0"/>
                <a:cs typeface="Arial"/>
              </a:rPr>
              <a:t>framework</a:t>
            </a:r>
            <a:r>
              <a:rPr lang="es-ES" altLang="es-419" sz="1200" dirty="0">
                <a:latin typeface="Arial" panose="020B0604020202020204" pitchFamily="34" charset="0"/>
                <a:cs typeface="Arial"/>
              </a:rPr>
              <a:t> web en Python para construir la API REST (rutas, validación de </a:t>
            </a:r>
            <a:r>
              <a:rPr lang="es-ES" altLang="es-419" sz="1200" dirty="0" err="1">
                <a:latin typeface="Arial" panose="020B0604020202020204" pitchFamily="34" charset="0"/>
                <a:cs typeface="Arial"/>
              </a:rPr>
              <a:t>request</a:t>
            </a:r>
            <a:r>
              <a:rPr lang="es-ES" altLang="es-419" sz="1200" dirty="0">
                <a:latin typeface="Arial" panose="020B0604020202020204" pitchFamily="34" charset="0"/>
                <a:cs typeface="Arial"/>
              </a:rPr>
              <a:t>, etc.).</a:t>
            </a:r>
            <a:endParaRPr lang="es-CO" altLang="es-419" sz="1200" dirty="0">
              <a:latin typeface="Arial" panose="020B0604020202020204" pitchFamily="34" charset="0"/>
              <a:cs typeface="Arial"/>
            </a:endParaRPr>
          </a:p>
        </p:txBody>
      </p:sp>
      <p:pic>
        <p:nvPicPr>
          <p:cNvPr id="5" name="Picture 4" descr="Aprende FastAPI desde 0">
            <a:extLst>
              <a:ext uri="{FF2B5EF4-FFF2-40B4-BE49-F238E27FC236}">
                <a16:creationId xmlns:a16="http://schemas.microsoft.com/office/drawing/2014/main" id="{F4ECFFAF-B61B-C6ED-963C-D3589634901C}"/>
              </a:ext>
            </a:extLst>
          </p:cNvPr>
          <p:cNvPicPr>
            <a:picLocks noChangeAspect="1"/>
          </p:cNvPicPr>
          <p:nvPr/>
        </p:nvPicPr>
        <p:blipFill>
          <a:blip r:embed="rId3"/>
          <a:stretch>
            <a:fillRect/>
          </a:stretch>
        </p:blipFill>
        <p:spPr>
          <a:xfrm>
            <a:off x="-277074" y="1070797"/>
            <a:ext cx="4041818" cy="1479226"/>
          </a:xfrm>
          <a:prstGeom prst="rect">
            <a:avLst/>
          </a:prstGeom>
        </p:spPr>
      </p:pic>
      <p:sp>
        <p:nvSpPr>
          <p:cNvPr id="15" name="Título 1">
            <a:extLst>
              <a:ext uri="{FF2B5EF4-FFF2-40B4-BE49-F238E27FC236}">
                <a16:creationId xmlns:a16="http://schemas.microsoft.com/office/drawing/2014/main" id="{5FC7BB51-EE3A-FD3D-2672-68FB69D9E29E}"/>
              </a:ext>
            </a:extLst>
          </p:cNvPr>
          <p:cNvSpPr txBox="1">
            <a:spLocks/>
          </p:cNvSpPr>
          <p:nvPr/>
        </p:nvSpPr>
        <p:spPr>
          <a:xfrm>
            <a:off x="456236" y="416690"/>
            <a:ext cx="9815809" cy="527874"/>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a:lnSpc>
                <a:spcPct val="90000"/>
              </a:lnSpc>
              <a:spcBef>
                <a:spcPct val="0"/>
              </a:spcBef>
              <a:spcAft>
                <a:spcPts val="0"/>
              </a:spcAft>
              <a:buNone/>
              <a:tabLst/>
              <a:defRPr/>
            </a:pPr>
            <a:r>
              <a:rPr lang="es-CO" sz="3600" b="1" dirty="0">
                <a:solidFill>
                  <a:prstClr val="white"/>
                </a:solidFill>
                <a:latin typeface="Times New Roman"/>
                <a:ea typeface="Calibri Light"/>
                <a:cs typeface="Calibri Light"/>
              </a:rPr>
              <a:t>Herramientas BACKEND</a:t>
            </a:r>
          </a:p>
        </p:txBody>
      </p:sp>
      <p:pic>
        <p:nvPicPr>
          <p:cNvPr id="2" name="Picture 1" descr="SQLAlchemy-logo.png — Quintagroup">
            <a:extLst>
              <a:ext uri="{FF2B5EF4-FFF2-40B4-BE49-F238E27FC236}">
                <a16:creationId xmlns:a16="http://schemas.microsoft.com/office/drawing/2014/main" id="{8085B147-4559-718B-2526-1150B8B6BBA5}"/>
              </a:ext>
            </a:extLst>
          </p:cNvPr>
          <p:cNvPicPr>
            <a:picLocks noChangeAspect="1"/>
          </p:cNvPicPr>
          <p:nvPr/>
        </p:nvPicPr>
        <p:blipFill>
          <a:blip r:embed="rId4"/>
          <a:stretch>
            <a:fillRect/>
          </a:stretch>
        </p:blipFill>
        <p:spPr>
          <a:xfrm>
            <a:off x="308497" y="5008977"/>
            <a:ext cx="3676916" cy="778226"/>
          </a:xfrm>
          <a:prstGeom prst="rect">
            <a:avLst/>
          </a:prstGeom>
        </p:spPr>
      </p:pic>
      <p:sp>
        <p:nvSpPr>
          <p:cNvPr id="3" name="CuadroTexto 7">
            <a:extLst>
              <a:ext uri="{FF2B5EF4-FFF2-40B4-BE49-F238E27FC236}">
                <a16:creationId xmlns:a16="http://schemas.microsoft.com/office/drawing/2014/main" id="{26A7BF56-C83C-52E2-7F66-4D0CB98230D1}"/>
              </a:ext>
            </a:extLst>
          </p:cNvPr>
          <p:cNvSpPr txBox="1">
            <a:spLocks noChangeArrowheads="1"/>
          </p:cNvSpPr>
          <p:nvPr/>
        </p:nvSpPr>
        <p:spPr bwMode="auto">
          <a:xfrm>
            <a:off x="9366514" y="5074923"/>
            <a:ext cx="184235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ES" altLang="es-419" sz="1200" dirty="0">
                <a:latin typeface="Arial"/>
                <a:cs typeface="Arial"/>
              </a:rPr>
              <a:t>servidor ASGI para ejecutar </a:t>
            </a:r>
            <a:r>
              <a:rPr lang="es-ES" altLang="es-419" sz="1200" dirty="0" err="1">
                <a:latin typeface="Arial"/>
                <a:cs typeface="Arial"/>
              </a:rPr>
              <a:t>FastAPI</a:t>
            </a:r>
            <a:r>
              <a:rPr lang="es-ES" altLang="es-419" sz="1200" dirty="0">
                <a:latin typeface="Arial"/>
                <a:cs typeface="Arial"/>
              </a:rPr>
              <a:t> (con --</a:t>
            </a:r>
            <a:r>
              <a:rPr lang="es-ES" altLang="es-419" sz="1200" dirty="0" err="1">
                <a:latin typeface="Arial"/>
                <a:cs typeface="Arial"/>
              </a:rPr>
              <a:t>reload</a:t>
            </a:r>
            <a:r>
              <a:rPr lang="es-ES" altLang="es-419" sz="1200" dirty="0">
                <a:latin typeface="Arial"/>
                <a:cs typeface="Arial"/>
              </a:rPr>
              <a:t> en desarrollo).</a:t>
            </a:r>
            <a:endParaRPr lang="es-CO" altLang="es-419" sz="1200" dirty="0">
              <a:latin typeface="Arial" panose="020B0604020202020204" pitchFamily="34" charset="0"/>
              <a:cs typeface="Arial"/>
            </a:endParaRPr>
          </a:p>
        </p:txBody>
      </p:sp>
      <p:sp>
        <p:nvSpPr>
          <p:cNvPr id="10" name="CuadroTexto 7">
            <a:extLst>
              <a:ext uri="{FF2B5EF4-FFF2-40B4-BE49-F238E27FC236}">
                <a16:creationId xmlns:a16="http://schemas.microsoft.com/office/drawing/2014/main" id="{FF56FD8C-8690-550A-C47A-61211804893E}"/>
              </a:ext>
            </a:extLst>
          </p:cNvPr>
          <p:cNvSpPr txBox="1">
            <a:spLocks noChangeArrowheads="1"/>
          </p:cNvSpPr>
          <p:nvPr/>
        </p:nvSpPr>
        <p:spPr bwMode="auto">
          <a:xfrm>
            <a:off x="983127" y="5787203"/>
            <a:ext cx="2327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ES" altLang="es-419" sz="1200" dirty="0">
                <a:latin typeface="Arial"/>
                <a:cs typeface="Arial"/>
              </a:rPr>
              <a:t>capa de acceso a base de datos </a:t>
            </a:r>
            <a:endParaRPr lang="es-CO" altLang="es-419" sz="1200" dirty="0">
              <a:latin typeface="Arial" panose="020B0604020202020204" pitchFamily="34" charset="0"/>
              <a:cs typeface="Arial"/>
            </a:endParaRPr>
          </a:p>
        </p:txBody>
      </p:sp>
      <p:pic>
        <p:nvPicPr>
          <p:cNvPr id="2050" name="Picture 2" descr="uvicorn">
            <a:extLst>
              <a:ext uri="{FF2B5EF4-FFF2-40B4-BE49-F238E27FC236}">
                <a16:creationId xmlns:a16="http://schemas.microsoft.com/office/drawing/2014/main" id="{FC20B364-15E8-49D5-773A-D2DDC23487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7929" y="4654137"/>
            <a:ext cx="1487905" cy="148790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ydantic | Sequoia Capital">
            <a:extLst>
              <a:ext uri="{FF2B5EF4-FFF2-40B4-BE49-F238E27FC236}">
                <a16:creationId xmlns:a16="http://schemas.microsoft.com/office/drawing/2014/main" id="{62EAAA64-F034-8742-3D86-BAE66444A7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11311" y="1509935"/>
            <a:ext cx="3303173" cy="656695"/>
          </a:xfrm>
          <a:prstGeom prst="rect">
            <a:avLst/>
          </a:prstGeom>
          <a:noFill/>
          <a:extLst>
            <a:ext uri="{909E8E84-426E-40DD-AFC4-6F175D3DCCD1}">
              <a14:hiddenFill xmlns:a14="http://schemas.microsoft.com/office/drawing/2010/main">
                <a:solidFill>
                  <a:srgbClr val="FFFFFF"/>
                </a:solidFill>
              </a14:hiddenFill>
            </a:ext>
          </a:extLst>
        </p:spPr>
      </p:pic>
      <p:sp>
        <p:nvSpPr>
          <p:cNvPr id="11" name="CuadroTexto 7">
            <a:extLst>
              <a:ext uri="{FF2B5EF4-FFF2-40B4-BE49-F238E27FC236}">
                <a16:creationId xmlns:a16="http://schemas.microsoft.com/office/drawing/2014/main" id="{E5CCE6B3-9540-0627-3718-E6A89D73EC6D}"/>
              </a:ext>
            </a:extLst>
          </p:cNvPr>
          <p:cNvSpPr txBox="1">
            <a:spLocks noChangeArrowheads="1"/>
          </p:cNvSpPr>
          <p:nvPr/>
        </p:nvSpPr>
        <p:spPr bwMode="auto">
          <a:xfrm>
            <a:off x="8888827" y="2204402"/>
            <a:ext cx="25812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ES" altLang="es-419" sz="1200" dirty="0">
                <a:latin typeface="Arial"/>
                <a:cs typeface="Arial"/>
              </a:rPr>
              <a:t> modelos/</a:t>
            </a:r>
            <a:r>
              <a:rPr lang="es-ES" altLang="es-419" sz="1200" dirty="0" err="1">
                <a:latin typeface="Arial"/>
                <a:cs typeface="Arial"/>
              </a:rPr>
              <a:t>schemas</a:t>
            </a:r>
            <a:r>
              <a:rPr lang="es-ES" altLang="es-419" sz="1200" dirty="0">
                <a:latin typeface="Arial"/>
                <a:cs typeface="Arial"/>
              </a:rPr>
              <a:t> para validar y </a:t>
            </a:r>
            <a:r>
              <a:rPr lang="es-ES" altLang="es-419" sz="1200" dirty="0" err="1">
                <a:latin typeface="Arial"/>
                <a:cs typeface="Arial"/>
              </a:rPr>
              <a:t>tipar</a:t>
            </a:r>
            <a:r>
              <a:rPr lang="es-ES" altLang="es-419" sz="1200" dirty="0">
                <a:latin typeface="Arial"/>
                <a:cs typeface="Arial"/>
              </a:rPr>
              <a:t> los cuerpos de las peticiones </a:t>
            </a:r>
            <a:endParaRPr lang="es-CO" altLang="es-419" sz="1200" dirty="0">
              <a:latin typeface="Arial" panose="020B0604020202020204" pitchFamily="34" charset="0"/>
              <a:cs typeface="Arial"/>
            </a:endParaRPr>
          </a:p>
        </p:txBody>
      </p:sp>
      <p:pic>
        <p:nvPicPr>
          <p:cNvPr id="13" name="Imagen 12">
            <a:extLst>
              <a:ext uri="{FF2B5EF4-FFF2-40B4-BE49-F238E27FC236}">
                <a16:creationId xmlns:a16="http://schemas.microsoft.com/office/drawing/2014/main" id="{96BF63AE-FEFD-5F9C-FE94-B53D85219C47}"/>
              </a:ext>
            </a:extLst>
          </p:cNvPr>
          <p:cNvPicPr>
            <a:picLocks noChangeAspect="1"/>
          </p:cNvPicPr>
          <p:nvPr/>
        </p:nvPicPr>
        <p:blipFill>
          <a:blip r:embed="rId7"/>
          <a:stretch>
            <a:fillRect/>
          </a:stretch>
        </p:blipFill>
        <p:spPr>
          <a:xfrm>
            <a:off x="4078547" y="3054114"/>
            <a:ext cx="3458877" cy="968486"/>
          </a:xfrm>
          <a:prstGeom prst="rect">
            <a:avLst/>
          </a:prstGeom>
        </p:spPr>
      </p:pic>
      <p:pic>
        <p:nvPicPr>
          <p:cNvPr id="14" name="Imagen 13">
            <a:extLst>
              <a:ext uri="{FF2B5EF4-FFF2-40B4-BE49-F238E27FC236}">
                <a16:creationId xmlns:a16="http://schemas.microsoft.com/office/drawing/2014/main" id="{1694F53C-C06E-8D7A-A283-82AA34684FA1}"/>
              </a:ext>
            </a:extLst>
          </p:cNvPr>
          <p:cNvPicPr>
            <a:picLocks noChangeAspect="1"/>
          </p:cNvPicPr>
          <p:nvPr/>
        </p:nvPicPr>
        <p:blipFill>
          <a:blip r:embed="rId8"/>
          <a:stretch>
            <a:fillRect/>
          </a:stretch>
        </p:blipFill>
        <p:spPr>
          <a:xfrm>
            <a:off x="9113766" y="335595"/>
            <a:ext cx="1938011" cy="713188"/>
          </a:xfrm>
          <a:prstGeom prst="rect">
            <a:avLst/>
          </a:prstGeom>
        </p:spPr>
      </p:pic>
      <p:sp>
        <p:nvSpPr>
          <p:cNvPr id="4" name="CuadroTexto 7">
            <a:extLst>
              <a:ext uri="{FF2B5EF4-FFF2-40B4-BE49-F238E27FC236}">
                <a16:creationId xmlns:a16="http://schemas.microsoft.com/office/drawing/2014/main" id="{92104FF3-DE95-8DE3-A9C6-ABE7882ECD05}"/>
              </a:ext>
            </a:extLst>
          </p:cNvPr>
          <p:cNvSpPr txBox="1">
            <a:spLocks noChangeArrowheads="1"/>
          </p:cNvSpPr>
          <p:nvPr/>
        </p:nvSpPr>
        <p:spPr bwMode="auto">
          <a:xfrm>
            <a:off x="4830424" y="4203171"/>
            <a:ext cx="2327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ES" altLang="es-419" sz="1200" dirty="0">
                <a:latin typeface="Arial"/>
                <a:cs typeface="Arial"/>
              </a:rPr>
              <a:t>Python es un lenguaje de programación utilizado.</a:t>
            </a:r>
            <a:endParaRPr lang="es-CO" altLang="es-419" sz="1200" dirty="0">
              <a:latin typeface="Arial" panose="020B0604020202020204" pitchFamily="34" charset="0"/>
              <a:cs typeface="Arial"/>
            </a:endParaRPr>
          </a:p>
        </p:txBody>
      </p:sp>
    </p:spTree>
    <p:extLst>
      <p:ext uri="{BB962C8B-B14F-4D97-AF65-F5344CB8AC3E}">
        <p14:creationId xmlns:p14="http://schemas.microsoft.com/office/powerpoint/2010/main" val="1382924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6E37EC2-A2C8-D44E-8A0A-E0913ACAB8E7}"/>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CB6DFC8B-EA4C-A5F4-079E-FBEB71B345A6}"/>
              </a:ext>
            </a:extLst>
          </p:cNvPr>
          <p:cNvSpPr txBox="1">
            <a:spLocks/>
          </p:cNvSpPr>
          <p:nvPr/>
        </p:nvSpPr>
        <p:spPr>
          <a:xfrm>
            <a:off x="456236" y="416690"/>
            <a:ext cx="9815809" cy="527874"/>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a:lnSpc>
                <a:spcPct val="90000"/>
              </a:lnSpc>
              <a:spcBef>
                <a:spcPct val="0"/>
              </a:spcBef>
              <a:spcAft>
                <a:spcPts val="0"/>
              </a:spcAft>
              <a:buNone/>
              <a:tabLst/>
              <a:defRPr/>
            </a:pPr>
            <a:r>
              <a:rPr lang="es-CO" sz="3600" b="1" dirty="0">
                <a:solidFill>
                  <a:prstClr val="white"/>
                </a:solidFill>
                <a:latin typeface="Times New Roman"/>
                <a:ea typeface="Calibri Light"/>
                <a:cs typeface="Calibri Light"/>
              </a:rPr>
              <a:t>Herramientas BASE DE DATOS</a:t>
            </a:r>
          </a:p>
        </p:txBody>
      </p:sp>
      <p:pic>
        <p:nvPicPr>
          <p:cNvPr id="4" name="Imagen 5">
            <a:extLst>
              <a:ext uri="{FF2B5EF4-FFF2-40B4-BE49-F238E27FC236}">
                <a16:creationId xmlns:a16="http://schemas.microsoft.com/office/drawing/2014/main" id="{47E0DFFE-26FD-3ED9-2155-9135EE3A0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7072" y="3194365"/>
            <a:ext cx="2134135" cy="220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uadroTexto 6">
            <a:extLst>
              <a:ext uri="{FF2B5EF4-FFF2-40B4-BE49-F238E27FC236}">
                <a16:creationId xmlns:a16="http://schemas.microsoft.com/office/drawing/2014/main" id="{70FFD65B-713C-3A16-3350-5E039B8AD49E}"/>
              </a:ext>
            </a:extLst>
          </p:cNvPr>
          <p:cNvSpPr txBox="1">
            <a:spLocks noChangeArrowheads="1"/>
          </p:cNvSpPr>
          <p:nvPr/>
        </p:nvSpPr>
        <p:spPr bwMode="auto">
          <a:xfrm>
            <a:off x="4571976" y="2444929"/>
            <a:ext cx="1584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FontTx/>
              <a:buNone/>
            </a:pPr>
            <a:r>
              <a:rPr lang="es-CO" altLang="es-419" sz="1800" dirty="0">
                <a:latin typeface="Arial" panose="020B0604020202020204" pitchFamily="34" charset="0"/>
              </a:rPr>
              <a:t>PostgreSQL</a:t>
            </a:r>
            <a:endParaRPr lang="es-MX" altLang="es-419" sz="1800" dirty="0">
              <a:latin typeface="Arial" panose="020B0604020202020204" pitchFamily="34" charset="0"/>
            </a:endParaRPr>
          </a:p>
        </p:txBody>
      </p:sp>
      <p:pic>
        <p:nvPicPr>
          <p:cNvPr id="7" name="Picture 3" descr="GitHub - Wikipedia, la enciclopedia libre">
            <a:extLst>
              <a:ext uri="{FF2B5EF4-FFF2-40B4-BE49-F238E27FC236}">
                <a16:creationId xmlns:a16="http://schemas.microsoft.com/office/drawing/2014/main" id="{0CCC151E-C3AC-C9D9-F08A-EAB9F6900E30}"/>
              </a:ext>
            </a:extLst>
          </p:cNvPr>
          <p:cNvPicPr>
            <a:picLocks noChangeAspect="1"/>
          </p:cNvPicPr>
          <p:nvPr/>
        </p:nvPicPr>
        <p:blipFill>
          <a:blip r:embed="rId4"/>
          <a:stretch>
            <a:fillRect/>
          </a:stretch>
        </p:blipFill>
        <p:spPr>
          <a:xfrm>
            <a:off x="8318500" y="4233863"/>
            <a:ext cx="1883834" cy="1766359"/>
          </a:xfrm>
          <a:prstGeom prst="rect">
            <a:avLst/>
          </a:prstGeom>
        </p:spPr>
      </p:pic>
      <p:pic>
        <p:nvPicPr>
          <p:cNvPr id="8" name="Picture 8" descr="Que es Git y para que sirve? | Victor Robles">
            <a:extLst>
              <a:ext uri="{FF2B5EF4-FFF2-40B4-BE49-F238E27FC236}">
                <a16:creationId xmlns:a16="http://schemas.microsoft.com/office/drawing/2014/main" id="{A99A0245-800C-BA08-FEE3-4167B1B06C57}"/>
              </a:ext>
            </a:extLst>
          </p:cNvPr>
          <p:cNvPicPr>
            <a:picLocks noChangeAspect="1"/>
          </p:cNvPicPr>
          <p:nvPr/>
        </p:nvPicPr>
        <p:blipFill>
          <a:blip r:embed="rId5"/>
          <a:stretch>
            <a:fillRect/>
          </a:stretch>
        </p:blipFill>
        <p:spPr>
          <a:xfrm>
            <a:off x="1464733" y="4110567"/>
            <a:ext cx="1875367" cy="1885950"/>
          </a:xfrm>
          <a:prstGeom prst="rect">
            <a:avLst/>
          </a:prstGeom>
        </p:spPr>
      </p:pic>
      <p:sp>
        <p:nvSpPr>
          <p:cNvPr id="10" name="CuadroTexto 7">
            <a:extLst>
              <a:ext uri="{FF2B5EF4-FFF2-40B4-BE49-F238E27FC236}">
                <a16:creationId xmlns:a16="http://schemas.microsoft.com/office/drawing/2014/main" id="{4E4B056C-2773-E63E-8D02-4FA14F137781}"/>
              </a:ext>
            </a:extLst>
          </p:cNvPr>
          <p:cNvSpPr txBox="1">
            <a:spLocks noChangeArrowheads="1"/>
          </p:cNvSpPr>
          <p:nvPr/>
        </p:nvSpPr>
        <p:spPr bwMode="auto">
          <a:xfrm>
            <a:off x="1247760" y="3525208"/>
            <a:ext cx="232765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CO" altLang="es-419" sz="1800">
                <a:latin typeface="Arial"/>
                <a:cs typeface="Arial"/>
              </a:rPr>
              <a:t>Git</a:t>
            </a:r>
            <a:endParaRPr lang="es-CO" altLang="es-419" sz="1800" err="1">
              <a:latin typeface="Arial" panose="020B0604020202020204" pitchFamily="34" charset="0"/>
              <a:cs typeface="Arial"/>
            </a:endParaRPr>
          </a:p>
        </p:txBody>
      </p:sp>
      <p:sp>
        <p:nvSpPr>
          <p:cNvPr id="11" name="CuadroTexto 7">
            <a:extLst>
              <a:ext uri="{FF2B5EF4-FFF2-40B4-BE49-F238E27FC236}">
                <a16:creationId xmlns:a16="http://schemas.microsoft.com/office/drawing/2014/main" id="{FE560347-1740-6F7B-1C95-DDAC84428062}"/>
              </a:ext>
            </a:extLst>
          </p:cNvPr>
          <p:cNvSpPr txBox="1">
            <a:spLocks noChangeArrowheads="1"/>
          </p:cNvSpPr>
          <p:nvPr/>
        </p:nvSpPr>
        <p:spPr bwMode="auto">
          <a:xfrm>
            <a:off x="8095176" y="3525207"/>
            <a:ext cx="232765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00000"/>
              </a:lnSpc>
              <a:spcBef>
                <a:spcPct val="0"/>
              </a:spcBef>
              <a:buNone/>
            </a:pPr>
            <a:r>
              <a:rPr lang="es-CO" altLang="es-419" sz="1800">
                <a:latin typeface="Arial"/>
                <a:cs typeface="Arial"/>
              </a:rPr>
              <a:t>Github</a:t>
            </a:r>
            <a:endParaRPr lang="es-CO" altLang="es-419" sz="1800" err="1">
              <a:latin typeface="Arial" panose="020B0604020202020204" pitchFamily="34" charset="0"/>
              <a:cs typeface="Arial"/>
            </a:endParaRPr>
          </a:p>
        </p:txBody>
      </p:sp>
      <p:pic>
        <p:nvPicPr>
          <p:cNvPr id="12" name="Imagen 11">
            <a:extLst>
              <a:ext uri="{FF2B5EF4-FFF2-40B4-BE49-F238E27FC236}">
                <a16:creationId xmlns:a16="http://schemas.microsoft.com/office/drawing/2014/main" id="{8C2D9162-417F-EEC2-91E6-7156F980D2B1}"/>
              </a:ext>
            </a:extLst>
          </p:cNvPr>
          <p:cNvPicPr>
            <a:picLocks noChangeAspect="1"/>
          </p:cNvPicPr>
          <p:nvPr/>
        </p:nvPicPr>
        <p:blipFill>
          <a:blip r:embed="rId6"/>
          <a:stretch>
            <a:fillRect/>
          </a:stretch>
        </p:blipFill>
        <p:spPr>
          <a:xfrm>
            <a:off x="9113766" y="335595"/>
            <a:ext cx="1938011" cy="713188"/>
          </a:xfrm>
          <a:prstGeom prst="rect">
            <a:avLst/>
          </a:prstGeom>
        </p:spPr>
      </p:pic>
    </p:spTree>
    <p:extLst>
      <p:ext uri="{BB962C8B-B14F-4D97-AF65-F5344CB8AC3E}">
        <p14:creationId xmlns:p14="http://schemas.microsoft.com/office/powerpoint/2010/main" val="2107702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E31261F-F03F-4591-0BEC-803002FD2967}"/>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7EDFC12B-8862-7002-95EC-8BB33A54AEC7}"/>
              </a:ext>
            </a:extLst>
          </p:cNvPr>
          <p:cNvSpPr txBox="1">
            <a:spLocks/>
          </p:cNvSpPr>
          <p:nvPr/>
        </p:nvSpPr>
        <p:spPr>
          <a:xfrm>
            <a:off x="456236" y="416690"/>
            <a:ext cx="9815809" cy="527874"/>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a:lnSpc>
                <a:spcPct val="90000"/>
              </a:lnSpc>
              <a:spcBef>
                <a:spcPct val="0"/>
              </a:spcBef>
              <a:spcAft>
                <a:spcPts val="0"/>
              </a:spcAft>
              <a:buNone/>
              <a:tabLst/>
              <a:defRPr/>
            </a:pPr>
            <a:r>
              <a:rPr lang="es-ES" sz="3600" b="1" dirty="0" err="1">
                <a:solidFill>
                  <a:prstClr val="white"/>
                </a:solidFill>
                <a:latin typeface="Times New Roman"/>
                <a:ea typeface="Calibri Light"/>
                <a:cs typeface="Calibri Light"/>
              </a:rPr>
              <a:t>Librerias</a:t>
            </a:r>
            <a:r>
              <a:rPr lang="es-ES" sz="3600" b="1" dirty="0">
                <a:solidFill>
                  <a:prstClr val="white"/>
                </a:solidFill>
                <a:latin typeface="Times New Roman"/>
                <a:ea typeface="Calibri Light"/>
                <a:cs typeface="Calibri Light"/>
              </a:rPr>
              <a:t> y </a:t>
            </a:r>
            <a:r>
              <a:rPr lang="es-ES" sz="3600" b="1" dirty="0" err="1">
                <a:solidFill>
                  <a:prstClr val="white"/>
                </a:solidFill>
                <a:latin typeface="Times New Roman"/>
                <a:ea typeface="Calibri Light"/>
                <a:cs typeface="Calibri Light"/>
              </a:rPr>
              <a:t>APIs</a:t>
            </a:r>
            <a:endParaRPr lang="es-CO" sz="3600" b="1" dirty="0">
              <a:solidFill>
                <a:prstClr val="white"/>
              </a:solidFill>
              <a:latin typeface="Times New Roman"/>
              <a:ea typeface="Calibri Light"/>
              <a:cs typeface="Calibri Light"/>
            </a:endParaRPr>
          </a:p>
        </p:txBody>
      </p:sp>
      <p:sp>
        <p:nvSpPr>
          <p:cNvPr id="9" name="CuadroTexto 6">
            <a:extLst>
              <a:ext uri="{FF2B5EF4-FFF2-40B4-BE49-F238E27FC236}">
                <a16:creationId xmlns:a16="http://schemas.microsoft.com/office/drawing/2014/main" id="{EA4B36F8-E1DE-6C3B-E4F5-B2B1F8FB84BE}"/>
              </a:ext>
            </a:extLst>
          </p:cNvPr>
          <p:cNvSpPr txBox="1">
            <a:spLocks noChangeArrowheads="1"/>
          </p:cNvSpPr>
          <p:nvPr/>
        </p:nvSpPr>
        <p:spPr bwMode="auto">
          <a:xfrm>
            <a:off x="568349" y="1433660"/>
            <a:ext cx="9199442" cy="5057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285750" indent="-285750">
              <a:lnSpc>
                <a:spcPct val="100000"/>
              </a:lnSpc>
              <a:spcBef>
                <a:spcPct val="0"/>
              </a:spcBef>
            </a:pPr>
            <a:r>
              <a:rPr lang="es-CO" altLang="es-419" sz="2000" dirty="0">
                <a:latin typeface="Arial" panose="020B0604020202020204" pitchFamily="34" charset="0"/>
              </a:rPr>
              <a:t>Autenticación JWT con </a:t>
            </a:r>
            <a:r>
              <a:rPr lang="es-CO" altLang="es-419" sz="2000" dirty="0" err="1">
                <a:latin typeface="Arial" panose="020B0604020202020204" pitchFamily="34" charset="0"/>
              </a:rPr>
              <a:t>python-jose</a:t>
            </a:r>
            <a:r>
              <a:rPr lang="es-CO" altLang="es-419" sz="2000" dirty="0">
                <a:latin typeface="Arial" panose="020B0604020202020204" pitchFamily="34" charset="0"/>
              </a:rPr>
              <a:t> (</a:t>
            </a:r>
            <a:r>
              <a:rPr lang="es-CO" altLang="es-419" sz="2000" dirty="0" err="1">
                <a:latin typeface="Arial" panose="020B0604020202020204" pitchFamily="34" charset="0"/>
              </a:rPr>
              <a:t>jose.jwt</a:t>
            </a:r>
            <a:r>
              <a:rPr lang="es-CO" altLang="es-419" sz="2000" dirty="0">
                <a:latin typeface="Arial" panose="020B0604020202020204" pitchFamily="34" charset="0"/>
              </a:rPr>
              <a:t>): genera y valida tokens de acceso/</a:t>
            </a:r>
            <a:r>
              <a:rPr lang="es-CO" altLang="es-419" sz="2000" dirty="0" err="1">
                <a:latin typeface="Arial" panose="020B0604020202020204" pitchFamily="34" charset="0"/>
              </a:rPr>
              <a:t>refresh</a:t>
            </a:r>
            <a:r>
              <a:rPr lang="es-CO" altLang="es-419" sz="2000" dirty="0">
                <a:latin typeface="Arial" panose="020B0604020202020204" pitchFamily="34" charset="0"/>
              </a:rPr>
              <a:t>.</a:t>
            </a:r>
          </a:p>
          <a:p>
            <a:pPr marL="285750" indent="-285750"/>
            <a:r>
              <a:rPr lang="es-CO" altLang="es-419" sz="2000" dirty="0">
                <a:latin typeface="Arial" panose="020B0604020202020204" pitchFamily="34" charset="0"/>
              </a:rPr>
              <a:t> Encriptación de contraseñas con </a:t>
            </a:r>
            <a:r>
              <a:rPr lang="es-CO" altLang="es-419" sz="2000" dirty="0" err="1">
                <a:latin typeface="Arial" panose="020B0604020202020204" pitchFamily="34" charset="0"/>
              </a:rPr>
              <a:t>bcrypt</a:t>
            </a:r>
            <a:r>
              <a:rPr lang="es-CO" altLang="es-419" sz="2000" dirty="0">
                <a:latin typeface="Arial" panose="020B0604020202020204" pitchFamily="34" charset="0"/>
              </a:rPr>
              <a:t>: verifica y (si hace falta) migra contraseñas </a:t>
            </a:r>
            <a:r>
              <a:rPr lang="es-CO" altLang="es-419" sz="2000" dirty="0" err="1">
                <a:latin typeface="Arial" panose="020B0604020202020204" pitchFamily="34" charset="0"/>
              </a:rPr>
              <a:t>legacy</a:t>
            </a:r>
            <a:r>
              <a:rPr lang="es-CO" altLang="es-419" sz="2000" dirty="0">
                <a:latin typeface="Arial" panose="020B0604020202020204" pitchFamily="34" charset="0"/>
              </a:rPr>
              <a:t> a hash </a:t>
            </a:r>
            <a:r>
              <a:rPr lang="es-CO" altLang="es-419" sz="2000" dirty="0" err="1">
                <a:latin typeface="Arial" panose="020B0604020202020204" pitchFamily="34" charset="0"/>
              </a:rPr>
              <a:t>bcrypt</a:t>
            </a:r>
            <a:r>
              <a:rPr lang="es-CO" altLang="es-419" sz="2000" dirty="0">
                <a:latin typeface="Arial" panose="020B0604020202020204" pitchFamily="34" charset="0"/>
              </a:rPr>
              <a:t>.</a:t>
            </a:r>
            <a:r>
              <a:rPr lang="es-CO" sz="2000" dirty="0"/>
              <a:t> </a:t>
            </a:r>
          </a:p>
          <a:p>
            <a:pPr marL="285750" indent="-285750"/>
            <a:r>
              <a:rPr lang="es-CO" sz="2000" dirty="0" err="1"/>
              <a:t>smtplib</a:t>
            </a:r>
            <a:r>
              <a:rPr lang="es-CO" sz="2000" dirty="0"/>
              <a:t> + email (SMTP): envío de correos.  </a:t>
            </a:r>
          </a:p>
          <a:p>
            <a:pPr marL="285750" indent="-285750"/>
            <a:r>
              <a:rPr lang="es-CO" sz="2000" dirty="0" err="1"/>
              <a:t>imaplib</a:t>
            </a:r>
            <a:r>
              <a:rPr lang="es-CO" sz="2000" dirty="0"/>
              <a:t> + email: lectura de bandeja por IMAP (INBOX) para recoger emails (</a:t>
            </a:r>
            <a:r>
              <a:rPr lang="es-CO" sz="2000" dirty="0" err="1"/>
              <a:t>dashboard</a:t>
            </a:r>
            <a:r>
              <a:rPr lang="es-CO" sz="2000" dirty="0"/>
              <a:t>).</a:t>
            </a:r>
          </a:p>
          <a:p>
            <a:pPr marL="285750" indent="-285750"/>
            <a:r>
              <a:rPr lang="es-CO" sz="2000" dirty="0"/>
              <a:t>Lucide :iconos</a:t>
            </a:r>
          </a:p>
          <a:p>
            <a:pPr marL="285750" indent="-285750"/>
            <a:r>
              <a:rPr lang="es-CO" sz="2000" dirty="0" err="1"/>
              <a:t>OpenStreetMap</a:t>
            </a:r>
            <a:endParaRPr lang="es-CO" sz="2000" dirty="0"/>
          </a:p>
          <a:p>
            <a:pPr marL="285750" indent="-285750"/>
            <a:r>
              <a:rPr lang="es-CO" sz="2000" dirty="0" err="1"/>
              <a:t>Cloudinary</a:t>
            </a:r>
            <a:r>
              <a:rPr lang="es-CO" sz="2000" dirty="0"/>
              <a:t>: subida de imágenes (usa CLOUDINARY_URL y el paquete </a:t>
            </a:r>
            <a:r>
              <a:rPr lang="es-CO" sz="2000" dirty="0" err="1"/>
              <a:t>cloudinary</a:t>
            </a:r>
            <a:r>
              <a:rPr lang="es-CO" sz="2000" dirty="0"/>
              <a:t>).</a:t>
            </a:r>
          </a:p>
          <a:p>
            <a:pPr marL="285750" indent="-285750"/>
            <a:r>
              <a:rPr lang="es-CO" sz="2000" dirty="0"/>
              <a:t>Pagos con </a:t>
            </a:r>
            <a:r>
              <a:rPr lang="es-CO" sz="2000" dirty="0" err="1"/>
              <a:t>Wompi</a:t>
            </a:r>
            <a:r>
              <a:rPr lang="es-CO" sz="2000" dirty="0"/>
              <a:t>:  - </a:t>
            </a:r>
            <a:r>
              <a:rPr lang="es-CO" sz="2000" dirty="0" err="1"/>
              <a:t>requests</a:t>
            </a:r>
            <a:r>
              <a:rPr lang="es-CO" sz="2000" dirty="0"/>
              <a:t> (+ reintentos): llamadas a la API de </a:t>
            </a:r>
            <a:r>
              <a:rPr lang="es-CO" sz="2000" dirty="0" err="1"/>
              <a:t>Wompi</a:t>
            </a:r>
            <a:r>
              <a:rPr lang="es-CO" sz="2000" dirty="0"/>
              <a:t>.  - </a:t>
            </a:r>
            <a:r>
              <a:rPr lang="es-CO" sz="2000" dirty="0" err="1"/>
              <a:t>Webhook</a:t>
            </a:r>
            <a:r>
              <a:rPr lang="es-CO" sz="2000" dirty="0"/>
              <a:t> con validación de firma (integridad) y confirmación de reserva</a:t>
            </a:r>
          </a:p>
          <a:p>
            <a:pPr marL="285750" indent="-285750"/>
            <a:r>
              <a:rPr lang="es-ES" sz="2000" dirty="0" err="1"/>
              <a:t>Shadcn</a:t>
            </a:r>
            <a:r>
              <a:rPr lang="es-ES" sz="2000" dirty="0"/>
              <a:t>/</a:t>
            </a:r>
            <a:r>
              <a:rPr lang="es-ES" sz="2000" dirty="0" err="1"/>
              <a:t>ui</a:t>
            </a:r>
            <a:r>
              <a:rPr lang="es-ES" sz="2000" dirty="0"/>
              <a:t>: colección de componentes de interfaz de usuario (UI) reutilizables, modernos y accesibles para </a:t>
            </a:r>
            <a:r>
              <a:rPr lang="es-ES" sz="2000" dirty="0" err="1"/>
              <a:t>React</a:t>
            </a:r>
            <a:r>
              <a:rPr lang="es-ES" sz="2000" dirty="0"/>
              <a:t>.</a:t>
            </a:r>
            <a:endParaRPr lang="es-CO" sz="2000" dirty="0"/>
          </a:p>
        </p:txBody>
      </p:sp>
      <p:pic>
        <p:nvPicPr>
          <p:cNvPr id="3" name="Imagen 2">
            <a:extLst>
              <a:ext uri="{FF2B5EF4-FFF2-40B4-BE49-F238E27FC236}">
                <a16:creationId xmlns:a16="http://schemas.microsoft.com/office/drawing/2014/main" id="{4D94082A-2BFC-2303-593E-A90A63DE1C92}"/>
              </a:ext>
            </a:extLst>
          </p:cNvPr>
          <p:cNvPicPr>
            <a:picLocks noChangeAspect="1"/>
          </p:cNvPicPr>
          <p:nvPr/>
        </p:nvPicPr>
        <p:blipFill>
          <a:blip r:embed="rId3"/>
          <a:stretch>
            <a:fillRect/>
          </a:stretch>
        </p:blipFill>
        <p:spPr>
          <a:xfrm>
            <a:off x="9113766" y="335595"/>
            <a:ext cx="1938011" cy="713188"/>
          </a:xfrm>
          <a:prstGeom prst="rect">
            <a:avLst/>
          </a:prstGeom>
        </p:spPr>
      </p:pic>
    </p:spTree>
    <p:extLst>
      <p:ext uri="{BB962C8B-B14F-4D97-AF65-F5344CB8AC3E}">
        <p14:creationId xmlns:p14="http://schemas.microsoft.com/office/powerpoint/2010/main" val="803173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416690"/>
            <a:ext cx="9815809" cy="527874"/>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CO" sz="3600" b="1" u="none" strike="noStrike" kern="1200" cap="none" spc="0" normalizeH="0" baseline="0" noProof="0" dirty="0">
                <a:ln>
                  <a:noFill/>
                </a:ln>
                <a:effectLst/>
                <a:uLnTx/>
                <a:uFillTx/>
                <a:latin typeface="WORK SANS BOLD ROMAN"/>
              </a:rPr>
              <a:t>Avances</a:t>
            </a:r>
          </a:p>
        </p:txBody>
      </p:sp>
      <p:sp>
        <p:nvSpPr>
          <p:cNvPr id="2" name="TextBox 1">
            <a:extLst>
              <a:ext uri="{FF2B5EF4-FFF2-40B4-BE49-F238E27FC236}">
                <a16:creationId xmlns:a16="http://schemas.microsoft.com/office/drawing/2014/main" id="{EC6EDBC5-9719-5298-F46B-FFD61D7493B8}"/>
              </a:ext>
            </a:extLst>
          </p:cNvPr>
          <p:cNvSpPr txBox="1"/>
          <p:nvPr/>
        </p:nvSpPr>
        <p:spPr>
          <a:xfrm>
            <a:off x="6853708" y="2782669"/>
            <a:ext cx="202032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ea typeface="Calibri"/>
                <a:cs typeface="Calibri"/>
                <a:hlinkClick r:id="rId2"/>
              </a:rPr>
              <a:t>Click aqui</a:t>
            </a:r>
          </a:p>
        </p:txBody>
      </p:sp>
      <p:pic>
        <p:nvPicPr>
          <p:cNvPr id="3074" name="Picture 2" descr="GitHub Logo and symbol, meaning, history, PNG, brand">
            <a:extLst>
              <a:ext uri="{FF2B5EF4-FFF2-40B4-BE49-F238E27FC236}">
                <a16:creationId xmlns:a16="http://schemas.microsoft.com/office/drawing/2014/main" id="{50AFD77A-0689-42F1-6076-607F215204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532" y="1454332"/>
            <a:ext cx="6277913" cy="3531326"/>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E9202541-CAD5-BD95-949F-3759C9972B40}"/>
              </a:ext>
            </a:extLst>
          </p:cNvPr>
          <p:cNvPicPr>
            <a:picLocks noChangeAspect="1"/>
          </p:cNvPicPr>
          <p:nvPr/>
        </p:nvPicPr>
        <p:blipFill>
          <a:blip r:embed="rId4"/>
          <a:stretch>
            <a:fillRect/>
          </a:stretch>
        </p:blipFill>
        <p:spPr>
          <a:xfrm>
            <a:off x="9641305" y="5678118"/>
            <a:ext cx="1938011" cy="713188"/>
          </a:xfrm>
          <a:prstGeom prst="rect">
            <a:avLst/>
          </a:prstGeom>
        </p:spPr>
      </p:pic>
    </p:spTree>
    <p:extLst>
      <p:ext uri="{BB962C8B-B14F-4D97-AF65-F5344CB8AC3E}">
        <p14:creationId xmlns:p14="http://schemas.microsoft.com/office/powerpoint/2010/main" val="3230526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26E8965-C505-F42A-8164-B2118710E923}"/>
              </a:ext>
            </a:extLst>
          </p:cNvPr>
          <p:cNvPicPr>
            <a:picLocks noChangeAspect="1"/>
          </p:cNvPicPr>
          <p:nvPr/>
        </p:nvPicPr>
        <p:blipFill>
          <a:blip r:embed="rId3"/>
          <a:stretch>
            <a:fillRect/>
          </a:stretch>
        </p:blipFill>
        <p:spPr>
          <a:xfrm>
            <a:off x="5126994" y="2460133"/>
            <a:ext cx="1938011" cy="713188"/>
          </a:xfrm>
          <a:prstGeom prst="rect">
            <a:avLst/>
          </a:prstGeom>
        </p:spPr>
      </p:pic>
    </p:spTree>
    <p:extLst>
      <p:ext uri="{BB962C8B-B14F-4D97-AF65-F5344CB8AC3E}">
        <p14:creationId xmlns:p14="http://schemas.microsoft.com/office/powerpoint/2010/main" val="26046266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TotalTime>
  <Words>748</Words>
  <Application>Microsoft Office PowerPoint</Application>
  <PresentationFormat>Panorámica</PresentationFormat>
  <Paragraphs>93</Paragraphs>
  <Slides>24</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24</vt:i4>
      </vt:variant>
    </vt:vector>
  </HeadingPairs>
  <TitlesOfParts>
    <vt:vector size="35" baseType="lpstr">
      <vt:lpstr>Arial</vt:lpstr>
      <vt:lpstr>Calibri</vt:lpstr>
      <vt:lpstr>Calibri Light</vt:lpstr>
      <vt:lpstr>Source Sans Pro</vt:lpstr>
      <vt:lpstr>time</vt:lpstr>
      <vt:lpstr>Times New Roman</vt:lpstr>
      <vt:lpstr>Work Sans Bold Roman</vt:lpstr>
      <vt:lpstr>Work Sans Bold Roman</vt:lpstr>
      <vt:lpstr>Work Sans Light Roman</vt:lpstr>
      <vt:lpstr>Work Sans Medium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natalia barajas</cp:lastModifiedBy>
  <cp:revision>18</cp:revision>
  <dcterms:created xsi:type="dcterms:W3CDTF">2020-10-01T23:51:28Z</dcterms:created>
  <dcterms:modified xsi:type="dcterms:W3CDTF">2026-04-22T18:46:43Z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