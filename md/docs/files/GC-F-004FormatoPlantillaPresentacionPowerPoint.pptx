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2"/>
  </p:notesMasterIdLst>
  <p:handoutMasterIdLst>
    <p:handoutMasterId r:id="rId13"/>
  </p:handoutMasterIdLst>
  <p:sldIdLst>
    <p:sldId id="545" r:id="rId2"/>
    <p:sldId id="535" r:id="rId3"/>
    <p:sldId id="548" r:id="rId4"/>
    <p:sldId id="549" r:id="rId5"/>
    <p:sldId id="550" r:id="rId6"/>
    <p:sldId id="551" r:id="rId7"/>
    <p:sldId id="531" r:id="rId8"/>
    <p:sldId id="552" r:id="rId9"/>
    <p:sldId id="553" r:id="rId10"/>
    <p:sldId id="55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79A9"/>
    <a:srgbClr val="FFF7FE"/>
    <a:srgbClr val="FFF1FD"/>
    <a:srgbClr val="FCF8F4"/>
    <a:srgbClr val="FFFEFB"/>
    <a:srgbClr val="FDFAEB"/>
    <a:srgbClr val="F599BA"/>
    <a:srgbClr val="E19FC2"/>
    <a:srgbClr val="AF1149"/>
    <a:srgbClr val="38A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242"/>
  </p:normalViewPr>
  <p:slideViewPr>
    <p:cSldViewPr snapToGrid="0">
      <p:cViewPr varScale="1">
        <p:scale>
          <a:sx n="113" d="100"/>
          <a:sy n="113" d="100"/>
        </p:scale>
        <p:origin x="1068" y="138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9.wdp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rcampus.com/school/delhi-north/confessions-of-a-shopaholic-psychology-of-consumerism-and-debt/?utm_source=chatgpt.com" TargetMode="External"/><Relationship Id="rId3" Type="http://schemas.microsoft.com/office/2007/relationships/hdphoto" Target="../media/hdphoto3.wdp"/><Relationship Id="rId7" Type="http://schemas.openxmlformats.org/officeDocument/2006/relationships/hyperlink" Target="http://repository.ub.ac.id/id/eprint/102426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pository.unika.ac.id/16616/?utm_source=chatgpt.com" TargetMode="External"/><Relationship Id="rId5" Type="http://schemas.openxmlformats.org/officeDocument/2006/relationships/hyperlink" Target="https://es.wikipedia.org/wiki/Adicci%C3%B3n_a_la_compra?utm_source=chatgpt.com" TargetMode="External"/><Relationship Id="rId4" Type="http://schemas.openxmlformats.org/officeDocument/2006/relationships/hyperlink" Target="https://es.wikipedia.org/wiki/Compra_por_impulso?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CD966-F813-E10E-96CE-F7706541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5B70128-05EE-52BE-9070-C9F6385B5F09}"/>
              </a:ext>
            </a:extLst>
          </p:cNvPr>
          <p:cNvSpPr txBox="1"/>
          <p:nvPr/>
        </p:nvSpPr>
        <p:spPr>
          <a:xfrm>
            <a:off x="4189471" y="2197909"/>
            <a:ext cx="7931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CO" sz="4800" dirty="0">
                <a:solidFill>
                  <a:srgbClr val="D579A9"/>
                </a:solidFill>
                <a:latin typeface="Impact" panose="020B0806030902050204" pitchFamily="34" charset="0"/>
              </a:rPr>
              <a:t>REFLEXIÓN SOBRE EL MERCADO</a:t>
            </a:r>
            <a:endParaRPr kumimoji="0" lang="es-ES" sz="4800" i="0" u="none" strike="noStrike" kern="1200" cap="none" spc="0" normalizeH="0" baseline="0" noProof="0" dirty="0">
              <a:ln>
                <a:noFill/>
              </a:ln>
              <a:solidFill>
                <a:srgbClr val="D579A9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682174-DD10-3D1D-BFD5-478085004C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4976" t="22927" r="24976" b="22927"/>
          <a:stretch/>
        </p:blipFill>
        <p:spPr>
          <a:xfrm>
            <a:off x="11052139" y="156173"/>
            <a:ext cx="923111" cy="90876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7CD1FAD-B064-0BC2-8F7B-A225FD143632}"/>
              </a:ext>
            </a:extLst>
          </p:cNvPr>
          <p:cNvSpPr txBox="1"/>
          <p:nvPr/>
        </p:nvSpPr>
        <p:spPr>
          <a:xfrm>
            <a:off x="4043682" y="2749789"/>
            <a:ext cx="7931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es-ES" sz="48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mmercialScript BT" panose="03030803040807090C04" pitchFamily="66" charset="0"/>
              </a:rPr>
              <a:t>En loca por las compras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F9A6C2-EEA1-EB78-599B-02A0A62419D5}"/>
              </a:ext>
            </a:extLst>
          </p:cNvPr>
          <p:cNvSpPr txBox="1"/>
          <p:nvPr/>
        </p:nvSpPr>
        <p:spPr>
          <a:xfrm>
            <a:off x="4384040" y="4713762"/>
            <a:ext cx="7250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kumimoji="0" lang="es-ES" sz="12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Rounded MT Bold" panose="020F0704030504030204" pitchFamily="34" charset="0"/>
              </a:rPr>
              <a:t>Maira Alejandra Naranjo Henao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B5E5F0E-28D6-8856-B06C-302E7CFD8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9" b="93885" l="8832" r="89946">
                        <a14:foregroundMark x1="48913" y1="22038" x2="48913" y2="22038"/>
                        <a14:foregroundMark x1="58560" y1="24331" x2="41576" y2="20127"/>
                        <a14:foregroundMark x1="29484" y1="68153" x2="77717" y2="63312"/>
                        <a14:foregroundMark x1="22011" y1="72994" x2="40897" y2="90955"/>
                        <a14:foregroundMark x1="40897" y1="90955" x2="59783" y2="90064"/>
                        <a14:foregroundMark x1="59783" y1="90064" x2="83832" y2="77452"/>
                        <a14:foregroundMark x1="84375" y1="71210" x2="85326" y2="53758"/>
                        <a14:foregroundMark x1="85326" y1="53758" x2="85326" y2="53758"/>
                        <a14:foregroundMark x1="58832" y1="20510" x2="61685" y2="29809"/>
                        <a14:foregroundMark x1="10870" y1="86115" x2="44158" y2="87898"/>
                        <a14:foregroundMark x1="47283" y1="89427" x2="8967" y2="86752"/>
                        <a14:foregroundMark x1="25272" y1="88280" x2="53397" y2="93885"/>
                        <a14:foregroundMark x1="63315" y1="74777" x2="66168" y2="71720"/>
                        <a14:foregroundMark x1="64538" y1="72102" x2="63995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6288" y="3659969"/>
            <a:ext cx="2887274" cy="307949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E6379D4-AEEB-6F41-369D-5900F21EB9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021" r="13425"/>
          <a:stretch>
            <a:fillRect/>
          </a:stretch>
        </p:blipFill>
        <p:spPr>
          <a:xfrm>
            <a:off x="-64584" y="0"/>
            <a:ext cx="4035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7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1362855" y="787568"/>
            <a:ext cx="9466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ES" sz="4800" dirty="0">
                <a:solidFill>
                  <a:srgbClr val="38AA00"/>
                </a:solidFill>
                <a:latin typeface="Impact" panose="020B0806030902050204" pitchFamily="34" charset="0"/>
              </a:rPr>
              <a:t>El costo y el valor</a:t>
            </a:r>
            <a:endParaRPr lang="es-CO" sz="4800" dirty="0">
              <a:solidFill>
                <a:srgbClr val="38AA00"/>
              </a:solidFill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3B89F7-7D05-ACB1-87EA-42117A39FDF1}"/>
              </a:ext>
            </a:extLst>
          </p:cNvPr>
          <p:cNvSpPr txBox="1"/>
          <p:nvPr/>
        </p:nvSpPr>
        <p:spPr>
          <a:xfrm>
            <a:off x="2130215" y="1305299"/>
            <a:ext cx="7931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CO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son cosas muy diferentes</a:t>
            </a:r>
            <a:endParaRPr lang="es-ES" sz="4800" dirty="0">
              <a:solidFill>
                <a:prstClr val="black">
                  <a:lumMod val="75000"/>
                  <a:lumOff val="25000"/>
                </a:prstClr>
              </a:solidFill>
              <a:latin typeface="CommercialScript BT" panose="03030803040807090C04" pitchFamily="66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28EB85-603D-1473-DE38-4E30B6CAFB65}"/>
              </a:ext>
            </a:extLst>
          </p:cNvPr>
          <p:cNvSpPr txBox="1"/>
          <p:nvPr/>
        </p:nvSpPr>
        <p:spPr>
          <a:xfrm>
            <a:off x="3413336" y="2967247"/>
            <a:ext cx="5365326" cy="231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150000"/>
              </a:lnSpc>
              <a:defRPr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La frase significa que lo que pagas por algo (el costo) no siempre define lo que realmente vale para ti (el valor). Un producto puede ser barato, pero no útil, o caro pero muy valioso para cierta necesidad o deseo. Muchas veces las compras se basan en emociones, moda o presión social, no en la utilidad real del producto, y eso puede llevar a gastar más de lo necesario como pasa con Rebecca en la película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B4CFF725-24CA-99BF-714F-C77C37496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7167" y1="49667" x2="57167" y2="49667"/>
                        <a14:foregroundMark x1="47500" y1="73833" x2="47500" y2="73833"/>
                        <a14:foregroundMark x1="48000" y1="78750" x2="47667" y2="78750"/>
                        <a14:foregroundMark x1="41250" y1="76667" x2="58250" y2="71750"/>
                        <a14:foregroundMark x1="66083" y1="76667" x2="66750" y2="82833"/>
                        <a14:foregroundMark x1="76083" y1="82750" x2="76083" y2="82750"/>
                        <a14:foregroundMark x1="25583" y1="83000" x2="25583" y2="83000"/>
                        <a14:foregroundMark x1="25667" y1="83000" x2="28750" y2="80500"/>
                        <a14:foregroundMark x1="74583" y1="82000" x2="76583" y2="82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1297" y="1203066"/>
            <a:ext cx="3141133" cy="314113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5121BD7-DBA7-C1F0-9643-F1D3778D9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67999">
            <a:off x="8419096" y="254846"/>
            <a:ext cx="2189321" cy="21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A9B1-601E-35CF-69E5-3F3C9076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AC7BDD-8853-37BC-D94E-35467B57EA30}"/>
              </a:ext>
            </a:extLst>
          </p:cNvPr>
          <p:cNvSpPr txBox="1"/>
          <p:nvPr/>
        </p:nvSpPr>
        <p:spPr>
          <a:xfrm>
            <a:off x="135189" y="866506"/>
            <a:ext cx="9466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CO" sz="4800" dirty="0">
                <a:latin typeface="Impact" panose="020B0806030902050204" pitchFamily="34" charset="0"/>
              </a:rPr>
              <a:t>comprador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036831-CF0D-1DDC-33B1-077BAAAFCEDF}"/>
              </a:ext>
            </a:extLst>
          </p:cNvPr>
          <p:cNvSpPr txBox="1"/>
          <p:nvPr/>
        </p:nvSpPr>
        <p:spPr>
          <a:xfrm>
            <a:off x="3476414" y="884684"/>
            <a:ext cx="7931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E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impulsivo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7372E7-D0FD-4952-FBED-426E7A950F5B}"/>
              </a:ext>
            </a:extLst>
          </p:cNvPr>
          <p:cNvSpPr txBox="1"/>
          <p:nvPr/>
        </p:nvSpPr>
        <p:spPr>
          <a:xfrm>
            <a:off x="3476414" y="2711079"/>
            <a:ext cx="5365326" cy="14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150000"/>
              </a:lnSpc>
              <a:defRPr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Un comprador compulsivo es una persona que siente una necesidad </a:t>
            </a:r>
            <a:r>
              <a:rPr lang="es-E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incontrolable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de comprar cosas, incluso cuando no las necesita o no puede pagarlas.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54928FA-8BDB-123B-7EB4-2D394D627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67999">
            <a:off x="1808518" y="112851"/>
            <a:ext cx="2189321" cy="210090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1D8C39E-A438-6B30-302D-D8FAD0AB2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663" b="99240" l="6300" r="90000">
                        <a14:foregroundMark x1="8400" y1="62842" x2="8400" y2="66033"/>
                        <a14:foregroundMark x1="7600" y1="84195" x2="7600" y2="84195"/>
                        <a14:foregroundMark x1="48400" y1="91261" x2="71000" y2="89286"/>
                        <a14:foregroundMark x1="29000" y1="94681" x2="54600" y2="96733"/>
                        <a14:foregroundMark x1="54600" y1="96733" x2="59600" y2="96049"/>
                        <a14:foregroundMark x1="65900" y1="54103" x2="65100" y2="84195"/>
                        <a14:foregroundMark x1="65100" y1="84195" x2="65100" y2="84195"/>
                        <a14:foregroundMark x1="59100" y1="97644" x2="50100" y2="99392"/>
                        <a14:foregroundMark x1="50100" y1="99392" x2="36500" y2="98556"/>
                        <a14:foregroundMark x1="52900" y1="8663" x2="52900" y2="8663"/>
                        <a14:foregroundMark x1="6500" y1="62690" x2="6300" y2="681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8933" y="3168772"/>
            <a:ext cx="2802467" cy="368804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A548301-D9BD-1787-78CE-0FEA92D234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1563" l="1667" r="94556">
                        <a14:foregroundMark x1="9000" y1="56063" x2="11556" y2="72688"/>
                        <a14:foregroundMark x1="11111" y1="80250" x2="18889" y2="87313"/>
                        <a14:foregroundMark x1="18889" y1="87313" x2="30778" y2="91688"/>
                        <a14:foregroundMark x1="30778" y1="91688" x2="56222" y2="91563"/>
                        <a14:foregroundMark x1="56222" y1="91563" x2="73889" y2="87875"/>
                        <a14:foregroundMark x1="92778" y1="40875" x2="92778" y2="40875"/>
                        <a14:foregroundMark x1="89778" y1="52938" x2="86222" y2="79375"/>
                        <a14:foregroundMark x1="86222" y1="79375" x2="78889" y2="87438"/>
                        <a14:foregroundMark x1="78889" y1="87438" x2="72000" y2="89000"/>
                        <a14:foregroundMark x1="77889" y1="87063" x2="88667" y2="80375"/>
                        <a14:foregroundMark x1="90111" y1="51375" x2="90111" y2="51375"/>
                        <a14:foregroundMark x1="94556" y1="42938" x2="94556" y2="42938"/>
                        <a14:foregroundMark x1="9222" y1="53312" x2="9222" y2="53312"/>
                        <a14:foregroundMark x1="6556" y1="52500" x2="6556" y2="52500"/>
                        <a14:foregroundMark x1="26556" y1="71375" x2="30000" y2="59750"/>
                        <a14:foregroundMark x1="5889" y1="43688" x2="1667" y2="37063"/>
                        <a14:foregroundMark x1="83556" y1="86938" x2="86222" y2="860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1675" y="2784562"/>
            <a:ext cx="2075191" cy="368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3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B07E-7879-E4B2-7D1B-0A094838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B1206E-D162-EABA-7983-649274929E1B}"/>
              </a:ext>
            </a:extLst>
          </p:cNvPr>
          <p:cNvSpPr txBox="1"/>
          <p:nvPr/>
        </p:nvSpPr>
        <p:spPr>
          <a:xfrm>
            <a:off x="490789" y="482475"/>
            <a:ext cx="9466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ES" sz="4800" dirty="0">
                <a:latin typeface="Impact" panose="020B0806030902050204" pitchFamily="34" charset="0"/>
              </a:rPr>
              <a:t>C</a:t>
            </a:r>
            <a:r>
              <a:rPr lang="es-CO" sz="4800" dirty="0">
                <a:latin typeface="Impact" panose="020B0806030902050204" pitchFamily="34" charset="0"/>
              </a:rPr>
              <a:t>ONSUMIDORES COMPRAN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4FD6C8-3D20-EE5E-2F3C-6B7728AA0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24189">
            <a:off x="9009356" y="-649396"/>
            <a:ext cx="3224980" cy="309474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ADB9B5A-36D1-F36B-3727-F2E30B5C2C1C}"/>
              </a:ext>
            </a:extLst>
          </p:cNvPr>
          <p:cNvSpPr txBox="1"/>
          <p:nvPr/>
        </p:nvSpPr>
        <p:spPr>
          <a:xfrm>
            <a:off x="1862667" y="1926302"/>
            <a:ext cx="6893782" cy="392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Los consumidores compran por varias razones:</a:t>
            </a:r>
          </a:p>
          <a:p>
            <a:pPr>
              <a:lnSpc>
                <a:spcPct val="150000"/>
              </a:lnSpc>
              <a:buNone/>
            </a:pPr>
            <a:endParaRPr lang="es-ES" sz="1400" dirty="0">
              <a:solidFill>
                <a:schemeClr val="bg2">
                  <a:lumMod val="2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Satisfacer necesidades básicas: 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alimento, vestuario, vivienda.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Cubrir necesidades psicológicas: 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sentirse bien, pertenecer, autoestima.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Placer o entretenimiento: 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experiencias que generan satisfacción emocional.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Conveniencia y practicidad: 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ahorrar tiempo o esfuerzo.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Influencia social: 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moda, estatus o aceptación en grupos sociales</a:t>
            </a:r>
            <a:r>
              <a:rPr lang="es-ES" sz="1200" dirty="0"/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5965F8-62D7-080A-89AD-E860E07FA155}"/>
              </a:ext>
            </a:extLst>
          </p:cNvPr>
          <p:cNvSpPr txBox="1"/>
          <p:nvPr/>
        </p:nvSpPr>
        <p:spPr>
          <a:xfrm>
            <a:off x="259082" y="949756"/>
            <a:ext cx="7931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E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Productos y  servicios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FC61016-0E3F-7753-B085-1C220C9BA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40" b="89927" l="10000" r="93333">
                        <a14:foregroundMark x1="81417" y1="24350" x2="64833" y2="23682"/>
                        <a14:foregroundMark x1="57750" y1="22748" x2="56000" y2="22748"/>
                        <a14:foregroundMark x1="46750" y1="21548" x2="46750" y2="21548"/>
                        <a14:foregroundMark x1="35667" y1="19413" x2="35667" y2="19413"/>
                        <a14:foregroundMark x1="32833" y1="16945" x2="28167" y2="14476"/>
                        <a14:foregroundMark x1="24667" y1="16411" x2="16250" y2="30220"/>
                        <a14:foregroundMark x1="23083" y1="29286" x2="34917" y2="23282"/>
                        <a14:foregroundMark x1="34917" y1="23282" x2="36167" y2="28619"/>
                        <a14:foregroundMark x1="41417" y1="20147" x2="42500" y2="20680"/>
                        <a14:foregroundMark x1="41667" y1="21014" x2="55583" y2="23149"/>
                        <a14:foregroundMark x1="76333" y1="25083" x2="85833" y2="23682"/>
                        <a14:foregroundMark x1="88000" y1="25617" x2="88000" y2="25617"/>
                        <a14:foregroundMark x1="89750" y1="31421" x2="89750" y2="31421"/>
                        <a14:foregroundMark x1="90667" y1="24683" x2="90667" y2="24683"/>
                        <a14:foregroundMark x1="82750" y1="71714" x2="82750" y2="71714"/>
                        <a14:foregroundMark x1="79167" y1="73516" x2="89750" y2="67845"/>
                        <a14:foregroundMark x1="83167" y1="75450" x2="80500" y2="74183"/>
                        <a14:foregroundMark x1="89333" y1="63576" x2="93333" y2="56704"/>
                        <a14:foregroundMark x1="30167" y1="60440" x2="31917" y2="74583"/>
                        <a14:foregroundMark x1="31917" y1="74583" x2="38750" y2="77051"/>
                        <a14:foregroundMark x1="28000" y1="61975" x2="28417" y2="63976"/>
                        <a14:foregroundMark x1="33667" y1="79320" x2="33667" y2="79320"/>
                        <a14:foregroundMark x1="20667" y1="19413" x2="20667" y2="19413"/>
                        <a14:foregroundMark x1="19167" y1="21681" x2="19167" y2="21681"/>
                        <a14:foregroundMark x1="35500" y1="18679" x2="35500" y2="18679"/>
                        <a14:foregroundMark x1="36833" y1="19613" x2="36833" y2="196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1323" y="2089454"/>
            <a:ext cx="3451478" cy="43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3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2F29-5DEE-A4AD-21AD-3D7B309B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671AD9-2843-BCCE-5DB1-10BE68CC0162}"/>
              </a:ext>
            </a:extLst>
          </p:cNvPr>
          <p:cNvSpPr txBox="1"/>
          <p:nvPr/>
        </p:nvSpPr>
        <p:spPr>
          <a:xfrm>
            <a:off x="5238351" y="897974"/>
            <a:ext cx="4185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latin typeface="Impact" panose="020B0806030902050204" pitchFamily="34" charset="0"/>
              </a:rPr>
              <a:t>REALMENTE SATISFACEN</a:t>
            </a:r>
          </a:p>
          <a:p>
            <a:r>
              <a:rPr lang="es-ES" sz="3200" dirty="0">
                <a:latin typeface="Impact" panose="020B0806030902050204" pitchFamily="34" charset="0"/>
              </a:rPr>
              <a:t> NECESIDADES O DESEOS?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E5F00E-C0E0-9B97-B03D-782A3C316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24189">
            <a:off x="9733548" y="-353992"/>
            <a:ext cx="2481016" cy="238082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71C3EDF-80E0-596D-856E-5521A33512D3}"/>
              </a:ext>
            </a:extLst>
          </p:cNvPr>
          <p:cNvSpPr txBox="1"/>
          <p:nvPr/>
        </p:nvSpPr>
        <p:spPr>
          <a:xfrm>
            <a:off x="2649109" y="2838144"/>
            <a:ext cx="6893782" cy="231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Sí, los productos y servicios satisfacen tanto necesidades como deseos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Necesidades: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son esenciales para vivir o funcionar normalmente (comida, ropa básica).</a:t>
            </a:r>
          </a:p>
          <a:p>
            <a:pPr>
              <a:lnSpc>
                <a:spcPct val="150000"/>
              </a:lnSpc>
            </a:pP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Deseos: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son deseos personales influenciados por cultura, moda y emociones (ropa de marca, artículos de lujo).</a:t>
            </a:r>
            <a:b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</a:b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El mercadeo estudia estas diferencias para ofrecer lo que realmente buscan los consumidores.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EA0993-FC8B-1AC5-E91A-D7A601351647}"/>
              </a:ext>
            </a:extLst>
          </p:cNvPr>
          <p:cNvSpPr txBox="1"/>
          <p:nvPr/>
        </p:nvSpPr>
        <p:spPr>
          <a:xfrm>
            <a:off x="2528149" y="836418"/>
            <a:ext cx="2831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CO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¿Los productos y servicios</a:t>
            </a:r>
            <a:endParaRPr lang="es-ES" sz="3600" dirty="0">
              <a:solidFill>
                <a:prstClr val="black">
                  <a:lumMod val="75000"/>
                  <a:lumOff val="25000"/>
                </a:prstClr>
              </a:solidFill>
              <a:latin typeface="CommercialScript BT" panose="03030803040807090C04" pitchFamily="66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B539D0-8B0B-CD92-2F46-1348FA3B9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066540">
            <a:off x="-387611" y="33103"/>
            <a:ext cx="2497522" cy="23966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A8EBE5-0136-5974-D7FC-FB6F1987B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96417" y="3309429"/>
            <a:ext cx="4195583" cy="419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9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2CF2-5F19-AF2B-476D-F733FB16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CD0B9D-06B1-010A-E916-42F2A2AA46CD}"/>
              </a:ext>
            </a:extLst>
          </p:cNvPr>
          <p:cNvSpPr txBox="1"/>
          <p:nvPr/>
        </p:nvSpPr>
        <p:spPr>
          <a:xfrm>
            <a:off x="2591202" y="493484"/>
            <a:ext cx="6570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>
                <a:solidFill>
                  <a:srgbClr val="38AA00"/>
                </a:solidFill>
                <a:latin typeface="Impact" panose="020B0806030902050204" pitchFamily="34" charset="0"/>
              </a:rPr>
              <a:t>Al comprar una chaqueta:</a:t>
            </a:r>
            <a:endParaRPr lang="es-ES" sz="3200" dirty="0">
              <a:latin typeface="Impact" panose="020B080603090205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09AB2A5-324F-5814-D093-DA7C024D5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24189">
            <a:off x="9733548" y="-353992"/>
            <a:ext cx="2481016" cy="238082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7E26B62-F97E-4365-D759-7F50020E402D}"/>
              </a:ext>
            </a:extLst>
          </p:cNvPr>
          <p:cNvSpPr txBox="1"/>
          <p:nvPr/>
        </p:nvSpPr>
        <p:spPr>
          <a:xfrm>
            <a:off x="2649109" y="2838144"/>
            <a:ext cx="6893782" cy="2636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Al comprar una chaqueta, un consumidor puede satisfacer: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Protección contra el frío (funcional).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Comodidad y practicidad.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Estilo o moda.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Expresión personal o identidad.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Prestigio o estatus (si es de marca).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Sensación de seguridad.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Cumplir con normas sociales o culturales.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FE8E20-6E7F-D66E-3691-F9D67E662CE2}"/>
              </a:ext>
            </a:extLst>
          </p:cNvPr>
          <p:cNvSpPr txBox="1"/>
          <p:nvPr/>
        </p:nvSpPr>
        <p:spPr>
          <a:xfrm>
            <a:off x="2014634" y="1231433"/>
            <a:ext cx="7459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s-ES" sz="3600" dirty="0"/>
              <a:t> </a:t>
            </a:r>
            <a:r>
              <a:rPr lang="es-E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necesidades que satisface de los consumidores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76A6E4-67BA-6A15-55B3-3EDC98A60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066540">
            <a:off x="-387611" y="33103"/>
            <a:ext cx="2497522" cy="23966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9EE1F1-41FF-FD66-5868-C3273C016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39" b="90787" l="4800" r="97600">
                        <a14:foregroundMark x1="12400" y1="70487" x2="12400" y2="70487"/>
                        <a14:foregroundMark x1="10100" y1="91086" x2="43700" y2="35581"/>
                        <a14:foregroundMark x1="43700" y1="35581" x2="43700" y2="35581"/>
                        <a14:foregroundMark x1="4800" y1="89363" x2="8800" y2="62996"/>
                        <a14:foregroundMark x1="41600" y1="9288" x2="49700" y2="9288"/>
                        <a14:foregroundMark x1="91400" y1="52135" x2="94800" y2="79925"/>
                        <a14:foregroundMark x1="94800" y1="79925" x2="91600" y2="89438"/>
                        <a14:foregroundMark x1="91600" y1="89438" x2="86100" y2="90337"/>
                        <a14:foregroundMark x1="94800" y1="87041" x2="97600" y2="767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69476" y="2231264"/>
            <a:ext cx="2955569" cy="394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5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0F48BE1-C0AC-9A0D-47C3-BB597ACC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5750"/>
            <a:ext cx="8382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EA39-5E7E-7038-BE48-327F35C6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FB9B98-EB8B-52E8-0153-E121B26FFF74}"/>
              </a:ext>
            </a:extLst>
          </p:cNvPr>
          <p:cNvSpPr txBox="1"/>
          <p:nvPr/>
        </p:nvSpPr>
        <p:spPr>
          <a:xfrm>
            <a:off x="2591202" y="836418"/>
            <a:ext cx="6570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dirty="0">
                <a:latin typeface="Impact" panose="020B0806030902050204" pitchFamily="34" charset="0"/>
              </a:rPr>
              <a:t>conclusión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08DFC1-08E8-39EF-6F02-382AE3360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24189">
            <a:off x="10255360" y="-347190"/>
            <a:ext cx="1795810" cy="172328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AA5AAF8-FE78-EB42-4A8D-05ED8BA967EC}"/>
              </a:ext>
            </a:extLst>
          </p:cNvPr>
          <p:cNvSpPr txBox="1"/>
          <p:nvPr/>
        </p:nvSpPr>
        <p:spPr>
          <a:xfrm>
            <a:off x="2645201" y="1769584"/>
            <a:ext cx="6893782" cy="448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La película </a:t>
            </a:r>
            <a:r>
              <a:rPr lang="es-E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Loca por las compras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muestra cómo el comportamiento del consumidor puede estar influenciado por emociones, publicidad y necesidades percibidas más que por necesidades reales. La protagonista </a:t>
            </a: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compra impulsivamente para buscar satisfacción emocional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, lo que refleja cómo las estrategias de mercadeo crean deseos más que necesidades. El mercadeo influye en la percepción de valor, estimula el deseo de compra y utiliza la segmentación para atraer a diferentes tipos de consumidores. También enseña que un mal manejo del consumo puede traer consecuencias negativas, tanto personales como financieras. Esta historia ilustra la importancia de que las empresas </a:t>
            </a:r>
            <a:r>
              <a:rPr lang="es-ES" sz="1400" dirty="0">
                <a:solidFill>
                  <a:srgbClr val="D579A9"/>
                </a:solidFill>
                <a:latin typeface="Arial Rounded MT Bold" panose="020F0704030504030204" pitchFamily="34" charset="0"/>
              </a:rPr>
              <a:t>entiendan cómo piensan y sienten los consumidores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, y cómo éstos deben tomar decisiones más conscientes. El mercadeo no solo vende productos, sino que también construye experiencias y significado detrás de lo que se compra.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67C203-43F2-8560-F7D1-957A1CF95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066540">
            <a:off x="-387611" y="33103"/>
            <a:ext cx="2497522" cy="23966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74575E-219A-370F-3CB3-7A827E202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6333" y1="51508" x2="76333" y2="51508"/>
                        <a14:foregroundMark x1="74083" y1="67151" x2="74083" y2="67151"/>
                        <a14:foregroundMark x1="71167" y1="70615" x2="71167" y2="706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8465" y="2609290"/>
            <a:ext cx="5229009" cy="389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3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8300-635E-3ECF-5CAC-1B68DB90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755330-7EA7-7AC6-1B02-A83A8D874505}"/>
              </a:ext>
            </a:extLst>
          </p:cNvPr>
          <p:cNvSpPr txBox="1"/>
          <p:nvPr/>
        </p:nvSpPr>
        <p:spPr>
          <a:xfrm>
            <a:off x="2591202" y="836418"/>
            <a:ext cx="6570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CommercialScript BT" panose="03030803040807090C04" pitchFamily="66" charset="0"/>
              </a:rPr>
              <a:t>referencias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E30443A-225B-EF50-39B2-AD8D06B8A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24189">
            <a:off x="10255360" y="-347190"/>
            <a:ext cx="1795810" cy="172328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946ED9B-BD18-E3F6-7653-08C8FC91DEEE}"/>
              </a:ext>
            </a:extLst>
          </p:cNvPr>
          <p:cNvSpPr txBox="1"/>
          <p:nvPr/>
        </p:nvSpPr>
        <p:spPr>
          <a:xfrm>
            <a:off x="2645201" y="1769584"/>
            <a:ext cx="689378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🔗 </a:t>
            </a:r>
            <a:r>
              <a:rPr lang="es-ES" sz="1400" b="1" dirty="0">
                <a:solidFill>
                  <a:srgbClr val="D579A9"/>
                </a:solidFill>
              </a:rPr>
              <a:t>Wikipedia – Compra por impulso (concepto de compra no planificada)</a:t>
            </a:r>
            <a:br>
              <a:rPr lang="es-ES" sz="1400" dirty="0"/>
            </a:br>
            <a:r>
              <a:rPr lang="es-ES" sz="1400" dirty="0">
                <a:hlinkClick r:id="rId4"/>
              </a:rPr>
              <a:t>https://es.wikipedia.org/wiki/Compra_por_impulso</a:t>
            </a:r>
            <a:r>
              <a:rPr lang="es-ES" sz="1400" dirty="0"/>
              <a:t> </a:t>
            </a:r>
          </a:p>
          <a:p>
            <a:r>
              <a:rPr lang="es-ES" sz="1400" dirty="0"/>
              <a:t>🔗 </a:t>
            </a:r>
            <a:r>
              <a:rPr lang="es-ES" sz="1400" b="1" dirty="0">
                <a:solidFill>
                  <a:srgbClr val="D579A9"/>
                </a:solidFill>
              </a:rPr>
              <a:t>Wikipedia – Adicción a la compra (conceptos y efectos)</a:t>
            </a:r>
            <a:br>
              <a:rPr lang="es-ES" sz="1400" dirty="0"/>
            </a:br>
            <a:r>
              <a:rPr lang="es-ES" sz="1400" dirty="0">
                <a:hlinkClick r:id="rId5"/>
              </a:rPr>
              <a:t>https://es.wikipedia.org/wiki/Adicci%C3%B3n_a_la_compra</a:t>
            </a:r>
            <a:r>
              <a:rPr lang="es-ES" sz="1400" dirty="0"/>
              <a:t> </a:t>
            </a:r>
          </a:p>
          <a:p>
            <a:r>
              <a:rPr lang="es-ES" sz="1400" dirty="0"/>
              <a:t>🔗 </a:t>
            </a:r>
            <a:r>
              <a:rPr lang="es-ES" sz="1400" b="1" dirty="0">
                <a:solidFill>
                  <a:srgbClr val="D579A9"/>
                </a:solidFill>
              </a:rPr>
              <a:t>Tesis: Análisis del comportamiento de compra compulsiva en la película</a:t>
            </a:r>
            <a:br>
              <a:rPr lang="es-ES" sz="1400" dirty="0"/>
            </a:br>
            <a:r>
              <a:rPr lang="es-ES" sz="1400" dirty="0">
                <a:hlinkClick r:id="rId6"/>
              </a:rPr>
              <a:t>https://repository.unika.ac.id/16616/</a:t>
            </a:r>
            <a:r>
              <a:rPr lang="es-ES" sz="1400" dirty="0"/>
              <a:t> </a:t>
            </a:r>
          </a:p>
          <a:p>
            <a:r>
              <a:rPr lang="es-ES" sz="1400" dirty="0">
                <a:solidFill>
                  <a:srgbClr val="D579A9"/>
                </a:solidFill>
              </a:rPr>
              <a:t>🔗 </a:t>
            </a:r>
            <a:r>
              <a:rPr lang="es-ES" sz="1400" b="1" dirty="0">
                <a:solidFill>
                  <a:srgbClr val="D579A9"/>
                </a:solidFill>
              </a:rPr>
              <a:t>Tesis: Sociedad consumista representada en la película</a:t>
            </a:r>
            <a:br>
              <a:rPr lang="es-ES" sz="1400" dirty="0"/>
            </a:br>
            <a:r>
              <a:rPr lang="es-ES" sz="1400" dirty="0">
                <a:hlinkClick r:id="rId7"/>
              </a:rPr>
              <a:t>http://repository.ub.ac.id/id/eprint/102426/</a:t>
            </a:r>
            <a:r>
              <a:rPr lang="es-ES" sz="1400" dirty="0"/>
              <a:t> </a:t>
            </a:r>
          </a:p>
          <a:p>
            <a:r>
              <a:rPr lang="es-ES" sz="1400" dirty="0">
                <a:solidFill>
                  <a:srgbClr val="D579A9"/>
                </a:solidFill>
              </a:rPr>
              <a:t>🔗 </a:t>
            </a:r>
            <a:r>
              <a:rPr lang="es-ES" sz="1400" b="1" dirty="0">
                <a:solidFill>
                  <a:srgbClr val="D579A9"/>
                </a:solidFill>
              </a:rPr>
              <a:t>Artículo – Psicología del consumismo en </a:t>
            </a:r>
            <a:r>
              <a:rPr lang="es-ES" sz="1400" b="1" i="1" dirty="0" err="1">
                <a:solidFill>
                  <a:srgbClr val="D579A9"/>
                </a:solidFill>
              </a:rPr>
              <a:t>Confessions</a:t>
            </a:r>
            <a:r>
              <a:rPr lang="es-ES" sz="1400" b="1" i="1" dirty="0">
                <a:solidFill>
                  <a:srgbClr val="D579A9"/>
                </a:solidFill>
              </a:rPr>
              <a:t> </a:t>
            </a:r>
            <a:r>
              <a:rPr lang="es-ES" sz="1400" b="1" i="1" dirty="0" err="1">
                <a:solidFill>
                  <a:srgbClr val="D579A9"/>
                </a:solidFill>
              </a:rPr>
              <a:t>of</a:t>
            </a:r>
            <a:r>
              <a:rPr lang="es-ES" sz="1400" b="1" i="1" dirty="0">
                <a:solidFill>
                  <a:srgbClr val="D579A9"/>
                </a:solidFill>
              </a:rPr>
              <a:t> a </a:t>
            </a:r>
            <a:r>
              <a:rPr lang="es-ES" sz="1400" b="1" i="1" dirty="0" err="1">
                <a:solidFill>
                  <a:srgbClr val="D579A9"/>
                </a:solidFill>
              </a:rPr>
              <a:t>Shopaholic</a:t>
            </a:r>
            <a:br>
              <a:rPr lang="es-ES" sz="1400" dirty="0"/>
            </a:br>
            <a:r>
              <a:rPr lang="es-ES" sz="1400" dirty="0">
                <a:hlinkClick r:id="rId8"/>
              </a:rPr>
              <a:t>https://www.hercampus.com/school/delhi-north/confessions-of-a-shopaholic-psychology-of-consumerism-and-debt/</a:t>
            </a:r>
            <a:endParaRPr lang="es-ES" sz="1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D40D5D-DA5F-3302-8EF3-3F48C24F4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13" b="97996" l="10000" r="93462">
                        <a14:foregroundMark x1="30577" y1="6613" x2="30577" y2="6613"/>
                        <a14:foregroundMark x1="93462" y1="38477" x2="93462" y2="38477"/>
                        <a14:foregroundMark x1="59808" y1="93387" x2="59808" y2="93387"/>
                        <a14:foregroundMark x1="57885" y1="96994" x2="57885" y2="96994"/>
                        <a14:foregroundMark x1="58462" y1="97996" x2="58462" y2="97996"/>
                        <a14:foregroundMark x1="13846" y1="81563" x2="15769" y2="743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066540">
            <a:off x="-387611" y="33103"/>
            <a:ext cx="2497522" cy="239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5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BE4F68-ED68-C817-4900-A53E6BAAE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008" y="1"/>
            <a:ext cx="12233008" cy="68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00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4289</TotalTime>
  <Words>620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CommercialScript BT</vt:lpstr>
      <vt:lpstr>Impact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 cset</cp:lastModifiedBy>
  <cp:revision>77</cp:revision>
  <dcterms:created xsi:type="dcterms:W3CDTF">2020-10-01T23:51:28Z</dcterms:created>
  <dcterms:modified xsi:type="dcterms:W3CDTF">2026-02-13T16:29:43Z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