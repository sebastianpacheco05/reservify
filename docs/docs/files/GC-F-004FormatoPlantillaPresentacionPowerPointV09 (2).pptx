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modernComment_21D_434DFD69.xml" ContentType="application/vnd.ms-powerpoint.comments+xml"/>
  <Override PartName="/ppt/comments/modernComment_22B_1523B216.xml" ContentType="application/vnd.ms-powerpoint.comments+xml"/>
  <Override PartName="/ppt/comments/modernComment_21B_430847FE.xml" ContentType="application/vnd.ms-powerpoint.comments+xml"/>
  <Override PartName="/ppt/comments/modernComment_229_DDB1419.xml" ContentType="application/vnd.ms-powerpoint.comments+xml"/>
  <Override PartName="/ppt/comments/modernComment_21C_10C0F3C0.xml" ContentType="application/vnd.ms-powerpoint.comments+xml"/>
  <Override PartName="/ppt/comments/modernComment_21E_F38A607B.xml" ContentType="application/vnd.ms-powerpoint.comments+xml"/>
  <Override PartName="/ppt/comments/modernComment_223_7C8BC086.xml" ContentType="application/vnd.ms-powerpoint.comments+xml"/>
  <Override PartName="/ppt/comments/modernComment_219_B5143432.xml" ContentType="application/vnd.ms-powerpoint.comments+xml"/>
  <Override PartName="/ppt/comments/modernComment_22D_3032A30.xml" ContentType="application/vnd.ms-powerpoint.comments+xml"/>
  <Override PartName="/ppt/comments/modernComment_218_1B4D6979.xml" ContentType="application/vnd.ms-powerpoint.comments+xml"/>
  <Override PartName="/ppt/comments/modernComment_221_7608637B.xml" ContentType="application/vnd.ms-powerpoint.comments+xml"/>
  <Override PartName="/ppt/comments/modernComment_22C_2461712B.xml" ContentType="application/vnd.ms-powerpoint.comments+xml"/>
  <Override PartName="/ppt/comments/modernComment_222_EF061CDA.xml" ContentType="application/vnd.ms-powerpoint.comments+xml"/>
  <Override PartName="/ppt/comments/modernComment_226_768363AE.xml" ContentType="application/vnd.ms-powerpoint.comments+xml"/>
  <Override PartName="/ppt/comments/modernComment_228_613163C3.xml" ContentType="application/vnd.ms-powerpoint.comments+xml"/>
  <Override PartName="/ppt/comments/modernComment_227_DDA10033.xml" ContentType="application/vnd.ms-powerpoint.comments+xml"/>
  <Override PartName="/ppt/comments/modernComment_22E_DB9C041C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541" r:id="rId2"/>
    <p:sldId id="555" r:id="rId3"/>
    <p:sldId id="539" r:id="rId4"/>
    <p:sldId id="553" r:id="rId5"/>
    <p:sldId id="540" r:id="rId6"/>
    <p:sldId id="542" r:id="rId7"/>
    <p:sldId id="547" r:id="rId8"/>
    <p:sldId id="537" r:id="rId9"/>
    <p:sldId id="557" r:id="rId10"/>
    <p:sldId id="536" r:id="rId11"/>
    <p:sldId id="545" r:id="rId12"/>
    <p:sldId id="556" r:id="rId13"/>
    <p:sldId id="546" r:id="rId14"/>
    <p:sldId id="550" r:id="rId15"/>
    <p:sldId id="552" r:id="rId16"/>
    <p:sldId id="551" r:id="rId17"/>
    <p:sldId id="558" r:id="rId18"/>
    <p:sldId id="532" r:id="rId19"/>
    <p:sldId id="560" r:id="rId20"/>
    <p:sldId id="561" r:id="rId21"/>
    <p:sldId id="564" r:id="rId22"/>
    <p:sldId id="565" r:id="rId23"/>
    <p:sldId id="544" r:id="rId24"/>
    <p:sldId id="531" r:id="rId2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5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8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D254F-37CE-B72A-D929-E70B54B0ED62}" name="Einit Natalia Barajas Figueroa" initials="EF" userId="S::einit_barajas_soy.sena.edu.co#ext#@sena4.onmicrosoft.com::fc0b25c1-fd4c-4cd6-87fa-59bd7e2a3bf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C"/>
    <a:srgbClr val="343433"/>
    <a:srgbClr val="FF6C00"/>
    <a:srgbClr val="38AA00"/>
    <a:srgbClr val="766363"/>
    <a:srgbClr val="FFF5EA"/>
    <a:srgbClr val="0032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C2C552-820D-EC22-E3D7-C81A901524E2}" v="13" dt="2025-11-28T20:27:54.0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454" autoAdjust="0"/>
  </p:normalViewPr>
  <p:slideViewPr>
    <p:cSldViewPr snapToGrid="0">
      <p:cViewPr varScale="1">
        <p:scale>
          <a:sx n="113" d="100"/>
          <a:sy n="113" d="100"/>
        </p:scale>
        <p:origin x="474" y="114"/>
      </p:cViewPr>
      <p:guideLst>
        <p:guide orient="horz" pos="595"/>
        <p:guide pos="3840"/>
        <p:guide orient="horz" pos="18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init Natalia Barajas Figueroa" userId="S::einit_barajas_soy.sena.edu.co#ext#@sena4.onmicrosoft.com::fc0b25c1-fd4c-4cd6-87fa-59bd7e2a3bf2" providerId="AD" clId="Web-{F1C2C552-820D-EC22-E3D7-C81A901524E2}"/>
    <pc:docChg chg="modSld">
      <pc:chgData name="Einit Natalia Barajas Figueroa" userId="S::einit_barajas_soy.sena.edu.co#ext#@sena4.onmicrosoft.com::fc0b25c1-fd4c-4cd6-87fa-59bd7e2a3bf2" providerId="AD" clId="Web-{F1C2C552-820D-EC22-E3D7-C81A901524E2}" dt="2025-11-28T20:27:54.028" v="12" actId="1076"/>
      <pc:docMkLst>
        <pc:docMk/>
      </pc:docMkLst>
      <pc:sldChg chg="modSp">
        <pc:chgData name="Einit Natalia Barajas Figueroa" userId="S::einit_barajas_soy.sena.edu.co#ext#@sena4.onmicrosoft.com::fc0b25c1-fd4c-4cd6-87fa-59bd7e2a3bf2" providerId="AD" clId="Web-{F1C2C552-820D-EC22-E3D7-C81A901524E2}" dt="2025-11-28T20:27:54.028" v="12" actId="1076"/>
        <pc:sldMkLst>
          <pc:docMk/>
          <pc:sldMk cId="3927921496" sldId="543"/>
        </pc:sldMkLst>
        <pc:picChg chg="mod">
          <ac:chgData name="Einit Natalia Barajas Figueroa" userId="S::einit_barajas_soy.sena.edu.co#ext#@sena4.onmicrosoft.com::fc0b25c1-fd4c-4cd6-87fa-59bd7e2a3bf2" providerId="AD" clId="Web-{F1C2C552-820D-EC22-E3D7-C81A901524E2}" dt="2025-11-28T20:27:54.028" v="12" actId="1076"/>
          <ac:picMkLst>
            <pc:docMk/>
            <pc:sldMk cId="3927921496" sldId="543"/>
            <ac:picMk id="2" creationId="{767C6271-08B4-77E3-60B7-1B97F4CE02A0}"/>
          </ac:picMkLst>
        </pc:picChg>
      </pc:sldChg>
      <pc:sldChg chg="modSp">
        <pc:chgData name="Einit Natalia Barajas Figueroa" userId="S::einit_barajas_soy.sena.edu.co#ext#@sena4.onmicrosoft.com::fc0b25c1-fd4c-4cd6-87fa-59bd7e2a3bf2" providerId="AD" clId="Web-{F1C2C552-820D-EC22-E3D7-C81A901524E2}" dt="2025-11-28T20:23:30.732" v="9" actId="1076"/>
        <pc:sldMkLst>
          <pc:docMk/>
          <pc:sldMk cId="1630626755" sldId="552"/>
        </pc:sldMkLst>
        <pc:picChg chg="mod">
          <ac:chgData name="Einit Natalia Barajas Figueroa" userId="S::einit_barajas_soy.sena.edu.co#ext#@sena4.onmicrosoft.com::fc0b25c1-fd4c-4cd6-87fa-59bd7e2a3bf2" providerId="AD" clId="Web-{F1C2C552-820D-EC22-E3D7-C81A901524E2}" dt="2025-11-28T20:23:30.732" v="9" actId="1076"/>
          <ac:picMkLst>
            <pc:docMk/>
            <pc:sldMk cId="1630626755" sldId="552"/>
            <ac:picMk id="9" creationId="{451BC266-7E4F-76B4-F9B5-27D5181D0BEC}"/>
          </ac:picMkLst>
        </pc:picChg>
      </pc:sldChg>
    </pc:docChg>
  </pc:docChgLst>
</pc:chgInfo>
</file>

<file path=ppt/comments/modernComment_21B_430847F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0BE37ED-6B30-4223-9B10-06D65EB9D9C6}" authorId="{27DD254F-37CE-B72A-D929-E70B54B0ED62}" created="2025-05-09T17:20:23.641">
    <pc:sldMkLst xmlns:pc="http://schemas.microsoft.com/office/powerpoint/2013/main/command">
      <pc:docMk/>
      <pc:sldMk cId="1124616190" sldId="539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1C_10C0F3C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CE1347-AC39-47DA-869C-8FE83F8BB829}" authorId="{27DD254F-37CE-B72A-D929-E70B54B0ED62}" created="2025-05-09T17:20:57.283">
    <pc:sldMkLst xmlns:pc="http://schemas.microsoft.com/office/powerpoint/2013/main/command">
      <pc:docMk/>
      <pc:sldMk cId="281080768" sldId="540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1D_434DFD6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C7D49E4-DED9-468E-899C-36759F392501}" authorId="{27DD254F-37CE-B72A-D929-E70B54B0ED62}" created="2025-05-09T17:20:07.781">
    <pc:sldMkLst xmlns:pc="http://schemas.microsoft.com/office/powerpoint/2013/main/command">
      <pc:docMk/>
      <pc:sldMk cId="1129184617" sldId="541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1E_F38A607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0918AB3-C62C-4B09-8CAF-EA0690183F3F}" authorId="{27DD254F-37CE-B72A-D929-E70B54B0ED62}" created="2025-05-09T17:20:51.080">
    <pc:sldMkLst xmlns:pc="http://schemas.microsoft.com/office/powerpoint/2013/main/command">
      <pc:docMk/>
      <pc:sldMk cId="4085932155" sldId="542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2B_1523B21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AC63BCA-4324-48A6-BE18-5EA2CFC287F4}" authorId="{27DD254F-37CE-B72A-D929-E70B54B0ED62}" created="2025-05-09T17:21:05.549">
    <pc:sldMkLst xmlns:pc="http://schemas.microsoft.com/office/powerpoint/2013/main/command">
      <pc:docMk/>
      <pc:sldMk cId="1971142826" sldId="535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C_2461712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8F456A8-017C-44BB-B0DA-251F321016DF}" authorId="{27DD254F-37CE-B72A-D929-E70B54B0ED62}" created="2025-05-09T17:23:09.288">
    <pc:sldMkLst xmlns:pc="http://schemas.microsoft.com/office/powerpoint/2013/main/command">
      <pc:docMk/>
      <pc:sldMk cId="244571600" sldId="554"/>
    </pc:sldMkLst>
    <p188:txBody>
      <a:bodyPr/>
      <a:lstStyle/>
      <a:p>
        <a:r>
          <a:rPr lang="en-US"/>
          <a:t>2</a:t>
        </a:r>
      </a:p>
    </p188:txBody>
  </p188:cm>
</p188:cmLst>
</file>

<file path=ppt/comments/modernComment_22D_3032A3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417762-9219-4DAF-B33E-5393D017C703}" authorId="{27DD254F-37CE-B72A-D929-E70B54B0ED62}" created="2025-05-09T17:21:40.691">
    <pc:sldMkLst xmlns:pc="http://schemas.microsoft.com/office/powerpoint/2013/main/command">
      <pc:docMk/>
      <pc:sldMk cId="458058105" sldId="536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E_DB9C041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9B19FBF-A587-4E31-A5A9-F0099AA3C3AC}" authorId="{27DD254F-37CE-B72A-D929-E70B54B0ED62}" created="2025-05-09T17:22:58.537">
    <pc:sldMkLst xmlns:pc="http://schemas.microsoft.com/office/powerpoint/2013/main/command">
      <pc:docMk/>
      <pc:sldMk cId="3718316083" sldId="551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18_1B4D697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F25E645-1C7D-4B94-AF83-349044F6C4A1}" authorId="{27DD254F-37CE-B72A-D929-E70B54B0ED62}" created="2025-05-09T17:21:40.691">
    <pc:sldMkLst xmlns:pc="http://schemas.microsoft.com/office/powerpoint/2013/main/command">
      <pc:docMk/>
      <pc:sldMk cId="458058105" sldId="536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19_B514343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1994EE0-44FA-481C-B4D0-1439E29A1575}" authorId="{27DD254F-37CE-B72A-D929-E70B54B0ED62}" created="2025-05-09T17:21:13.893">
    <pc:sldMkLst xmlns:pc="http://schemas.microsoft.com/office/powerpoint/2013/main/command">
      <pc:docMk/>
      <pc:sldMk cId="3038000178" sldId="537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1_7608637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6168791-F2B9-4ABB-96A9-F90BB5551799}" authorId="{27DD254F-37CE-B72A-D929-E70B54B0ED62}" created="2025-05-09T17:21:52.019">
    <pc:sldMkLst xmlns:pc="http://schemas.microsoft.com/office/powerpoint/2013/main/command">
      <pc:docMk/>
      <pc:sldMk cId="1980261243" sldId="545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22_EF061CD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3F2F1A4-9DD4-4FE6-974E-CBBCD1B0ADFE}" authorId="{27DD254F-37CE-B72A-D929-E70B54B0ED62}" created="2025-05-09T17:22:13.958">
    <pc:sldMkLst xmlns:pc="http://schemas.microsoft.com/office/powerpoint/2013/main/command">
      <pc:docMk/>
      <pc:sldMk cId="4010155226" sldId="546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23_7C8BC08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D43E4A-0035-4D84-9B36-73E2E2448091}" authorId="{27DD254F-37CE-B72A-D929-E70B54B0ED62}" created="2025-05-09T17:21:19.706">
    <pc:sldMkLst xmlns:pc="http://schemas.microsoft.com/office/powerpoint/2013/main/command">
      <pc:docMk/>
      <pc:sldMk cId="2089533574" sldId="547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6_768363A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E43FFE9-36EB-4E53-883D-5EEF56E102CA}" authorId="{27DD254F-37CE-B72A-D929-E70B54B0ED62}" created="2025-05-09T17:22:30.802">
    <pc:sldMkLst xmlns:pc="http://schemas.microsoft.com/office/powerpoint/2013/main/command">
      <pc:docMk/>
      <pc:sldMk cId="1988322222" sldId="550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7_DDA1003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7DD6374-38E3-44F1-8480-188502E96A58}" authorId="{27DD254F-37CE-B72A-D929-E70B54B0ED62}" created="2025-05-09T17:22:58.537">
    <pc:sldMkLst xmlns:pc="http://schemas.microsoft.com/office/powerpoint/2013/main/command">
      <pc:docMk/>
      <pc:sldMk cId="3718316083" sldId="551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8_613163C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FD563B2-54F7-4635-8CC4-79887C0E67AD}" authorId="{27DD254F-37CE-B72A-D929-E70B54B0ED62}" created="2025-05-09T17:22:47.303">
    <pc:sldMkLst xmlns:pc="http://schemas.microsoft.com/office/powerpoint/2013/main/command">
      <pc:docMk/>
      <pc:sldMk cId="1630626755" sldId="552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29_DDB141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BFFACB-0D40-469D-A747-BBE84DF64409}" authorId="{27DD254F-37CE-B72A-D929-E70B54B0ED62}" created="2025-05-09T17:20:38.392">
    <pc:sldMkLst xmlns:pc="http://schemas.microsoft.com/office/powerpoint/2013/main/command">
      <pc:docMk/>
      <pc:sldMk cId="232461337" sldId="553"/>
    </pc:sldMkLst>
    <p188:txBody>
      <a:bodyPr/>
      <a:lstStyle/>
      <a:p>
        <a:r>
          <a:rPr lang="en-US"/>
          <a:t>sebas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22/04/2026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microsoft.com/office/2018/10/relationships/comments" Target="../comments/modernComment_21D_434DFD6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microsoft.com/office/2018/10/relationships/comments" Target="../comments/modernComment_22B_1523B2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microsoft.com/office/2018/10/relationships/comments" Target="../comments/modernComment_21B_430847FE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microsoft.com/office/2018/10/relationships/comments" Target="../comments/modernComment_229_DDB14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microsoft.com/office/2018/10/relationships/comments" Target="../comments/modernComment_21C_10C0F3C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21E_F38A607B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223_7C8BC08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microsoft.com/office/2018/10/relationships/comments" Target="../comments/modernComment_219_B51434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microsoft.com/office/2018/10/relationships/comments" Target="../comments/modernComment_22D_3032A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microsoft.com/office/2018/10/relationships/comments" Target="../comments/modernComment_218_1B4D697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221_7608637B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microsoft.com/office/2018/10/relationships/comments" Target="../comments/modernComment_22C_2461712B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ziGcEJIWWdArYEVR3MpIk33yreig74qm/edit?usp=drive_link&amp;ouid=118160846482597767338&amp;rtpof=true&amp;sd=true" TargetMode="External"/><Relationship Id="rId2" Type="http://schemas.microsoft.com/office/2018/10/relationships/comments" Target="../comments/modernComment_222_EF061CDA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226_768363AE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mermaid.ai/d/a806b4a5-34d9-4425-80bc-ef8613de0ffd" TargetMode="External"/><Relationship Id="rId2" Type="http://schemas.microsoft.com/office/2018/10/relationships/comments" Target="../comments/modernComment_228_613163C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ermaid.ai/d/29c2b9ab-3c09-44c8-871e-13636b80d335" TargetMode="External"/><Relationship Id="rId2" Type="http://schemas.microsoft.com/office/2018/10/relationships/comments" Target="../comments/modernComment_227_DDA100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3.png"/><Relationship Id="rId2" Type="http://schemas.microsoft.com/office/2018/10/relationships/comments" Target="../comments/modernComment_22E_DB9C041C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11" Type="http://schemas.openxmlformats.org/officeDocument/2006/relationships/image" Target="../media/image19.sv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svg"/><Relationship Id="rId9" Type="http://schemas.openxmlformats.org/officeDocument/2006/relationships/image" Target="../media/image17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sv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8.webp"/><Relationship Id="rId4" Type="http://schemas.openxmlformats.org/officeDocument/2006/relationships/image" Target="../media/image23.svg"/><Relationship Id="rId9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github.com/SebastianPacheco05/Reservify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D1149976-59ED-86DE-CAFB-F26E38C394F4}"/>
              </a:ext>
            </a:extLst>
          </p:cNvPr>
          <p:cNvSpPr/>
          <p:nvPr/>
        </p:nvSpPr>
        <p:spPr>
          <a:xfrm>
            <a:off x="3421172" y="3786902"/>
            <a:ext cx="5344743" cy="120032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  <a:t>Centro de Servicios Empresarial y Turísticos 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  <a:t>Einit Natalia Barajas 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  <a:t>Sebastian Yesid Pacheco Rivera</a:t>
            </a:r>
            <a:b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</a:b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  <a:t>juan pacheco pachón</a:t>
            </a:r>
            <a:endParaRPr lang="es-ES_tradnl" sz="200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5BFFB67-C3D4-337D-C327-AB25D270EADA}"/>
              </a:ext>
            </a:extLst>
          </p:cNvPr>
          <p:cNvSpPr txBox="1"/>
          <p:nvPr/>
        </p:nvSpPr>
        <p:spPr>
          <a:xfrm>
            <a:off x="1005612" y="1713252"/>
            <a:ext cx="10175864" cy="144655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>
              <a:defRPr/>
            </a:pPr>
            <a:r>
              <a:rPr lang="es-ES" sz="4400" dirty="0">
                <a:solidFill>
                  <a:schemeClr val="bg1"/>
                </a:solidFill>
                <a:ea typeface="+mn-lt"/>
                <a:cs typeface="+mn-lt"/>
              </a:rPr>
              <a:t>Implementación del software de reservas </a:t>
            </a:r>
            <a:endParaRPr lang="es-CO" sz="4400" b="1" dirty="0">
              <a:solidFill>
                <a:schemeClr val="bg1"/>
              </a:solidFill>
              <a:latin typeface="WORK SANS BOLD ROMAN" pitchFamily="2" charset="77"/>
              <a:ea typeface="+mn-lt"/>
              <a:cs typeface="+mn-lt"/>
            </a:endParaRPr>
          </a:p>
          <a:p>
            <a:pPr algn="ctr">
              <a:defRPr/>
            </a:pPr>
            <a:r>
              <a:rPr lang="es-ES" sz="4400" dirty="0">
                <a:solidFill>
                  <a:schemeClr val="bg1"/>
                </a:solidFill>
                <a:ea typeface="+mn-lt"/>
                <a:cs typeface="+mn-lt"/>
              </a:rPr>
              <a:t>Enfocados en restaurantes de Bucaramanga</a:t>
            </a:r>
            <a:endParaRPr lang="es-CO" sz="44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38CE8666-1D2A-4D01-34E5-54FD74A39FC0}"/>
              </a:ext>
            </a:extLst>
          </p:cNvPr>
          <p:cNvCxnSpPr>
            <a:cxnSpLocks/>
          </p:cNvCxnSpPr>
          <p:nvPr/>
        </p:nvCxnSpPr>
        <p:spPr>
          <a:xfrm>
            <a:off x="5013630" y="3555133"/>
            <a:ext cx="224754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ángulo 3">
            <a:extLst>
              <a:ext uri="{FF2B5EF4-FFF2-40B4-BE49-F238E27FC236}">
                <a16:creationId xmlns:a16="http://schemas.microsoft.com/office/drawing/2014/main" id="{1E91B7AF-6831-8D97-C796-119F20A22AA7}"/>
              </a:ext>
            </a:extLst>
          </p:cNvPr>
          <p:cNvSpPr/>
          <p:nvPr/>
        </p:nvSpPr>
        <p:spPr>
          <a:xfrm>
            <a:off x="3466760" y="4874200"/>
            <a:ext cx="5344743" cy="36933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Calibri"/>
                <a:cs typeface="Calibri"/>
              </a:rPr>
              <a:t>Ficha:2993127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15A13-7717-78BA-728D-FCE1A1E1089D}"/>
              </a:ext>
            </a:extLst>
          </p:cNvPr>
          <p:cNvSpPr txBox="1"/>
          <p:nvPr/>
        </p:nvSpPr>
        <p:spPr>
          <a:xfrm>
            <a:off x="3841595" y="561279"/>
            <a:ext cx="4583151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CO" sz="60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RESERVIFY</a:t>
            </a:r>
            <a:endParaRPr lang="en-US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9CE61BB-07C5-F9CF-3E4D-272F097B89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1305" y="5678118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1846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3419F3-A84C-6447-B375-21CAAA8C5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6E6265A-A527-1137-F81B-1FE32C1B2D95}"/>
              </a:ext>
            </a:extLst>
          </p:cNvPr>
          <p:cNvSpPr txBox="1"/>
          <p:nvPr/>
        </p:nvSpPr>
        <p:spPr>
          <a:xfrm>
            <a:off x="4201782" y="370217"/>
            <a:ext cx="3462791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5400" b="1" dirty="0">
                <a:ea typeface="Calibri"/>
                <a:cs typeface="Calibri"/>
              </a:rPr>
              <a:t>ANALISTAS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5255C7-D178-80A0-026E-227259370E62}"/>
              </a:ext>
            </a:extLst>
          </p:cNvPr>
          <p:cNvSpPr txBox="1"/>
          <p:nvPr/>
        </p:nvSpPr>
        <p:spPr>
          <a:xfrm>
            <a:off x="1021772" y="1177635"/>
            <a:ext cx="5385954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ea typeface="Calibri"/>
                <a:cs typeface="Calibri"/>
              </a:rPr>
              <a:t>Einit Natalia Barajas Figueroa</a:t>
            </a:r>
          </a:p>
          <a:p>
            <a:r>
              <a:rPr lang="en-US" sz="2400" b="1" dirty="0">
                <a:ea typeface="Calibri"/>
                <a:cs typeface="Calibri"/>
              </a:rPr>
              <a:t>Sebastian Yedid Pacheco Rivera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248C25-403C-F73C-C90C-DDE75F8A2DD9}"/>
              </a:ext>
            </a:extLst>
          </p:cNvPr>
          <p:cNvSpPr txBox="1"/>
          <p:nvPr/>
        </p:nvSpPr>
        <p:spPr>
          <a:xfrm>
            <a:off x="3372796" y="2010215"/>
            <a:ext cx="5455226" cy="8771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300" b="1" dirty="0">
                <a:solidFill>
                  <a:srgbClr val="002060"/>
                </a:solidFill>
                <a:latin typeface="Source Sans Pro"/>
                <a:ea typeface="Source Sans Pro"/>
              </a:rPr>
              <a:t>PERFIL PROFESIONAL </a:t>
            </a:r>
            <a:endParaRPr lang="en-US" dirty="0"/>
          </a:p>
          <a:p>
            <a:pPr algn="l"/>
            <a:endParaRPr lang="en-US" dirty="0"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028142-EFBC-86B8-DB28-9FD052EA4C96}"/>
              </a:ext>
            </a:extLst>
          </p:cNvPr>
          <p:cNvSpPr txBox="1"/>
          <p:nvPr/>
        </p:nvSpPr>
        <p:spPr>
          <a:xfrm>
            <a:off x="847610" y="2786266"/>
            <a:ext cx="10490568" cy="22159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ea typeface="+mn-lt"/>
                <a:cs typeface="+mn-lt"/>
              </a:rPr>
              <a:t>El tecnólogo ADSO se desempeñará Desarrollo soluciones de tipo software en el que prestará servicios personales como analista, diseñador y programador de software independiente o, en proyectos específicos de acuerdo con la necesidad del servicio, adquiriendo la capacidad de autoaprendizaje y actualización de las nuevas tendencias de desarrollo de software en el mercado, al tiempo que mejora la dinámica y Economía del País. </a:t>
            </a:r>
            <a:endParaRPr lang="en-US" dirty="0">
              <a:ea typeface="+mn-lt"/>
              <a:cs typeface="+mn-lt"/>
            </a:endParaRPr>
          </a:p>
          <a:p>
            <a:endParaRPr lang="en-US" sz="2000" b="1" dirty="0">
              <a:latin typeface="Arial"/>
              <a:cs typeface="Arial"/>
            </a:endParaRPr>
          </a:p>
          <a:p>
            <a:pPr algn="l"/>
            <a:endParaRPr lang="en-US" dirty="0">
              <a:ea typeface="Calibri"/>
              <a:cs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A59CAD-B976-10C4-5DA7-614C28AA2FB3}"/>
              </a:ext>
            </a:extLst>
          </p:cNvPr>
          <p:cNvSpPr txBox="1"/>
          <p:nvPr/>
        </p:nvSpPr>
        <p:spPr>
          <a:xfrm>
            <a:off x="3372928" y="4666891"/>
            <a:ext cx="5719313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CO" sz="3300" b="1" dirty="0">
                <a:solidFill>
                  <a:srgbClr val="002060"/>
                </a:solidFill>
                <a:latin typeface="Source Sans Pro"/>
              </a:rPr>
              <a:t>VINCULACIÓN INSTITUCIONAL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6E8CD0-9AD6-33D2-1B99-3816BC879BBE}"/>
              </a:ext>
            </a:extLst>
          </p:cNvPr>
          <p:cNvSpPr txBox="1"/>
          <p:nvPr/>
        </p:nvSpPr>
        <p:spPr>
          <a:xfrm>
            <a:off x="4724400" y="5227608"/>
            <a:ext cx="2743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419" sz="2000" b="1" dirty="0">
                <a:latin typeface="Arial"/>
              </a:rPr>
              <a:t>Aprendiz 08/07/ 2024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A12EBFB-4CF0-6B7C-5CB5-3E7DB5F03A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1305" y="5678118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608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34A4208-7DDE-681C-B3CE-D7CE52BA4A83}"/>
              </a:ext>
            </a:extLst>
          </p:cNvPr>
          <p:cNvSpPr txBox="1"/>
          <p:nvPr/>
        </p:nvSpPr>
        <p:spPr>
          <a:xfrm>
            <a:off x="1468229" y="1874367"/>
            <a:ext cx="64536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Work Sans Bold Roman" pitchFamily="2" charset="77"/>
                <a:ea typeface="+mn-ea"/>
                <a:cs typeface="+mn-cs"/>
              </a:rPr>
              <a:t>Introducción</a:t>
            </a:r>
            <a:endParaRPr kumimoji="0" lang="es-ES" sz="4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 pitchFamily="2" charset="77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A7026A2-4DA2-FAFF-9A67-EA8EBE871B43}"/>
              </a:ext>
            </a:extLst>
          </p:cNvPr>
          <p:cNvSpPr txBox="1"/>
          <p:nvPr/>
        </p:nvSpPr>
        <p:spPr>
          <a:xfrm>
            <a:off x="1467968" y="2865455"/>
            <a:ext cx="8968029" cy="29238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ea typeface="+mn-lt"/>
                <a:cs typeface="+mn-lt"/>
              </a:rPr>
              <a:t>En Colombia, la oferta de aplicaciones para realizar reservas en restaurantes es limitada, lo que dificulta que los usuarios puedan encontrar y reservar fácilmente un establecimiento cercano a su ubicación.</a:t>
            </a:r>
          </a:p>
          <a:p>
            <a:endParaRPr lang="es-CO" sz="2400" dirty="0">
              <a:ea typeface="+mn-lt"/>
              <a:cs typeface="+mn-lt"/>
            </a:endParaRPr>
          </a:p>
          <a:p>
            <a:endParaRPr lang="es-CO" sz="2400" dirty="0">
              <a:latin typeface="Calibri"/>
              <a:ea typeface="Calibri"/>
              <a:cs typeface="Calibri"/>
            </a:endParaRPr>
          </a:p>
          <a:p>
            <a:endParaRPr lang="es-CO" sz="2400" dirty="0">
              <a:latin typeface="Calibri"/>
              <a:ea typeface="Calibri"/>
              <a:cs typeface="Calibri"/>
            </a:endParaRPr>
          </a:p>
          <a:p>
            <a:endParaRPr lang="es-CO" sz="1600" dirty="0">
              <a:latin typeface="Work Sans Light Roman" pitchFamily="2" charset="77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F833615-C722-C866-0B24-F4AF600645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2889" y="1068668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61619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CD774-2A78-7EE5-AB05-2AC8883CB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FF3BD05-BFAB-A6DB-3421-35B91A0FB1E4}"/>
              </a:ext>
            </a:extLst>
          </p:cNvPr>
          <p:cNvSpPr txBox="1"/>
          <p:nvPr/>
        </p:nvSpPr>
        <p:spPr>
          <a:xfrm>
            <a:off x="1468229" y="1874367"/>
            <a:ext cx="6453678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Problemática</a:t>
            </a:r>
            <a:endParaRPr kumimoji="0" lang="es-ES" sz="4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 pitchFamily="2" charset="77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97599AE-DF5D-6C3D-9CCA-5EAF7142A041}"/>
              </a:ext>
            </a:extLst>
          </p:cNvPr>
          <p:cNvSpPr txBox="1"/>
          <p:nvPr/>
        </p:nvSpPr>
        <p:spPr>
          <a:xfrm>
            <a:off x="1467968" y="2865455"/>
            <a:ext cx="8968029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ea typeface="+mn-lt"/>
                <a:cs typeface="+mn-lt"/>
              </a:rPr>
              <a:t>La escasa demanda de aplicaciones de reservas, junto con la limitada disponibilidad de información sobre los establecimientos que las utilizan, creando una escasa información al usuario obstaculiza una gestión eficiente y oportuna de las reservas. Asimismo, numerosos restaurantes requieren estrategias de visibilidad y promoción que les permitan posicionarse adecuadamente en el mercado.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06AD529-3E0C-A646-590F-E5C05ABC39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0136" y="1161179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6133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15D167A-EE62-EA02-E6F4-53710691F485}"/>
              </a:ext>
            </a:extLst>
          </p:cNvPr>
          <p:cNvSpPr txBox="1"/>
          <p:nvPr/>
        </p:nvSpPr>
        <p:spPr>
          <a:xfrm>
            <a:off x="1776007" y="1892057"/>
            <a:ext cx="7550214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kumimoji="0" lang="es-E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Work Sans Bold Roman"/>
              </a:rPr>
              <a:t>Justificación</a:t>
            </a: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 </a:t>
            </a:r>
            <a:endParaRPr lang="es-ES" sz="5400" dirty="0">
              <a:solidFill>
                <a:prstClr val="black">
                  <a:lumMod val="75000"/>
                  <a:lumOff val="25000"/>
                </a:prstClr>
              </a:solidFill>
              <a:ea typeface="Calibri"/>
              <a:cs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3D7E6F2-F79F-C5BE-8836-E85B5D641C6D}"/>
              </a:ext>
            </a:extLst>
          </p:cNvPr>
          <p:cNvSpPr txBox="1"/>
          <p:nvPr/>
        </p:nvSpPr>
        <p:spPr>
          <a:xfrm>
            <a:off x="1774627" y="2986260"/>
            <a:ext cx="8968029" cy="218521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ea typeface="+mn-lt"/>
                <a:cs typeface="+mn-lt"/>
              </a:rPr>
              <a:t>La falta de software especializado en la búsqueda de reservas y en la gestión eficiente de las mismas por parte del usuario, junto con la deficiente organización y optimización de los sistemas actuales, representa una problemática significativa</a:t>
            </a:r>
          </a:p>
          <a:p>
            <a:endParaRPr lang="es-CO" sz="2400" dirty="0">
              <a:ea typeface="Calibri"/>
              <a:cs typeface="Calibri"/>
            </a:endParaRPr>
          </a:p>
          <a:p>
            <a:endParaRPr lang="es-CO" sz="1600" dirty="0">
              <a:ea typeface="Calibri"/>
              <a:cs typeface="Calibri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41AE2BA-ACFC-565B-F492-17A8E7E16A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690" y="5171474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807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15D167A-EE62-EA02-E6F4-53710691F485}"/>
              </a:ext>
            </a:extLst>
          </p:cNvPr>
          <p:cNvSpPr txBox="1"/>
          <p:nvPr/>
        </p:nvSpPr>
        <p:spPr>
          <a:xfrm>
            <a:off x="605128" y="423813"/>
            <a:ext cx="366971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es-ES" sz="2400" b="1" dirty="0">
                <a:solidFill>
                  <a:prstClr val="black">
                    <a:lumMod val="75000"/>
                    <a:lumOff val="25000"/>
                  </a:prstClr>
                </a:solidFill>
                <a:ea typeface="+mn-lt"/>
                <a:cs typeface="+mn-lt"/>
              </a:rPr>
              <a:t>Árbol </a:t>
            </a:r>
            <a:r>
              <a:rPr lang="es-ES" sz="2400" b="1" dirty="0">
                <a:solidFill>
                  <a:prstClr val="black">
                    <a:lumMod val="75000"/>
                    <a:lumOff val="25000"/>
                  </a:prstClr>
                </a:solidFill>
                <a:latin typeface="Calibri"/>
                <a:ea typeface="Calibri"/>
                <a:cs typeface="Calibri"/>
              </a:rPr>
              <a:t>de </a:t>
            </a:r>
            <a:r>
              <a:rPr lang="es-ES" sz="2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Problemas</a:t>
            </a:r>
            <a:endParaRPr lang="es-E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8C1E2-4B46-D591-8A84-9176CCCF7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742" y="0"/>
            <a:ext cx="10966515" cy="68580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DE617FD4-3964-617F-50A5-777E38740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1305" y="5678118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9321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8F619-5F25-AA9D-A4D4-84BB740F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32AA6DD-A5B4-A57D-6965-8F7879DB4EF6}"/>
              </a:ext>
            </a:extLst>
          </p:cNvPr>
          <p:cNvSpPr txBox="1"/>
          <p:nvPr/>
        </p:nvSpPr>
        <p:spPr>
          <a:xfrm>
            <a:off x="605128" y="423813"/>
            <a:ext cx="366971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es-ES" sz="2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Árbol de Objetivo </a:t>
            </a:r>
            <a:endParaRPr lang="es-ES" dirty="0">
              <a:solidFill>
                <a:prstClr val="black">
                  <a:lumMod val="75000"/>
                  <a:lumOff val="25000"/>
                </a:prst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ACB039-960D-6984-2807-9A5B19B0F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910" y="0"/>
            <a:ext cx="10602179" cy="68580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EFC1DBF-50A2-3C0E-C83A-3425BE940B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1305" y="5678118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53357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951D1C-ACAB-30A9-933A-FC96DF28A2F0}"/>
              </a:ext>
            </a:extLst>
          </p:cNvPr>
          <p:cNvSpPr txBox="1">
            <a:spLocks/>
          </p:cNvSpPr>
          <p:nvPr/>
        </p:nvSpPr>
        <p:spPr>
          <a:xfrm>
            <a:off x="1520925" y="1199808"/>
            <a:ext cx="3058086" cy="1550749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 b="1" dirty="0">
                <a:solidFill>
                  <a:srgbClr val="38AA00"/>
                </a:solidFill>
                <a:latin typeface="WORK SANS BOLD ROMAN"/>
              </a:rPr>
              <a:t>Objetivo General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F6697F3-B1A3-FADB-1243-D89866428CB1}"/>
              </a:ext>
            </a:extLst>
          </p:cNvPr>
          <p:cNvSpPr txBox="1"/>
          <p:nvPr/>
        </p:nvSpPr>
        <p:spPr>
          <a:xfrm>
            <a:off x="1046998" y="3155208"/>
            <a:ext cx="4010676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800" dirty="0">
                <a:latin typeface="Work Sans Light Roman"/>
              </a:rPr>
              <a:t>Innovar con un software enfocado a las reservas de restaurantes de gran flujo de personas</a:t>
            </a:r>
            <a:endParaRPr lang="es-CO" sz="3200" dirty="0">
              <a:ea typeface="Calibri" panose="020F0502020204030204"/>
              <a:cs typeface="Calibri" panose="020F0502020204030204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669DD18A-AB54-34AC-A662-0BDC60B050FF}"/>
              </a:ext>
            </a:extLst>
          </p:cNvPr>
          <p:cNvCxnSpPr>
            <a:cxnSpLocks/>
          </p:cNvCxnSpPr>
          <p:nvPr/>
        </p:nvCxnSpPr>
        <p:spPr>
          <a:xfrm>
            <a:off x="1157468" y="2704095"/>
            <a:ext cx="1425934" cy="0"/>
          </a:xfrm>
          <a:prstGeom prst="line">
            <a:avLst/>
          </a:prstGeom>
          <a:ln w="12700">
            <a:solidFill>
              <a:srgbClr val="4D4D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n 8">
            <a:extLst>
              <a:ext uri="{FF2B5EF4-FFF2-40B4-BE49-F238E27FC236}">
                <a16:creationId xmlns:a16="http://schemas.microsoft.com/office/drawing/2014/main" id="{CBB8E863-134C-047E-564D-20E4D7521C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166" r="239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00017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F34D7F-7092-FA25-DC24-6AA5ACC7D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0A093F-98E4-BFBC-709C-9C138BDE59E3}"/>
              </a:ext>
            </a:extLst>
          </p:cNvPr>
          <p:cNvSpPr txBox="1">
            <a:spLocks/>
          </p:cNvSpPr>
          <p:nvPr/>
        </p:nvSpPr>
        <p:spPr>
          <a:xfrm>
            <a:off x="553928" y="270150"/>
            <a:ext cx="9815809" cy="741563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3600" b="1" u="none" strike="noStrike" kern="1200" cap="none" spc="0" normalizeH="0" baseline="0" noProof="0" dirty="0">
                <a:ln>
                  <a:noFill/>
                </a:ln>
                <a:solidFill>
                  <a:srgbClr val="4D4D4C"/>
                </a:solidFill>
                <a:effectLst/>
                <a:uLnTx/>
                <a:uFillTx/>
                <a:latin typeface="WORK SANS BOLD ROMAN"/>
              </a:rPr>
              <a:t>Objetivos Específicos </a:t>
            </a:r>
            <a:endParaRPr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89C1D34-0AF1-87FD-82FE-58570D1504D0}"/>
              </a:ext>
            </a:extLst>
          </p:cNvPr>
          <p:cNvSpPr txBox="1"/>
          <p:nvPr/>
        </p:nvSpPr>
        <p:spPr>
          <a:xfrm>
            <a:off x="290983" y="2534626"/>
            <a:ext cx="5518437" cy="10772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Clr>
                <a:srgbClr val="38AA00"/>
              </a:buClr>
              <a:buAutoNum type="arabicPeriod"/>
            </a:pPr>
            <a:r>
              <a:rPr lang="es-CO" sz="1600" dirty="0">
                <a:ea typeface="Calibri"/>
                <a:cs typeface="Calibri"/>
              </a:rPr>
              <a:t>Mayor visibilidad de los restaurantes, por medio de la aplicación o página web</a:t>
            </a:r>
          </a:p>
          <a:p>
            <a:pPr marL="342900" indent="-342900">
              <a:buClr>
                <a:srgbClr val="38AA00"/>
              </a:buClr>
              <a:buAutoNum type="arabicPeriod"/>
            </a:pPr>
            <a:r>
              <a:rPr lang="es-CO" sz="1600" dirty="0">
                <a:ea typeface="+mn-lt"/>
                <a:cs typeface="+mn-lt"/>
              </a:rPr>
              <a:t>Aumentar el flujo de personas por restaurantes</a:t>
            </a:r>
            <a:endParaRPr lang="es-CO" dirty="0"/>
          </a:p>
          <a:p>
            <a:pPr marL="342900" indent="-342900">
              <a:buClr>
                <a:srgbClr val="38AA00"/>
              </a:buClr>
              <a:buAutoNum type="arabicPeriod"/>
            </a:pPr>
            <a:r>
              <a:rPr lang="es-CO" sz="1600" dirty="0">
                <a:ea typeface="+mn-lt"/>
                <a:cs typeface="+mn-lt"/>
              </a:rPr>
              <a:t>Plataforma intuitiva 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38D43FB-EAAC-2340-3E18-2C43908CA24F}"/>
              </a:ext>
            </a:extLst>
          </p:cNvPr>
          <p:cNvSpPr txBox="1"/>
          <p:nvPr/>
        </p:nvSpPr>
        <p:spPr>
          <a:xfrm>
            <a:off x="6380743" y="2534625"/>
            <a:ext cx="5518437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Clr>
                <a:srgbClr val="38AA00"/>
              </a:buClr>
              <a:buFont typeface="Calibri Light" panose="020F0302020204030204"/>
              <a:buAutoNum type="arabicPeriod"/>
            </a:pPr>
            <a:r>
              <a:rPr lang="es-ES" sz="1600" dirty="0">
                <a:latin typeface="Work Sans Light Roman"/>
              </a:rPr>
              <a:t>Recolectar información suficiente a través de la ingeniería de requerimientos</a:t>
            </a:r>
          </a:p>
          <a:p>
            <a:pPr marL="342900" indent="-342900">
              <a:buClr>
                <a:srgbClr val="38AA00"/>
              </a:buClr>
              <a:buFont typeface="Calibri Light" panose="020F0302020204030204"/>
              <a:buAutoNum type="arabicPeriod"/>
            </a:pPr>
            <a:r>
              <a:rPr lang="es-ES" sz="1600" dirty="0">
                <a:latin typeface="Work Sans Light Roman"/>
              </a:rPr>
              <a:t>Modelar la información recolectada a través de una base de datos relacional de acuerdo con las necesidades identificadas</a:t>
            </a:r>
          </a:p>
          <a:p>
            <a:pPr marL="342900" indent="-342900">
              <a:buClr>
                <a:srgbClr val="38AA00"/>
              </a:buClr>
              <a:buFont typeface="Calibri Light" panose="020F0302020204030204"/>
              <a:buAutoNum type="arabicPeriod"/>
            </a:pPr>
            <a:r>
              <a:rPr lang="es-ES" sz="1600" dirty="0">
                <a:latin typeface="Work Sans Light Roman"/>
              </a:rPr>
              <a:t>Desarrollar la solución a través de una herramienta FRONT y BACK desde el modelo obtenido</a:t>
            </a:r>
          </a:p>
          <a:p>
            <a:pPr marL="342900" indent="-342900">
              <a:buClr>
                <a:srgbClr val="38AA00"/>
              </a:buClr>
              <a:buFont typeface="Calibri Light" panose="020F0302020204030204"/>
              <a:buAutoNum type="arabicPeriod"/>
            </a:pPr>
            <a:r>
              <a:rPr lang="es-ES" sz="1600" dirty="0">
                <a:latin typeface="Work Sans Light Roman"/>
              </a:rPr>
              <a:t>Realizar las pruebas de integridad, funcionalidad, seguridad y de estrés suficientes del sistema desarrollado.</a:t>
            </a:r>
          </a:p>
          <a:p>
            <a:pPr marL="342900" indent="-342900">
              <a:buClr>
                <a:srgbClr val="38AA00"/>
              </a:buClr>
              <a:buFont typeface="Calibri Light" panose="020F0302020204030204"/>
              <a:buAutoNum type="arabicPeriod"/>
            </a:pPr>
            <a:r>
              <a:rPr lang="es-ES" sz="1600" dirty="0">
                <a:latin typeface="Work Sans Light Roman"/>
              </a:rPr>
              <a:t>Documentar el sistema probado y desarrollado.</a:t>
            </a:r>
          </a:p>
          <a:p>
            <a:pPr marL="342900" indent="-342900">
              <a:buClr>
                <a:srgbClr val="38AA00"/>
              </a:buClr>
              <a:buFont typeface="Calibri Light" panose="020F0302020204030204"/>
              <a:buAutoNum type="arabicPeriod"/>
            </a:pPr>
            <a:r>
              <a:rPr lang="es-ES" sz="1600" dirty="0">
                <a:latin typeface="Work Sans Light Roman"/>
              </a:rPr>
              <a:t>Recibir la aceptación final del usuario a través de un acta entrega y aprobación </a:t>
            </a:r>
            <a:endParaRPr lang="es-CO" sz="1600" dirty="0">
              <a:latin typeface="Work Sans Light Roman"/>
            </a:endParaRP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DC944BE0-A189-57EB-F174-EF90CD6D4892}"/>
              </a:ext>
            </a:extLst>
          </p:cNvPr>
          <p:cNvCxnSpPr/>
          <p:nvPr/>
        </p:nvCxnSpPr>
        <p:spPr>
          <a:xfrm>
            <a:off x="6089838" y="1157254"/>
            <a:ext cx="10026" cy="5283868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89395501-E3CE-4CF9-3D3B-E40FE07C8AD8}"/>
              </a:ext>
            </a:extLst>
          </p:cNvPr>
          <p:cNvCxnSpPr>
            <a:cxnSpLocks/>
          </p:cNvCxnSpPr>
          <p:nvPr/>
        </p:nvCxnSpPr>
        <p:spPr>
          <a:xfrm flipV="1">
            <a:off x="435100" y="2239529"/>
            <a:ext cx="11339038" cy="4227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454EC42F-B3A8-5F93-0BDB-13A73FAE832A}"/>
              </a:ext>
            </a:extLst>
          </p:cNvPr>
          <p:cNvSpPr txBox="1"/>
          <p:nvPr/>
        </p:nvSpPr>
        <p:spPr>
          <a:xfrm>
            <a:off x="437874" y="1717541"/>
            <a:ext cx="5518437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1600" b="1" dirty="0">
                <a:latin typeface="Work Sans Light Roman"/>
              </a:rPr>
              <a:t>UX</a:t>
            </a:r>
            <a:endParaRPr lang="es-ES" b="1" dirty="0">
              <a:ea typeface="Calibri"/>
              <a:cs typeface="Calibri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05056A5-EAF8-4D26-F764-5EA0059D4D8F}"/>
              </a:ext>
            </a:extLst>
          </p:cNvPr>
          <p:cNvSpPr txBox="1"/>
          <p:nvPr/>
        </p:nvSpPr>
        <p:spPr>
          <a:xfrm>
            <a:off x="6377801" y="1717540"/>
            <a:ext cx="5518437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1600" b="1" dirty="0">
                <a:latin typeface="Work Sans Light Roman"/>
                <a:ea typeface="+mn-lt"/>
                <a:cs typeface="+mn-lt"/>
              </a:rPr>
              <a:t>Analista</a:t>
            </a:r>
            <a:endParaRPr lang="es-ES" dirty="0">
              <a:latin typeface="Work Sans Light Roman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0E01C09-C26F-F953-2BF6-5133628D08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19" y="294845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905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EF2AD1B-3B60-98A2-08B3-69B1415F51BE}"/>
              </a:ext>
            </a:extLst>
          </p:cNvPr>
          <p:cNvSpPr txBox="1"/>
          <p:nvPr/>
        </p:nvSpPr>
        <p:spPr>
          <a:xfrm>
            <a:off x="2819400" y="291791"/>
            <a:ext cx="6543907" cy="6001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CO" sz="3300" b="1" dirty="0">
                <a:latin typeface="time"/>
              </a:rPr>
              <a:t>METODOLOGÍA UTILIZADA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C41854-7E21-44AC-F62B-2F6A7E7D8DE1}"/>
              </a:ext>
            </a:extLst>
          </p:cNvPr>
          <p:cNvSpPr txBox="1"/>
          <p:nvPr/>
        </p:nvSpPr>
        <p:spPr>
          <a:xfrm>
            <a:off x="366132" y="1880839"/>
            <a:ext cx="11088029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2400" dirty="0">
                <a:latin typeface="time"/>
              </a:rPr>
              <a:t>Implementaremos el  modelo en  cascada ya que nos permite </a:t>
            </a:r>
            <a:r>
              <a:rPr lang="es-419" sz="2400" dirty="0">
                <a:latin typeface="time"/>
              </a:rPr>
              <a:t> relacionar cada una de las etapas  con la anterior, para considerar los elementos que debes quitar o añadir en la siguiente fase, teniendo en cuenta que cada fase del proyecto se debe completar antes de avanzar a la siguiente.</a:t>
            </a:r>
            <a:endParaRPr lang="es-419" sz="2400" dirty="0">
              <a:latin typeface="time"/>
              <a:cs typeface="Arial"/>
            </a:endParaRPr>
          </a:p>
        </p:txBody>
      </p:sp>
      <p:pic>
        <p:nvPicPr>
          <p:cNvPr id="12" name="Picture 11" descr="Metodología de Cascada – Mtro. Fernando Arciniega">
            <a:extLst>
              <a:ext uri="{FF2B5EF4-FFF2-40B4-BE49-F238E27FC236}">
                <a16:creationId xmlns:a16="http://schemas.microsoft.com/office/drawing/2014/main" id="{7EE715B5-31F4-C1EE-2099-E3BF04C1C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9230" y="3427410"/>
            <a:ext cx="8430320" cy="3134815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B56A63F7-9E39-DEB6-C9E7-7CF6411C99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132" y="316615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0581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60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/>
              </a:rPr>
              <a:t>Alternativa</a:t>
            </a:r>
            <a:endParaRPr lang="es-ES" sz="60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6C31FC2-6C63-0CB9-C78D-1723D5E9DD66}"/>
              </a:ext>
            </a:extLst>
          </p:cNvPr>
          <p:cNvSpPr txBox="1"/>
          <p:nvPr/>
        </p:nvSpPr>
        <p:spPr>
          <a:xfrm>
            <a:off x="456236" y="1735932"/>
            <a:ext cx="10787387" cy="34163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latin typeface="Times New Roman"/>
                <a:ea typeface="+mn-lt"/>
                <a:cs typeface="+mn-lt"/>
              </a:rPr>
              <a:t>Reservify es un proyecto enfocado en automatizar las reservas de restaurantes. La idea es mejorarle la expericienta al usuario al hacer reservas de manera rápida, como reuniones o citas, desde la comodidad de su casa, y que el empleado simplemente revise en la página las reservas que tiene ese día.</a:t>
            </a:r>
            <a:endParaRPr lang="en-US" dirty="0">
              <a:latin typeface="Times New Roman"/>
              <a:ea typeface="+mn-lt"/>
              <a:cs typeface="+mn-lt"/>
            </a:endParaRPr>
          </a:p>
          <a:p>
            <a:pPr marL="457200" indent="-457200">
              <a:buAutoNum type="arabicPeriod"/>
            </a:pPr>
            <a:r>
              <a:rPr lang="es-CO" sz="2400" dirty="0">
                <a:latin typeface="Times New Roman"/>
                <a:ea typeface="+mn-lt"/>
                <a:cs typeface="+mn-lt"/>
              </a:rPr>
              <a:t>Optimización del flujo de clientes al restaurante.</a:t>
            </a:r>
          </a:p>
          <a:p>
            <a:pPr marL="457200" indent="-457200">
              <a:buAutoNum type="arabicPeriod"/>
            </a:pPr>
            <a:r>
              <a:rPr lang="es-CO" sz="2400" dirty="0">
                <a:latin typeface="Times New Roman"/>
                <a:ea typeface="+mn-lt"/>
                <a:cs typeface="+mn-lt"/>
              </a:rPr>
              <a:t>Facilitarle la búsqueda al usuario acerca de los restaurantes más cercanos y/o encontrar un restaurante en específico.</a:t>
            </a:r>
          </a:p>
          <a:p>
            <a:pPr marL="457200" indent="-457200">
              <a:buAutoNum type="arabicPeriod"/>
            </a:pPr>
            <a:r>
              <a:rPr lang="es-CO" sz="2400" dirty="0">
                <a:latin typeface="Times New Roman"/>
                <a:ea typeface="+mn-lt"/>
                <a:cs typeface="+mn-lt"/>
              </a:rPr>
              <a:t>Brindarle al cliente una experiencia más amena usando la aplicación.</a:t>
            </a:r>
          </a:p>
          <a:p>
            <a:endParaRPr lang="es-CO" sz="2400" dirty="0">
              <a:latin typeface="Work Sans Light Roman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5C981F8-D928-8934-494E-F8F14295F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1305" y="5678118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2612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5BB55E-A0AF-120D-3F1C-74CBA3C04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4">
            <a:extLst>
              <a:ext uri="{FF2B5EF4-FFF2-40B4-BE49-F238E27FC236}">
                <a16:creationId xmlns:a16="http://schemas.microsoft.com/office/drawing/2014/main" id="{026FB49B-4FA2-5E79-0CA6-756242526103}"/>
              </a:ext>
            </a:extLst>
          </p:cNvPr>
          <p:cNvSpPr txBox="1"/>
          <p:nvPr/>
        </p:nvSpPr>
        <p:spPr>
          <a:xfrm>
            <a:off x="995422" y="2551837"/>
            <a:ext cx="6453678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s-C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Metodología</a:t>
            </a:r>
          </a:p>
        </p:txBody>
      </p:sp>
      <p:sp>
        <p:nvSpPr>
          <p:cNvPr id="9" name="CuadroTexto 7">
            <a:extLst>
              <a:ext uri="{FF2B5EF4-FFF2-40B4-BE49-F238E27FC236}">
                <a16:creationId xmlns:a16="http://schemas.microsoft.com/office/drawing/2014/main" id="{2A5B7BAF-923C-71D0-8EC3-E1FF9DD03EE7}"/>
              </a:ext>
            </a:extLst>
          </p:cNvPr>
          <p:cNvSpPr txBox="1"/>
          <p:nvPr/>
        </p:nvSpPr>
        <p:spPr>
          <a:xfrm>
            <a:off x="991243" y="3469376"/>
            <a:ext cx="10093711" cy="1015663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s-C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2000" dirty="0">
                <a:ea typeface="+mn-lt"/>
                <a:cs typeface="+mn-lt"/>
              </a:rPr>
              <a:t>1- Listado de requisitos</a:t>
            </a:r>
            <a:endParaRPr lang="en-US" sz="2000" dirty="0">
              <a:ea typeface="+mn-lt"/>
              <a:cs typeface="+mn-lt"/>
            </a:endParaRPr>
          </a:p>
          <a:p>
            <a:r>
              <a:rPr lang="es-CO" sz="2000" dirty="0">
                <a:ea typeface="+mn-lt"/>
                <a:cs typeface="+mn-lt"/>
              </a:rPr>
              <a:t>2- Diagramas estructurales de datos (casos de uso, MER, MR)</a:t>
            </a:r>
            <a:endParaRPr lang="en-US" sz="2000" dirty="0">
              <a:ea typeface="+mn-lt"/>
              <a:cs typeface="+mn-lt"/>
            </a:endParaRPr>
          </a:p>
          <a:p>
            <a:r>
              <a:rPr lang="es-CO" sz="2000" dirty="0">
                <a:ea typeface="+mn-lt"/>
                <a:cs typeface="+mn-lt"/>
              </a:rPr>
              <a:t>3- Nuevo esquema de procesos con la solución implementada</a:t>
            </a:r>
            <a:endParaRPr lang="es-ES" dirty="0">
              <a:ea typeface="+mn-lt"/>
              <a:cs typeface="+mn-lt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8E25729-C646-043C-0AFB-CB6F5ABD06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612" y="5045984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657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6C31FC2-6C63-0CB9-C78D-1723D5E9DD66}"/>
              </a:ext>
            </a:extLst>
          </p:cNvPr>
          <p:cNvSpPr txBox="1"/>
          <p:nvPr/>
        </p:nvSpPr>
        <p:spPr>
          <a:xfrm>
            <a:off x="456236" y="955346"/>
            <a:ext cx="305331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Times New Roman"/>
                <a:cs typeface="Times New Roman"/>
              </a:rPr>
              <a:t>1- Listado de requerimientos</a:t>
            </a:r>
            <a:endParaRPr lang="en-US" dirty="0">
              <a:latin typeface="Times New Roman"/>
              <a:cs typeface="Times New Roman"/>
            </a:endParaRPr>
          </a:p>
          <a:p>
            <a:endParaRPr lang="es-CO" sz="1600" dirty="0">
              <a:latin typeface="Times New Roman"/>
              <a:cs typeface="Times New Roman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3C1BC28-1A3C-95B9-ED9D-DE94B74B8590}"/>
              </a:ext>
            </a:extLst>
          </p:cNvPr>
          <p:cNvSpPr txBox="1"/>
          <p:nvPr/>
        </p:nvSpPr>
        <p:spPr>
          <a:xfrm>
            <a:off x="3048000" y="297134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600" dirty="0">
                <a:hlinkClick r:id="rId3"/>
              </a:rPr>
              <a:t>REQUERIMIENTOS</a:t>
            </a:r>
            <a:endParaRPr lang="es-CO" sz="36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E215B05-DE34-5284-4469-2F508180F3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1305" y="5678118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15522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56395-384E-C7A3-2AFA-936A71EBD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6AAF15-62AE-D158-4821-37D11116594A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11785BB-89BE-758F-F7EE-06B2FCBD1B23}"/>
              </a:ext>
            </a:extLst>
          </p:cNvPr>
          <p:cNvSpPr txBox="1"/>
          <p:nvPr/>
        </p:nvSpPr>
        <p:spPr>
          <a:xfrm>
            <a:off x="456236" y="946054"/>
            <a:ext cx="5518437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Work Sans Light Roman"/>
              </a:rPr>
              <a:t>Especificar:</a:t>
            </a:r>
          </a:p>
          <a:p>
            <a:r>
              <a:rPr lang="es-CO" sz="1600" dirty="0">
                <a:latin typeface="Work Sans Light Roman"/>
              </a:rPr>
              <a:t>2- Diagramas estructurales de datos (casos de uso, MER, MR)</a:t>
            </a:r>
          </a:p>
        </p:txBody>
      </p:sp>
      <p:sp>
        <p:nvSpPr>
          <p:cNvPr id="10" name="CuadroTexto 2">
            <a:extLst>
              <a:ext uri="{FF2B5EF4-FFF2-40B4-BE49-F238E27FC236}">
                <a16:creationId xmlns:a16="http://schemas.microsoft.com/office/drawing/2014/main" id="{2DB21563-97FF-4FFF-7229-9B0B253D58BE}"/>
              </a:ext>
            </a:extLst>
          </p:cNvPr>
          <p:cNvSpPr txBox="1"/>
          <p:nvPr/>
        </p:nvSpPr>
        <p:spPr>
          <a:xfrm>
            <a:off x="2349647" y="573477"/>
            <a:ext cx="551843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2400" dirty="0">
                <a:latin typeface="Work Sans Light Roman"/>
              </a:rPr>
              <a:t>Casos de uso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9E88B8A-2333-BDFD-BCC9-13630E8E5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3448" y="451651"/>
            <a:ext cx="1938011" cy="71318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F421EDF-881F-CB9F-BE63-906D88C07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8312" y="1687617"/>
            <a:ext cx="7195375" cy="480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32222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7DC6B-0728-CD23-439C-5B80DAD3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606BC9-E40C-9F09-C9AC-23FA39819ED6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36B6709-B359-A376-B6FF-DF0C60024BA9}"/>
              </a:ext>
            </a:extLst>
          </p:cNvPr>
          <p:cNvSpPr txBox="1"/>
          <p:nvPr/>
        </p:nvSpPr>
        <p:spPr>
          <a:xfrm>
            <a:off x="456236" y="946054"/>
            <a:ext cx="9189891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Work Sans Light Roman"/>
              </a:rPr>
              <a:t>Especificar:</a:t>
            </a:r>
          </a:p>
          <a:p>
            <a:r>
              <a:rPr lang="es-CO" sz="1600" dirty="0">
                <a:latin typeface="Work Sans Light Roman"/>
              </a:rPr>
              <a:t>2- Diagramas estructurales de datos (casos de uso, MER, MR)</a:t>
            </a:r>
            <a:endParaRPr lang="es-CO" dirty="0">
              <a:latin typeface="Calibri"/>
              <a:ea typeface="Calibri"/>
              <a:cs typeface="Calibri"/>
            </a:endParaRPr>
          </a:p>
        </p:txBody>
      </p:sp>
      <p:sp>
        <p:nvSpPr>
          <p:cNvPr id="8" name="CuadroTexto 2">
            <a:extLst>
              <a:ext uri="{FF2B5EF4-FFF2-40B4-BE49-F238E27FC236}">
                <a16:creationId xmlns:a16="http://schemas.microsoft.com/office/drawing/2014/main" id="{7C7548EA-3198-EC57-7D54-9939E0907792}"/>
              </a:ext>
            </a:extLst>
          </p:cNvPr>
          <p:cNvSpPr txBox="1"/>
          <p:nvPr/>
        </p:nvSpPr>
        <p:spPr>
          <a:xfrm>
            <a:off x="2724884" y="2551837"/>
            <a:ext cx="7172151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s-C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3600" dirty="0">
                <a:latin typeface="Work Sans Light Roman"/>
              </a:rPr>
              <a:t>MER  </a:t>
            </a:r>
            <a:r>
              <a:rPr lang="es-CO" sz="3600" dirty="0">
                <a:latin typeface="Work Sans Light Roman"/>
                <a:hlinkClick r:id="rId3"/>
              </a:rPr>
              <a:t>https://mermaid.ai/d/a806b4a5-34d9-4425-80bc-ef8613de0ffd</a:t>
            </a:r>
            <a:endParaRPr lang="es-CO" sz="3600" dirty="0">
              <a:latin typeface="Work Sans Light Roman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ACC07D0-BF94-C7B3-623F-A1AC765C94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3039" y="493029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267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2BCD5-A00E-48FB-D0A8-9E2D6F6CF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7844E8-D7DB-2A1E-825C-97EE78DEB577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B743D65-7718-8820-343A-AA1A2DC493DA}"/>
              </a:ext>
            </a:extLst>
          </p:cNvPr>
          <p:cNvSpPr txBox="1"/>
          <p:nvPr/>
        </p:nvSpPr>
        <p:spPr>
          <a:xfrm>
            <a:off x="456236" y="946054"/>
            <a:ext cx="10630764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Work Sans Light Roman"/>
              </a:rPr>
              <a:t>Especificar:</a:t>
            </a:r>
          </a:p>
          <a:p>
            <a:r>
              <a:rPr lang="es-CO" sz="1600" dirty="0">
                <a:latin typeface="Work Sans Light Roman"/>
              </a:rPr>
              <a:t>2- Diagramas estructurales de datos (casos de uso, MER, MR) </a:t>
            </a:r>
            <a:endParaRPr lang="es-CO" dirty="0"/>
          </a:p>
        </p:txBody>
      </p:sp>
      <p:sp>
        <p:nvSpPr>
          <p:cNvPr id="6" name="CuadroTexto 2">
            <a:extLst>
              <a:ext uri="{FF2B5EF4-FFF2-40B4-BE49-F238E27FC236}">
                <a16:creationId xmlns:a16="http://schemas.microsoft.com/office/drawing/2014/main" id="{D79C24E2-89C7-3A00-3A10-23D1B7A890A2}"/>
              </a:ext>
            </a:extLst>
          </p:cNvPr>
          <p:cNvSpPr txBox="1"/>
          <p:nvPr/>
        </p:nvSpPr>
        <p:spPr>
          <a:xfrm>
            <a:off x="290597" y="3006435"/>
            <a:ext cx="10962042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s-C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4000" dirty="0">
                <a:latin typeface="Work Sans Light Roman"/>
              </a:rPr>
              <a:t>MR   </a:t>
            </a:r>
            <a:r>
              <a:rPr lang="es-CO" sz="4000" dirty="0">
                <a:latin typeface="Work Sans Light Roman"/>
                <a:hlinkClick r:id="rId3"/>
              </a:rPr>
              <a:t>https://mermaid.ai/d/29c2b9ab-3c09-44c8-871e-13636b80d335</a:t>
            </a:r>
            <a:endParaRPr lang="es-CO" sz="4000" dirty="0">
              <a:latin typeface="Work Sans Light Roman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0A810AE-4247-C8C9-06EF-01EC5E27B0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646" y="631353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3160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921C9-3507-11C5-F13A-58320ECA5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3804DA-B92F-713C-5A25-89277F00ED45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324DA40-1ABE-073F-6C9F-5CD14F82F50E}"/>
              </a:ext>
            </a:extLst>
          </p:cNvPr>
          <p:cNvSpPr txBox="1"/>
          <p:nvPr/>
        </p:nvSpPr>
        <p:spPr>
          <a:xfrm>
            <a:off x="456236" y="946054"/>
            <a:ext cx="5013457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Work Sans Light Roman"/>
              </a:rPr>
              <a:t>Especificar:</a:t>
            </a:r>
            <a:endParaRPr lang="es-CO" sz="1100" dirty="0">
              <a:latin typeface="Work Sans Light Roman"/>
            </a:endParaRPr>
          </a:p>
          <a:p>
            <a:r>
              <a:rPr lang="en-US" sz="1400" dirty="0">
                <a:latin typeface="Calibri"/>
                <a:ea typeface="Calibri"/>
                <a:cs typeface="Calibri"/>
              </a:rPr>
              <a:t>3 - Nuevo esquema de procesos con la solución implementada</a:t>
            </a:r>
            <a:endParaRPr lang="es-CO" sz="14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5A38BA6-D251-92F7-3780-48E0980745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5677" y="1500052"/>
            <a:ext cx="4174573" cy="26030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598B1D5F-5A9F-7CC8-789A-F371ABE102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76064" y="3809725"/>
            <a:ext cx="4174573" cy="2098568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B330113-E0D5-8989-7A66-700B92BDAE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5177" y="425709"/>
            <a:ext cx="1938011" cy="713188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F9AAB9EC-5618-8D8E-90D2-8E871FFA104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0378" y="3809725"/>
            <a:ext cx="4443762" cy="2702796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7CF0E539-2338-6915-4FEA-E6E4F06E31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05184" y="1540877"/>
            <a:ext cx="4145453" cy="2521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434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B6F714C-A6B0-54AE-507A-D0700714D94B}"/>
              </a:ext>
            </a:extLst>
          </p:cNvPr>
          <p:cNvSpPr txBox="1">
            <a:spLocks/>
          </p:cNvSpPr>
          <p:nvPr/>
        </p:nvSpPr>
        <p:spPr>
          <a:xfrm>
            <a:off x="456236" y="416690"/>
            <a:ext cx="9815809" cy="5278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36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 BOLD ROMAN" pitchFamily="2" charset="77"/>
              </a:rPr>
              <a:t>Cronograma</a:t>
            </a:r>
          </a:p>
        </p:txBody>
      </p:sp>
      <p:pic>
        <p:nvPicPr>
          <p:cNvPr id="2" name="Picture 1" descr="A white and black box with black text&#10;&#10;AI-generated content may be incorrect.">
            <a:extLst>
              <a:ext uri="{FF2B5EF4-FFF2-40B4-BE49-F238E27FC236}">
                <a16:creationId xmlns:a16="http://schemas.microsoft.com/office/drawing/2014/main" id="{6F7079A7-0924-504D-AC9E-700C66EF43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4" b="4469"/>
          <a:stretch>
            <a:fillRect/>
          </a:stretch>
        </p:blipFill>
        <p:spPr>
          <a:xfrm>
            <a:off x="330679" y="1527233"/>
            <a:ext cx="11717558" cy="475209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34D104A-507E-E208-1C7B-35C0E6D1CA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766" y="335595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2924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7">
            <a:extLst>
              <a:ext uri="{FF2B5EF4-FFF2-40B4-BE49-F238E27FC236}">
                <a16:creationId xmlns:a16="http://schemas.microsoft.com/office/drawing/2014/main" id="{F12A8F68-C159-460C-8382-57BE0B0057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0954" y="3858682"/>
            <a:ext cx="233838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s-CO" altLang="es-419" sz="1800" dirty="0">
                <a:latin typeface="Arial"/>
                <a:cs typeface="Arial"/>
              </a:rPr>
              <a:t>Vite</a:t>
            </a:r>
            <a:endParaRPr lang="en-U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E1BC8CC-86BB-AC3D-D21C-CCFBA4472A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69641" y="1503865"/>
            <a:ext cx="155253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s-ES" altLang="es-419" sz="1800" dirty="0">
                <a:latin typeface="Arial" panose="020B0604020202020204" pitchFamily="34" charset="0"/>
              </a:rPr>
              <a:t>T</a:t>
            </a:r>
            <a:r>
              <a:rPr lang="es-CO" altLang="es-419" sz="1800" dirty="0">
                <a:latin typeface="Arial" panose="020B0604020202020204" pitchFamily="34" charset="0"/>
              </a:rPr>
              <a:t>ypescript</a:t>
            </a:r>
            <a:endParaRPr lang="es-MX" altLang="es-419" sz="1800" dirty="0">
              <a:latin typeface="Arial" panose="020B0604020202020204" pitchFamily="34" charset="0"/>
            </a:endParaRPr>
          </a:p>
        </p:txBody>
      </p:sp>
      <p:sp>
        <p:nvSpPr>
          <p:cNvPr id="8" name="CuadroTexto 6">
            <a:extLst>
              <a:ext uri="{FF2B5EF4-FFF2-40B4-BE49-F238E27FC236}">
                <a16:creationId xmlns:a16="http://schemas.microsoft.com/office/drawing/2014/main" id="{39C6073F-65D2-28A8-46A1-2A946C1ECD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26709" y="4228569"/>
            <a:ext cx="159315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s-CO" altLang="es-419" sz="1800" dirty="0">
                <a:latin typeface="Arial"/>
                <a:cs typeface="Arial"/>
              </a:rPr>
              <a:t>TailwindCSS</a:t>
            </a:r>
            <a:endParaRPr lang="es-MX" altLang="es-419" sz="1800" dirty="0">
              <a:latin typeface="Arial" panose="020B0604020202020204" pitchFamily="34" charset="0"/>
            </a:endParaRPr>
          </a:p>
        </p:txBody>
      </p:sp>
      <p:pic>
        <p:nvPicPr>
          <p:cNvPr id="11" name="Graphic 10" descr="Tailwind CSS Logo PNG Vector SVG, EPS, Ai formats (2.30 KB) Free Download">
            <a:extLst>
              <a:ext uri="{FF2B5EF4-FFF2-40B4-BE49-F238E27FC236}">
                <a16:creationId xmlns:a16="http://schemas.microsoft.com/office/drawing/2014/main" id="{9AD7F5EE-0C79-B4FA-2EF7-80FCB173D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4996" y="4754770"/>
            <a:ext cx="3198540" cy="1089634"/>
          </a:xfrm>
          <a:prstGeom prst="rect">
            <a:avLst/>
          </a:prstGeom>
        </p:spPr>
      </p:pic>
      <p:sp>
        <p:nvSpPr>
          <p:cNvPr id="13" name="Título 1">
            <a:extLst>
              <a:ext uri="{FF2B5EF4-FFF2-40B4-BE49-F238E27FC236}">
                <a16:creationId xmlns:a16="http://schemas.microsoft.com/office/drawing/2014/main" id="{BF50B7DD-3A3A-A19E-D294-8777D618DC98}"/>
              </a:ext>
            </a:extLst>
          </p:cNvPr>
          <p:cNvSpPr txBox="1">
            <a:spLocks/>
          </p:cNvSpPr>
          <p:nvPr/>
        </p:nvSpPr>
        <p:spPr>
          <a:xfrm>
            <a:off x="456236" y="416690"/>
            <a:ext cx="9815809" cy="527874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3600" b="1" dirty="0">
                <a:solidFill>
                  <a:prstClr val="white"/>
                </a:solidFill>
                <a:latin typeface="WORK SANS BOLD ROMAN"/>
              </a:rPr>
              <a:t>Herramientas FRONTEND</a:t>
            </a:r>
            <a:endParaRPr lang="es-CO" sz="3600" b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pic>
        <p:nvPicPr>
          <p:cNvPr id="2" name="Picture 1" descr="File:Vitejs-logo.svg - Wikipedia">
            <a:extLst>
              <a:ext uri="{FF2B5EF4-FFF2-40B4-BE49-F238E27FC236}">
                <a16:creationId xmlns:a16="http://schemas.microsoft.com/office/drawing/2014/main" id="{5E2B832C-8F32-550E-077B-FDA69B3993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2014" y="4322096"/>
            <a:ext cx="2111793" cy="205258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id="{1C053E9F-987A-3150-F516-B5332B26E8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5909" y="1850675"/>
            <a:ext cx="232765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s-CO" altLang="es-419" sz="1800" dirty="0">
                <a:latin typeface="Arial"/>
                <a:cs typeface="Arial"/>
              </a:rPr>
              <a:t>React</a:t>
            </a:r>
            <a:endParaRPr lang="en-US" dirty="0"/>
          </a:p>
        </p:txBody>
      </p:sp>
      <p:pic>
        <p:nvPicPr>
          <p:cNvPr id="9" name="Graphic 7" descr="React Mono SVG Logo | Free SVG logos &amp; icons download | SVGmix">
            <a:extLst>
              <a:ext uri="{FF2B5EF4-FFF2-40B4-BE49-F238E27FC236}">
                <a16:creationId xmlns:a16="http://schemas.microsoft.com/office/drawing/2014/main" id="{07DF8691-D4ED-FE7F-050B-6863516C81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4059" y="2316629"/>
            <a:ext cx="2743198" cy="896470"/>
          </a:xfrm>
          <a:prstGeom prst="rect">
            <a:avLst/>
          </a:prstGeom>
        </p:spPr>
      </p:pic>
      <p:pic>
        <p:nvPicPr>
          <p:cNvPr id="1026" name="Picture 2" descr="TypeScript Tutorial: A Guide to Using the Programming Language - The New  Stack">
            <a:extLst>
              <a:ext uri="{FF2B5EF4-FFF2-40B4-BE49-F238E27FC236}">
                <a16:creationId xmlns:a16="http://schemas.microsoft.com/office/drawing/2014/main" id="{0A4E263A-ACD4-9F11-D8BC-7038E9080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5357" y="1873197"/>
            <a:ext cx="3262584" cy="1339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0E91DE1-D98D-2CED-A2DB-ED1076395E4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13766" y="335595"/>
            <a:ext cx="1938011" cy="713188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4427671-52B8-FF4F-0D3B-84B2D9767D0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06681" y="2180330"/>
            <a:ext cx="3686224" cy="3686224"/>
          </a:xfrm>
          <a:prstGeom prst="rect">
            <a:avLst/>
          </a:prstGeom>
        </p:spPr>
      </p:pic>
      <p:sp>
        <p:nvSpPr>
          <p:cNvPr id="12" name="CuadroTexto 7">
            <a:extLst>
              <a:ext uri="{FF2B5EF4-FFF2-40B4-BE49-F238E27FC236}">
                <a16:creationId xmlns:a16="http://schemas.microsoft.com/office/drawing/2014/main" id="{6A7233D3-89B4-C3BC-ECEE-0561F0D340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4071" y="2242724"/>
            <a:ext cx="232765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s-CO" altLang="es-419" sz="1800" dirty="0">
                <a:latin typeface="Arial"/>
                <a:cs typeface="Arial"/>
              </a:rPr>
              <a:t>Node JS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9885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955CD-CB72-A91E-FFA9-CD73CF8D7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7">
            <a:extLst>
              <a:ext uri="{FF2B5EF4-FFF2-40B4-BE49-F238E27FC236}">
                <a16:creationId xmlns:a16="http://schemas.microsoft.com/office/drawing/2014/main" id="{CF6E60CE-A3A8-5DD3-02DA-E5559D328B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204402"/>
            <a:ext cx="367691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s-ES" altLang="es-419" sz="1200" dirty="0">
                <a:latin typeface="Arial" panose="020B0604020202020204" pitchFamily="34" charset="0"/>
                <a:cs typeface="Arial"/>
              </a:rPr>
              <a:t> </a:t>
            </a:r>
            <a:r>
              <a:rPr lang="es-ES" altLang="es-419" sz="1200" dirty="0" err="1">
                <a:latin typeface="Arial" panose="020B0604020202020204" pitchFamily="34" charset="0"/>
                <a:cs typeface="Arial"/>
              </a:rPr>
              <a:t>framework</a:t>
            </a:r>
            <a:r>
              <a:rPr lang="es-ES" altLang="es-419" sz="1200" dirty="0">
                <a:latin typeface="Arial" panose="020B0604020202020204" pitchFamily="34" charset="0"/>
                <a:cs typeface="Arial"/>
              </a:rPr>
              <a:t> web en Python para construir la API REST (rutas, validación de </a:t>
            </a:r>
            <a:r>
              <a:rPr lang="es-ES" altLang="es-419" sz="1200" dirty="0" err="1">
                <a:latin typeface="Arial" panose="020B0604020202020204" pitchFamily="34" charset="0"/>
                <a:cs typeface="Arial"/>
              </a:rPr>
              <a:t>request</a:t>
            </a:r>
            <a:r>
              <a:rPr lang="es-ES" altLang="es-419" sz="1200" dirty="0">
                <a:latin typeface="Arial" panose="020B0604020202020204" pitchFamily="34" charset="0"/>
                <a:cs typeface="Arial"/>
              </a:rPr>
              <a:t>, etc.).</a:t>
            </a:r>
            <a:endParaRPr lang="es-CO" altLang="es-419" sz="1200" dirty="0">
              <a:latin typeface="Arial" panose="020B0604020202020204" pitchFamily="34" charset="0"/>
              <a:cs typeface="Arial"/>
            </a:endParaRPr>
          </a:p>
        </p:txBody>
      </p:sp>
      <p:pic>
        <p:nvPicPr>
          <p:cNvPr id="5" name="Picture 4" descr="Aprende FastAPI desde 0">
            <a:extLst>
              <a:ext uri="{FF2B5EF4-FFF2-40B4-BE49-F238E27FC236}">
                <a16:creationId xmlns:a16="http://schemas.microsoft.com/office/drawing/2014/main" id="{F4ECFFAF-B61B-C6ED-963C-D35896349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77074" y="1070797"/>
            <a:ext cx="4041818" cy="1479226"/>
          </a:xfrm>
          <a:prstGeom prst="rect">
            <a:avLst/>
          </a:prstGeom>
        </p:spPr>
      </p:pic>
      <p:sp>
        <p:nvSpPr>
          <p:cNvPr id="15" name="Título 1">
            <a:extLst>
              <a:ext uri="{FF2B5EF4-FFF2-40B4-BE49-F238E27FC236}">
                <a16:creationId xmlns:a16="http://schemas.microsoft.com/office/drawing/2014/main" id="{5FC7BB51-EE3A-FD3D-2672-68FB69D9E29E}"/>
              </a:ext>
            </a:extLst>
          </p:cNvPr>
          <p:cNvSpPr txBox="1">
            <a:spLocks/>
          </p:cNvSpPr>
          <p:nvPr/>
        </p:nvSpPr>
        <p:spPr>
          <a:xfrm>
            <a:off x="456236" y="416690"/>
            <a:ext cx="9815809" cy="527874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tabLst/>
              <a:defRPr/>
            </a:pPr>
            <a:r>
              <a:rPr lang="es-CO" sz="3600" b="1" dirty="0">
                <a:solidFill>
                  <a:prstClr val="white"/>
                </a:solidFill>
                <a:latin typeface="Times New Roman"/>
                <a:ea typeface="Calibri Light"/>
                <a:cs typeface="Calibri Light"/>
              </a:rPr>
              <a:t>Herramientas BACKEND</a:t>
            </a:r>
          </a:p>
        </p:txBody>
      </p:sp>
      <p:pic>
        <p:nvPicPr>
          <p:cNvPr id="2" name="Picture 1" descr="SQLAlchemy-logo.png — Quintagroup">
            <a:extLst>
              <a:ext uri="{FF2B5EF4-FFF2-40B4-BE49-F238E27FC236}">
                <a16:creationId xmlns:a16="http://schemas.microsoft.com/office/drawing/2014/main" id="{8085B147-4559-718B-2526-1150B8B6BB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497" y="5008977"/>
            <a:ext cx="3676916" cy="778226"/>
          </a:xfrm>
          <a:prstGeom prst="rect">
            <a:avLst/>
          </a:prstGeom>
        </p:spPr>
      </p:pic>
      <p:sp>
        <p:nvSpPr>
          <p:cNvPr id="3" name="CuadroTexto 7">
            <a:extLst>
              <a:ext uri="{FF2B5EF4-FFF2-40B4-BE49-F238E27FC236}">
                <a16:creationId xmlns:a16="http://schemas.microsoft.com/office/drawing/2014/main" id="{26A7BF56-C83C-52E2-7F66-4D0CB98230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66514" y="5074923"/>
            <a:ext cx="1842359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s-ES" altLang="es-419" sz="1200" dirty="0">
                <a:latin typeface="Arial"/>
                <a:cs typeface="Arial"/>
              </a:rPr>
              <a:t>servidor ASGI para ejecutar </a:t>
            </a:r>
            <a:r>
              <a:rPr lang="es-ES" altLang="es-419" sz="1200" dirty="0" err="1">
                <a:latin typeface="Arial"/>
                <a:cs typeface="Arial"/>
              </a:rPr>
              <a:t>FastAPI</a:t>
            </a:r>
            <a:r>
              <a:rPr lang="es-ES" altLang="es-419" sz="1200" dirty="0">
                <a:latin typeface="Arial"/>
                <a:cs typeface="Arial"/>
              </a:rPr>
              <a:t> (con --</a:t>
            </a:r>
            <a:r>
              <a:rPr lang="es-ES" altLang="es-419" sz="1200" dirty="0" err="1">
                <a:latin typeface="Arial"/>
                <a:cs typeface="Arial"/>
              </a:rPr>
              <a:t>reload</a:t>
            </a:r>
            <a:r>
              <a:rPr lang="es-ES" altLang="es-419" sz="1200" dirty="0">
                <a:latin typeface="Arial"/>
                <a:cs typeface="Arial"/>
              </a:rPr>
              <a:t> en desarrollo).</a:t>
            </a:r>
            <a:endParaRPr lang="es-CO" altLang="es-419" sz="1200" dirty="0">
              <a:latin typeface="Arial" panose="020B0604020202020204" pitchFamily="34" charset="0"/>
              <a:cs typeface="Arial"/>
            </a:endParaRPr>
          </a:p>
        </p:txBody>
      </p:sp>
      <p:sp>
        <p:nvSpPr>
          <p:cNvPr id="10" name="CuadroTexto 7">
            <a:extLst>
              <a:ext uri="{FF2B5EF4-FFF2-40B4-BE49-F238E27FC236}">
                <a16:creationId xmlns:a16="http://schemas.microsoft.com/office/drawing/2014/main" id="{FF56FD8C-8690-550A-C47A-6121180489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3127" y="5787203"/>
            <a:ext cx="232765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s-ES" altLang="es-419" sz="1200" dirty="0">
                <a:latin typeface="Arial"/>
                <a:cs typeface="Arial"/>
              </a:rPr>
              <a:t>capa de acceso a base de datos </a:t>
            </a:r>
            <a:endParaRPr lang="es-CO" altLang="es-419" sz="1200" dirty="0">
              <a:latin typeface="Arial" panose="020B0604020202020204" pitchFamily="34" charset="0"/>
              <a:cs typeface="Arial"/>
            </a:endParaRPr>
          </a:p>
        </p:txBody>
      </p:sp>
      <p:pic>
        <p:nvPicPr>
          <p:cNvPr id="2050" name="Picture 2" descr="uvicorn">
            <a:extLst>
              <a:ext uri="{FF2B5EF4-FFF2-40B4-BE49-F238E27FC236}">
                <a16:creationId xmlns:a16="http://schemas.microsoft.com/office/drawing/2014/main" id="{FC20B364-15E8-49D5-773A-D2DDC23487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7929" y="4654137"/>
            <a:ext cx="1487905" cy="1487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ydantic | Sequoia Capital">
            <a:extLst>
              <a:ext uri="{FF2B5EF4-FFF2-40B4-BE49-F238E27FC236}">
                <a16:creationId xmlns:a16="http://schemas.microsoft.com/office/drawing/2014/main" id="{62EAAA64-F034-8742-3D86-BAE66444A7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1311" y="1509935"/>
            <a:ext cx="3303173" cy="656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uadroTexto 7">
            <a:extLst>
              <a:ext uri="{FF2B5EF4-FFF2-40B4-BE49-F238E27FC236}">
                <a16:creationId xmlns:a16="http://schemas.microsoft.com/office/drawing/2014/main" id="{E5CCE6B3-9540-0627-3718-E6A89D73EC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8827" y="2204402"/>
            <a:ext cx="258127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s-ES" altLang="es-419" sz="1200" dirty="0">
                <a:latin typeface="Arial"/>
                <a:cs typeface="Arial"/>
              </a:rPr>
              <a:t> modelos/</a:t>
            </a:r>
            <a:r>
              <a:rPr lang="es-ES" altLang="es-419" sz="1200" dirty="0" err="1">
                <a:latin typeface="Arial"/>
                <a:cs typeface="Arial"/>
              </a:rPr>
              <a:t>schemas</a:t>
            </a:r>
            <a:r>
              <a:rPr lang="es-ES" altLang="es-419" sz="1200" dirty="0">
                <a:latin typeface="Arial"/>
                <a:cs typeface="Arial"/>
              </a:rPr>
              <a:t> para validar y </a:t>
            </a:r>
            <a:r>
              <a:rPr lang="es-ES" altLang="es-419" sz="1200" dirty="0" err="1">
                <a:latin typeface="Arial"/>
                <a:cs typeface="Arial"/>
              </a:rPr>
              <a:t>tipar</a:t>
            </a:r>
            <a:r>
              <a:rPr lang="es-ES" altLang="es-419" sz="1200" dirty="0">
                <a:latin typeface="Arial"/>
                <a:cs typeface="Arial"/>
              </a:rPr>
              <a:t> los cuerpos de las peticiones </a:t>
            </a:r>
            <a:endParaRPr lang="es-CO" altLang="es-419" sz="1200" dirty="0">
              <a:latin typeface="Arial" panose="020B0604020202020204" pitchFamily="34" charset="0"/>
              <a:cs typeface="Arial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96BF63AE-FEFD-5F9C-FE94-B53D85219C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78547" y="3054114"/>
            <a:ext cx="3458877" cy="96848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694F53C-C06E-8D7A-A283-82AA34684F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13766" y="335595"/>
            <a:ext cx="1938011" cy="713188"/>
          </a:xfrm>
          <a:prstGeom prst="rect">
            <a:avLst/>
          </a:prstGeom>
        </p:spPr>
      </p:pic>
      <p:sp>
        <p:nvSpPr>
          <p:cNvPr id="4" name="CuadroTexto 7">
            <a:extLst>
              <a:ext uri="{FF2B5EF4-FFF2-40B4-BE49-F238E27FC236}">
                <a16:creationId xmlns:a16="http://schemas.microsoft.com/office/drawing/2014/main" id="{92104FF3-DE95-8DE3-A9C6-ABE7882ECD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0424" y="4203171"/>
            <a:ext cx="232765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s-ES" altLang="es-419" sz="1200" dirty="0">
                <a:latin typeface="Arial"/>
                <a:cs typeface="Arial"/>
              </a:rPr>
              <a:t>Python es un lenguaje de programación utilizado.</a:t>
            </a:r>
            <a:endParaRPr lang="es-CO" altLang="es-419" sz="1200" dirty="0">
              <a:latin typeface="Arial" panose="020B0604020202020204" pitchFamily="34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29245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E37EC2-A2C8-D44E-8A0A-E0913ACAB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">
            <a:extLst>
              <a:ext uri="{FF2B5EF4-FFF2-40B4-BE49-F238E27FC236}">
                <a16:creationId xmlns:a16="http://schemas.microsoft.com/office/drawing/2014/main" id="{CB6DFC8B-EA4C-A5F4-079E-FBEB71B345A6}"/>
              </a:ext>
            </a:extLst>
          </p:cNvPr>
          <p:cNvSpPr txBox="1">
            <a:spLocks/>
          </p:cNvSpPr>
          <p:nvPr/>
        </p:nvSpPr>
        <p:spPr>
          <a:xfrm>
            <a:off x="456236" y="416690"/>
            <a:ext cx="9815809" cy="527874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tabLst/>
              <a:defRPr/>
            </a:pPr>
            <a:r>
              <a:rPr lang="es-CO" sz="3600" b="1" dirty="0">
                <a:solidFill>
                  <a:prstClr val="white"/>
                </a:solidFill>
                <a:latin typeface="Times New Roman"/>
                <a:ea typeface="Calibri Light"/>
                <a:cs typeface="Calibri Light"/>
              </a:rPr>
              <a:t>Herramientas BASE DE DATOS</a:t>
            </a:r>
          </a:p>
        </p:txBody>
      </p:sp>
      <p:pic>
        <p:nvPicPr>
          <p:cNvPr id="4" name="Imagen 5">
            <a:extLst>
              <a:ext uri="{FF2B5EF4-FFF2-40B4-BE49-F238E27FC236}">
                <a16:creationId xmlns:a16="http://schemas.microsoft.com/office/drawing/2014/main" id="{47E0DFFE-26FD-3ED9-2155-9135EE3A01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7072" y="3194365"/>
            <a:ext cx="2134135" cy="2201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CuadroTexto 6">
            <a:extLst>
              <a:ext uri="{FF2B5EF4-FFF2-40B4-BE49-F238E27FC236}">
                <a16:creationId xmlns:a16="http://schemas.microsoft.com/office/drawing/2014/main" id="{70FFD65B-713C-3A16-3350-5E039B8AD4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1976" y="2444929"/>
            <a:ext cx="15843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s-CO" altLang="es-419" sz="1800" dirty="0">
                <a:latin typeface="Arial" panose="020B0604020202020204" pitchFamily="34" charset="0"/>
              </a:rPr>
              <a:t>PostgreSQL</a:t>
            </a:r>
            <a:endParaRPr lang="es-MX" altLang="es-419" sz="1800" dirty="0">
              <a:latin typeface="Arial" panose="020B0604020202020204" pitchFamily="34" charset="0"/>
            </a:endParaRPr>
          </a:p>
        </p:txBody>
      </p:sp>
      <p:pic>
        <p:nvPicPr>
          <p:cNvPr id="7" name="Picture 3" descr="GitHub - Wikipedia, la enciclopedia libre">
            <a:extLst>
              <a:ext uri="{FF2B5EF4-FFF2-40B4-BE49-F238E27FC236}">
                <a16:creationId xmlns:a16="http://schemas.microsoft.com/office/drawing/2014/main" id="{0CCC151E-C3AC-C9D9-F08A-EAB9F6900E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8500" y="4233863"/>
            <a:ext cx="1883834" cy="1766359"/>
          </a:xfrm>
          <a:prstGeom prst="rect">
            <a:avLst/>
          </a:prstGeom>
        </p:spPr>
      </p:pic>
      <p:pic>
        <p:nvPicPr>
          <p:cNvPr id="8" name="Picture 8" descr="Que es Git y para que sirve? | Victor Robles">
            <a:extLst>
              <a:ext uri="{FF2B5EF4-FFF2-40B4-BE49-F238E27FC236}">
                <a16:creationId xmlns:a16="http://schemas.microsoft.com/office/drawing/2014/main" id="{A99A0245-800C-BA08-FEE3-4167B1B06C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4733" y="4110567"/>
            <a:ext cx="1875367" cy="1885950"/>
          </a:xfrm>
          <a:prstGeom prst="rect">
            <a:avLst/>
          </a:prstGeom>
        </p:spPr>
      </p:pic>
      <p:sp>
        <p:nvSpPr>
          <p:cNvPr id="10" name="CuadroTexto 7">
            <a:extLst>
              <a:ext uri="{FF2B5EF4-FFF2-40B4-BE49-F238E27FC236}">
                <a16:creationId xmlns:a16="http://schemas.microsoft.com/office/drawing/2014/main" id="{4E4B056C-2773-E63E-8D02-4FA14F1377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7760" y="3525208"/>
            <a:ext cx="232765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s-CO" altLang="es-419" sz="1800">
                <a:latin typeface="Arial"/>
                <a:cs typeface="Arial"/>
              </a:rPr>
              <a:t>Git</a:t>
            </a:r>
            <a:endParaRPr lang="es-CO" altLang="es-419" sz="1800" err="1">
              <a:latin typeface="Arial" panose="020B0604020202020204" pitchFamily="34" charset="0"/>
              <a:cs typeface="Arial"/>
            </a:endParaRPr>
          </a:p>
        </p:txBody>
      </p:sp>
      <p:sp>
        <p:nvSpPr>
          <p:cNvPr id="11" name="CuadroTexto 7">
            <a:extLst>
              <a:ext uri="{FF2B5EF4-FFF2-40B4-BE49-F238E27FC236}">
                <a16:creationId xmlns:a16="http://schemas.microsoft.com/office/drawing/2014/main" id="{FE560347-1740-6F7B-1C95-DDAC844280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5176" y="3525207"/>
            <a:ext cx="232765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s-CO" altLang="es-419" sz="1800">
                <a:latin typeface="Arial"/>
                <a:cs typeface="Arial"/>
              </a:rPr>
              <a:t>Github</a:t>
            </a:r>
            <a:endParaRPr lang="es-CO" altLang="es-419" sz="1800" err="1">
              <a:latin typeface="Arial" panose="020B0604020202020204" pitchFamily="34" charset="0"/>
              <a:cs typeface="Arial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8C2D9162-417F-EEC2-91E6-7156F980D2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3766" y="335595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7028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31261F-F03F-4591-0BEC-803002FD2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">
            <a:extLst>
              <a:ext uri="{FF2B5EF4-FFF2-40B4-BE49-F238E27FC236}">
                <a16:creationId xmlns:a16="http://schemas.microsoft.com/office/drawing/2014/main" id="{7EDFC12B-8862-7002-95EC-8BB33A54AEC7}"/>
              </a:ext>
            </a:extLst>
          </p:cNvPr>
          <p:cNvSpPr txBox="1">
            <a:spLocks/>
          </p:cNvSpPr>
          <p:nvPr/>
        </p:nvSpPr>
        <p:spPr>
          <a:xfrm>
            <a:off x="456236" y="416690"/>
            <a:ext cx="9815809" cy="527874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tabLst/>
              <a:defRPr/>
            </a:pPr>
            <a:r>
              <a:rPr lang="es-ES" sz="3600" b="1" dirty="0" err="1">
                <a:solidFill>
                  <a:prstClr val="white"/>
                </a:solidFill>
                <a:latin typeface="Times New Roman"/>
                <a:ea typeface="Calibri Light"/>
                <a:cs typeface="Calibri Light"/>
              </a:rPr>
              <a:t>Librerias</a:t>
            </a:r>
            <a:r>
              <a:rPr lang="es-ES" sz="3600" b="1" dirty="0">
                <a:solidFill>
                  <a:prstClr val="white"/>
                </a:solidFill>
                <a:latin typeface="Times New Roman"/>
                <a:ea typeface="Calibri Light"/>
                <a:cs typeface="Calibri Light"/>
              </a:rPr>
              <a:t> y </a:t>
            </a:r>
            <a:r>
              <a:rPr lang="es-ES" sz="3600" b="1" dirty="0" err="1">
                <a:solidFill>
                  <a:prstClr val="white"/>
                </a:solidFill>
                <a:latin typeface="Times New Roman"/>
                <a:ea typeface="Calibri Light"/>
                <a:cs typeface="Calibri Light"/>
              </a:rPr>
              <a:t>APIs</a:t>
            </a:r>
            <a:endParaRPr lang="es-CO" sz="3600" b="1" dirty="0">
              <a:solidFill>
                <a:prstClr val="white"/>
              </a:solidFill>
              <a:latin typeface="Times New Roman"/>
              <a:ea typeface="Calibri Light"/>
              <a:cs typeface="Calibri Light"/>
            </a:endParaRPr>
          </a:p>
        </p:txBody>
      </p:sp>
      <p:sp>
        <p:nvSpPr>
          <p:cNvPr id="9" name="CuadroTexto 6">
            <a:extLst>
              <a:ext uri="{FF2B5EF4-FFF2-40B4-BE49-F238E27FC236}">
                <a16:creationId xmlns:a16="http://schemas.microsoft.com/office/drawing/2014/main" id="{EA4B36F8-E1DE-6C3B-E4F5-B2B1F8FB84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349" y="1433660"/>
            <a:ext cx="9199442" cy="50577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285750" indent="-285750">
              <a:lnSpc>
                <a:spcPct val="100000"/>
              </a:lnSpc>
              <a:spcBef>
                <a:spcPct val="0"/>
              </a:spcBef>
            </a:pPr>
            <a:r>
              <a:rPr lang="es-CO" altLang="es-419" sz="2000" dirty="0">
                <a:latin typeface="Arial" panose="020B0604020202020204" pitchFamily="34" charset="0"/>
              </a:rPr>
              <a:t>Autenticación JWT con </a:t>
            </a:r>
            <a:r>
              <a:rPr lang="es-CO" altLang="es-419" sz="2000" dirty="0" err="1">
                <a:latin typeface="Arial" panose="020B0604020202020204" pitchFamily="34" charset="0"/>
              </a:rPr>
              <a:t>python-jose</a:t>
            </a:r>
            <a:r>
              <a:rPr lang="es-CO" altLang="es-419" sz="2000" dirty="0">
                <a:latin typeface="Arial" panose="020B0604020202020204" pitchFamily="34" charset="0"/>
              </a:rPr>
              <a:t> (</a:t>
            </a:r>
            <a:r>
              <a:rPr lang="es-CO" altLang="es-419" sz="2000" dirty="0" err="1">
                <a:latin typeface="Arial" panose="020B0604020202020204" pitchFamily="34" charset="0"/>
              </a:rPr>
              <a:t>jose.jwt</a:t>
            </a:r>
            <a:r>
              <a:rPr lang="es-CO" altLang="es-419" sz="2000" dirty="0">
                <a:latin typeface="Arial" panose="020B0604020202020204" pitchFamily="34" charset="0"/>
              </a:rPr>
              <a:t>): genera y valida tokens de acceso/</a:t>
            </a:r>
            <a:r>
              <a:rPr lang="es-CO" altLang="es-419" sz="2000" dirty="0" err="1">
                <a:latin typeface="Arial" panose="020B0604020202020204" pitchFamily="34" charset="0"/>
              </a:rPr>
              <a:t>refresh</a:t>
            </a:r>
            <a:r>
              <a:rPr lang="es-CO" altLang="es-419" sz="2000" dirty="0">
                <a:latin typeface="Arial" panose="020B0604020202020204" pitchFamily="34" charset="0"/>
              </a:rPr>
              <a:t>.</a:t>
            </a:r>
          </a:p>
          <a:p>
            <a:pPr marL="285750" indent="-285750"/>
            <a:r>
              <a:rPr lang="es-CO" altLang="es-419" sz="2000" dirty="0">
                <a:latin typeface="Arial" panose="020B0604020202020204" pitchFamily="34" charset="0"/>
              </a:rPr>
              <a:t> Encriptación de contraseñas con </a:t>
            </a:r>
            <a:r>
              <a:rPr lang="es-CO" altLang="es-419" sz="2000" dirty="0" err="1">
                <a:latin typeface="Arial" panose="020B0604020202020204" pitchFamily="34" charset="0"/>
              </a:rPr>
              <a:t>bcrypt</a:t>
            </a:r>
            <a:r>
              <a:rPr lang="es-CO" altLang="es-419" sz="2000" dirty="0">
                <a:latin typeface="Arial" panose="020B0604020202020204" pitchFamily="34" charset="0"/>
              </a:rPr>
              <a:t>: verifica y (si hace falta) migra contraseñas </a:t>
            </a:r>
            <a:r>
              <a:rPr lang="es-CO" altLang="es-419" sz="2000" dirty="0" err="1">
                <a:latin typeface="Arial" panose="020B0604020202020204" pitchFamily="34" charset="0"/>
              </a:rPr>
              <a:t>legacy</a:t>
            </a:r>
            <a:r>
              <a:rPr lang="es-CO" altLang="es-419" sz="2000" dirty="0">
                <a:latin typeface="Arial" panose="020B0604020202020204" pitchFamily="34" charset="0"/>
              </a:rPr>
              <a:t> a hash </a:t>
            </a:r>
            <a:r>
              <a:rPr lang="es-CO" altLang="es-419" sz="2000" dirty="0" err="1">
                <a:latin typeface="Arial" panose="020B0604020202020204" pitchFamily="34" charset="0"/>
              </a:rPr>
              <a:t>bcrypt</a:t>
            </a:r>
            <a:r>
              <a:rPr lang="es-CO" altLang="es-419" sz="2000" dirty="0">
                <a:latin typeface="Arial" panose="020B0604020202020204" pitchFamily="34" charset="0"/>
              </a:rPr>
              <a:t>.</a:t>
            </a:r>
            <a:r>
              <a:rPr lang="es-CO" sz="2000" dirty="0"/>
              <a:t> </a:t>
            </a:r>
          </a:p>
          <a:p>
            <a:pPr marL="285750" indent="-285750"/>
            <a:r>
              <a:rPr lang="es-CO" sz="2000" dirty="0" err="1"/>
              <a:t>smtplib</a:t>
            </a:r>
            <a:r>
              <a:rPr lang="es-CO" sz="2000" dirty="0"/>
              <a:t> + email (SMTP): envío de correos.  </a:t>
            </a:r>
          </a:p>
          <a:p>
            <a:pPr marL="285750" indent="-285750"/>
            <a:r>
              <a:rPr lang="es-CO" sz="2000" dirty="0" err="1"/>
              <a:t>imaplib</a:t>
            </a:r>
            <a:r>
              <a:rPr lang="es-CO" sz="2000" dirty="0"/>
              <a:t> + email: lectura de bandeja por IMAP (INBOX) para recoger emails (</a:t>
            </a:r>
            <a:r>
              <a:rPr lang="es-CO" sz="2000" dirty="0" err="1"/>
              <a:t>dashboard</a:t>
            </a:r>
            <a:r>
              <a:rPr lang="es-CO" sz="2000" dirty="0"/>
              <a:t>).</a:t>
            </a:r>
          </a:p>
          <a:p>
            <a:pPr marL="285750" indent="-285750"/>
            <a:r>
              <a:rPr lang="es-CO" sz="2000" dirty="0"/>
              <a:t>Lucide :iconos</a:t>
            </a:r>
          </a:p>
          <a:p>
            <a:pPr marL="285750" indent="-285750"/>
            <a:r>
              <a:rPr lang="es-CO" sz="2000" dirty="0" err="1"/>
              <a:t>OpenStreetMap</a:t>
            </a:r>
            <a:endParaRPr lang="es-CO" sz="2000" dirty="0"/>
          </a:p>
          <a:p>
            <a:pPr marL="285750" indent="-285750"/>
            <a:r>
              <a:rPr lang="es-CO" sz="2000" dirty="0" err="1"/>
              <a:t>Cloudinary</a:t>
            </a:r>
            <a:r>
              <a:rPr lang="es-CO" sz="2000" dirty="0"/>
              <a:t>: subida de imágenes (usa CLOUDINARY_URL y el paquete </a:t>
            </a:r>
            <a:r>
              <a:rPr lang="es-CO" sz="2000" dirty="0" err="1"/>
              <a:t>cloudinary</a:t>
            </a:r>
            <a:r>
              <a:rPr lang="es-CO" sz="2000" dirty="0"/>
              <a:t>).</a:t>
            </a:r>
          </a:p>
          <a:p>
            <a:pPr marL="285750" indent="-285750"/>
            <a:r>
              <a:rPr lang="es-CO" sz="2000" dirty="0"/>
              <a:t>Pagos con </a:t>
            </a:r>
            <a:r>
              <a:rPr lang="es-CO" sz="2000" dirty="0" err="1"/>
              <a:t>Wompi</a:t>
            </a:r>
            <a:r>
              <a:rPr lang="es-CO" sz="2000" dirty="0"/>
              <a:t>:  - </a:t>
            </a:r>
            <a:r>
              <a:rPr lang="es-CO" sz="2000" dirty="0" err="1"/>
              <a:t>requests</a:t>
            </a:r>
            <a:r>
              <a:rPr lang="es-CO" sz="2000" dirty="0"/>
              <a:t> (+ reintentos): llamadas a la API de </a:t>
            </a:r>
            <a:r>
              <a:rPr lang="es-CO" sz="2000" dirty="0" err="1"/>
              <a:t>Wompi</a:t>
            </a:r>
            <a:r>
              <a:rPr lang="es-CO" sz="2000" dirty="0"/>
              <a:t>.  - </a:t>
            </a:r>
            <a:r>
              <a:rPr lang="es-CO" sz="2000" dirty="0" err="1"/>
              <a:t>Webhook</a:t>
            </a:r>
            <a:r>
              <a:rPr lang="es-CO" sz="2000" dirty="0"/>
              <a:t> con validación de firma (integridad) y confirmación de reserva</a:t>
            </a:r>
          </a:p>
          <a:p>
            <a:pPr marL="285750" indent="-285750"/>
            <a:r>
              <a:rPr lang="es-ES" sz="2000" dirty="0" err="1"/>
              <a:t>Shadcn</a:t>
            </a:r>
            <a:r>
              <a:rPr lang="es-ES" sz="2000" dirty="0"/>
              <a:t>/</a:t>
            </a:r>
            <a:r>
              <a:rPr lang="es-ES" sz="2000" dirty="0" err="1"/>
              <a:t>ui</a:t>
            </a:r>
            <a:r>
              <a:rPr lang="es-ES" sz="2000" dirty="0"/>
              <a:t>: colección de componentes de interfaz de usuario (UI) reutilizables, modernos y accesibles para </a:t>
            </a:r>
            <a:r>
              <a:rPr lang="es-ES" sz="2000" dirty="0" err="1"/>
              <a:t>React</a:t>
            </a:r>
            <a:r>
              <a:rPr lang="es-ES" sz="2000" dirty="0"/>
              <a:t>.</a:t>
            </a:r>
            <a:endParaRPr lang="es-CO" sz="20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D94082A-2BFC-2303-593E-A90A63DE1C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766" y="335595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173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B6F714C-A6B0-54AE-507A-D0700714D94B}"/>
              </a:ext>
            </a:extLst>
          </p:cNvPr>
          <p:cNvSpPr txBox="1">
            <a:spLocks/>
          </p:cNvSpPr>
          <p:nvPr/>
        </p:nvSpPr>
        <p:spPr>
          <a:xfrm>
            <a:off x="456236" y="416690"/>
            <a:ext cx="9815809" cy="527874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/>
              </a:rPr>
              <a:t>Avances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6EDBC5-9719-5298-F46B-FFD61D7493B8}"/>
              </a:ext>
            </a:extLst>
          </p:cNvPr>
          <p:cNvSpPr txBox="1"/>
          <p:nvPr/>
        </p:nvSpPr>
        <p:spPr>
          <a:xfrm>
            <a:off x="6853708" y="2782669"/>
            <a:ext cx="202032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ea typeface="Calibri"/>
                <a:cs typeface="Calibri"/>
                <a:hlinkClick r:id="rId2"/>
              </a:rPr>
              <a:t>Click aqui</a:t>
            </a:r>
          </a:p>
        </p:txBody>
      </p:sp>
      <p:pic>
        <p:nvPicPr>
          <p:cNvPr id="3074" name="Picture 2" descr="GitHub Logo and symbol, meaning, history, PNG, brand">
            <a:extLst>
              <a:ext uri="{FF2B5EF4-FFF2-40B4-BE49-F238E27FC236}">
                <a16:creationId xmlns:a16="http://schemas.microsoft.com/office/drawing/2014/main" id="{50AFD77A-0689-42F1-6076-607F21520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532" y="1454332"/>
            <a:ext cx="6277913" cy="3531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E9202541-CAD5-BD95-949F-3759C9972B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1305" y="5678118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5261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526E8965-C505-F42A-8164-B2118710E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994" y="2460133"/>
            <a:ext cx="1938011" cy="7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6266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869</Words>
  <Application>Microsoft Office PowerPoint</Application>
  <PresentationFormat>Panorámica</PresentationFormat>
  <Paragraphs>96</Paragraphs>
  <Slides>24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35" baseType="lpstr">
      <vt:lpstr>Arial</vt:lpstr>
      <vt:lpstr>Calibri</vt:lpstr>
      <vt:lpstr>Calibri Light</vt:lpstr>
      <vt:lpstr>Source Sans Pro</vt:lpstr>
      <vt:lpstr>time</vt:lpstr>
      <vt:lpstr>Times New Roman</vt:lpstr>
      <vt:lpstr>WORK SANS BOLD ROMAN</vt:lpstr>
      <vt:lpstr>WORK SANS BOLD ROMAN</vt:lpstr>
      <vt:lpstr>Work Sans Light Roman</vt:lpstr>
      <vt:lpstr>Work Sans Medium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lastModifiedBy>Aprendiz</cp:lastModifiedBy>
  <cp:revision>17</cp:revision>
  <dcterms:created xsi:type="dcterms:W3CDTF">2020-10-01T23:51:28Z</dcterms:created>
  <dcterms:modified xsi:type="dcterms:W3CDTF">2026-04-22T17:57:05Z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